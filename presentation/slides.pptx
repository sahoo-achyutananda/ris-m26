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3"/>
                </a:solidFill>
                <a:latin typeface="Arial"/>
              </a:defRPr>
            </a:pPr>
            <a:r>
              <a:rPr sz="1400" b="0" i="0" u="none" strike="noStrike">
                <a:solidFill>
                  <a:srgbClr val="1F2933"/>
                </a:solidFill>
                <a:latin typeface="Arial"/>
              </a:rPr>
              <a:t>Accuracy on UNSW-NB15 (%)</a:t>
            </a:r>
          </a:p>
        </c:rich>
      </c:tx>
      <c:layout/>
      <c:overlay val="0"/>
    </c:title>
    <c:autoTitleDeleted val="0"/>
    <c:plotArea>
      <c:layout/>
      <c:barChart>
        <c:barDir val="col"/>
        <c:grouping val="clustered"/>
        <c:varyColors val="0"/>
        <c:ser>
          <c:idx val="0"/>
          <c:order val="0"/>
          <c:tx>
            <c:strRef>
              <c:f>Sheet1!$B$1</c:f>
              <c:strCache>
                <c:ptCount val="1"/>
                <c:pt idx="0">
                  <c:v>Accuracy (%)</c:v>
                </c:pt>
              </c:strCache>
            </c:strRef>
          </c:tx>
          <c:spPr>
            <a:solidFill>
              <a:srgbClr val="EB6834"/>
            </a:solidFill>
            <a:effectLst/>
          </c:spPr>
          <c:invertIfNegative val="0"/>
          <c:dLbls>
            <c:numFmt formatCode="0.00" sourceLinked="0"/>
            <c:txPr>
              <a:bodyPr/>
              <a:lstStyle/>
              <a:p>
                <a:pPr>
                  <a:defRPr b="0" i="0" strike="noStrike" sz="1400" u="none">
                    <a:solidFill>
                      <a:srgbClr val="1F2933"/>
                    </a:solidFill>
                    <a:latin typeface="Arial"/>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2A78D6"/>
              </a:solidFill>
              <a:effectLst/>
            </c:spPr>
          </c:dPt>
          <c:dPt>
            <c:idx val="2"/>
            <c:invertIfNegative val="0"/>
            <c:bubble3D val="0"/>
            <c:spPr>
              <a:solidFill>
                <a:srgbClr val="16213E"/>
              </a:solidFill>
              <a:effectLst/>
            </c:spPr>
          </c:dPt>
          <c:cat>
            <c:multiLvlStrRef>
              <c:f>Sheet1!$A$2:$A$4</c:f>
              <c:multiLvlStrCache>
                <c:ptCount val="3"/>
                <c:lvl>
                  <c:pt idx="0">
                    <c:v>Copies removed (ours)</c:v>
                  </c:pt>
                  <c:pt idx="1">
                    <c:v>Copies kept</c:v>
                  </c:pt>
                  <c:pt idx="2">
                    <c:v>The study</c:v>
                  </c:pt>
                </c:lvl>
              </c:multiLvlStrCache>
            </c:multiLvlStrRef>
          </c:cat>
          <c:val>
            <c:numRef>
              <c:f>Sheet1!$B$2:$B$4</c:f>
              <c:numCache>
                <c:formatCode>General</c:formatCode>
                <c:ptCount val="3"/>
                <c:pt idx="0">
                  <c:v>91.33</c:v>
                </c:pt>
                <c:pt idx="1">
                  <c:v>94.05</c:v>
                </c:pt>
                <c:pt idx="2">
                  <c:v>97.11</c:v>
                </c:pt>
              </c:numCache>
            </c:numRef>
          </c:val>
        </c:ser>
        <c:dLbls>
          <c:numFmt formatCode="0.00" sourceLinked="0"/>
          <c:txPr>
            <a:bodyPr/>
            <a:lstStyle/>
            <a:p>
              <a:pPr>
                <a:defRPr b="0" i="0" strike="noStrike" sz="1400" u="none">
                  <a:solidFill>
                    <a:srgbClr val="1F29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3"/>
                </a:solidFill>
                <a:latin typeface="Arial"/>
              </a:defRPr>
            </a:pPr>
            <a:endParaRPr lang="en-US"/>
          </a:p>
        </c:txPr>
        <c:crossAx val="2094734552"/>
        <c:crosses val="autoZero"/>
        <c:auto val="1"/>
        <c:lblAlgn val="ctr"/>
        <c:noMultiLvlLbl val="1"/>
      </c:catAx>
      <c:valAx>
        <c:axId val="2094734552"/>
        <c:scaling>
          <c:orientation val="minMax"/>
          <c:max val="100"/>
          <c:min val="85"/>
        </c:scaling>
        <c:delete val="0"/>
        <c:axPos val="l"/>
        <c:majorGridlines>
          <c:spPr>
            <a:ln w="6350" cap="flat">
              <a:solidFill>
                <a:srgbClr val="E5E9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7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2933"/>
                </a:solidFill>
                <a:latin typeface="Arial"/>
              </a:defRPr>
            </a:pPr>
            <a:r>
              <a:rPr sz="1100" b="0" i="0" u="none" strike="noStrike">
                <a:solidFill>
                  <a:srgbClr val="1F2933"/>
                </a:solidFill>
                <a:latin typeface="Arial"/>
              </a:rPr>
              <a:t>NSL-KDD: mistakes</a:t>
            </a:r>
          </a:p>
        </c:rich>
      </c:tx>
      <c:layout/>
      <c:overlay val="0"/>
    </c:title>
    <c:autoTitleDeleted val="0"/>
    <c:plotArea>
      <c:layout/>
      <c:barChart>
        <c:barDir val="col"/>
        <c:grouping val="clustered"/>
        <c:varyColors val="0"/>
        <c:ser>
          <c:idx val="0"/>
          <c:order val="0"/>
          <c:tx>
            <c:strRef>
              <c:f>Sheet1!$B$1</c:f>
              <c:strCache>
                <c:ptCount val="1"/>
                <c:pt idx="0">
                  <c:v>The study (reported)</c:v>
                </c:pt>
              </c:strCache>
            </c:strRef>
          </c:tx>
          <c:spPr>
            <a:solidFill>
              <a:srgbClr val="2A78D6"/>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NSL-KDD</c:v>
                  </c:pt>
                </c:lvl>
              </c:multiLvlStrCache>
            </c:multiLvlStrRef>
          </c:cat>
          <c:val>
            <c:numRef>
              <c:f>Sheet1!$B$2:$B$2</c:f>
              <c:numCache>
                <c:formatCode>General</c:formatCode>
                <c:ptCount val="1"/>
                <c:pt idx="0">
                  <c:v>0.76</c:v>
                </c:pt>
              </c:numCache>
            </c:numRef>
          </c:val>
        </c:ser>
        <c:ser>
          <c:idx val="1"/>
          <c:order val="1"/>
          <c:tx>
            <c:strRef>
              <c:f>Sheet1!$C$1</c:f>
              <c:strCache>
                <c:ptCount val="1"/>
                <c:pt idx="0">
                  <c:v>Our re-do of the study</c:v>
                </c:pt>
              </c:strCache>
            </c:strRef>
          </c:tx>
          <c:spPr>
            <a:solidFill>
              <a:srgbClr val="EB6834"/>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NSL-KDD</c:v>
                  </c:pt>
                </c:lvl>
              </c:multiLvlStrCache>
            </c:multiLvlStrRef>
          </c:cat>
          <c:val>
            <c:numRef>
              <c:f>Sheet1!$C$2:$C$2</c:f>
              <c:numCache>
                <c:formatCode>General</c:formatCode>
                <c:ptCount val="1"/>
                <c:pt idx="0">
                  <c:v>0.4</c:v>
                </c:pt>
              </c:numCache>
            </c:numRef>
          </c:val>
        </c:ser>
        <c:ser>
          <c:idx val="2"/>
          <c:order val="2"/>
          <c:tx>
            <c:strRef>
              <c:f>Sheet1!$D$1</c:f>
              <c:strCache>
                <c:ptCount val="1"/>
                <c:pt idx="0">
                  <c:v>Idea 1: team + LSTM</c:v>
                </c:pt>
              </c:strCache>
            </c:strRef>
          </c:tx>
          <c:spPr>
            <a:solidFill>
              <a:srgbClr val="1BAF7A"/>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NSL-KDD</c:v>
                  </c:pt>
                </c:lvl>
              </c:multiLvlStrCache>
            </c:multiLvlStrRef>
          </c:cat>
          <c:val>
            <c:numRef>
              <c:f>Sheet1!$D$2:$D$2</c:f>
              <c:numCache>
                <c:formatCode>General</c:formatCode>
                <c:ptCount val="1"/>
                <c:pt idx="0">
                  <c:v>0.4</c:v>
                </c:pt>
              </c:numCache>
            </c:numRef>
          </c:val>
        </c:ser>
        <c:ser>
          <c:idx val="3"/>
          <c:order val="3"/>
          <c:tx>
            <c:strRef>
              <c:f>Sheet1!$E$1</c:f>
              <c:strCache>
                <c:ptCount val="1"/>
                <c:pt idx="0">
                  <c:v>Idea 2: FT-Transformer</c:v>
                </c:pt>
              </c:strCache>
            </c:strRef>
          </c:tx>
          <c:spPr>
            <a:solidFill>
              <a:srgbClr val="EDA100"/>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NSL-KDD</c:v>
                  </c:pt>
                </c:lvl>
              </c:multiLvlStrCache>
            </c:multiLvlStrRef>
          </c:cat>
          <c:val>
            <c:numRef>
              <c:f>Sheet1!$E$2:$E$2</c:f>
              <c:numCache>
                <c:formatCode>General</c:formatCode>
                <c:ptCount val="1"/>
                <c:pt idx="0">
                  <c:v>0.74</c:v>
                </c:pt>
              </c:numCache>
            </c:numRef>
          </c:val>
        </c:ser>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93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9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67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2933"/>
                </a:solidFill>
                <a:latin typeface="Arial"/>
              </a:defRPr>
            </a:pPr>
            <a:r>
              <a:rPr sz="1100" b="0" i="0" u="none" strike="noStrike">
                <a:solidFill>
                  <a:srgbClr val="1F2933"/>
                </a:solidFill>
                <a:latin typeface="Arial"/>
              </a:rPr>
              <a:t>UNSW-NB15: mistakes</a:t>
            </a:r>
          </a:p>
        </c:rich>
      </c:tx>
      <c:layout/>
      <c:overlay val="0"/>
    </c:title>
    <c:autoTitleDeleted val="0"/>
    <c:plotArea>
      <c:layout/>
      <c:barChart>
        <c:barDir val="col"/>
        <c:grouping val="clustered"/>
        <c:varyColors val="0"/>
        <c:ser>
          <c:idx val="0"/>
          <c:order val="0"/>
          <c:tx>
            <c:strRef>
              <c:f>Sheet1!$B$1</c:f>
              <c:strCache>
                <c:ptCount val="1"/>
                <c:pt idx="0">
                  <c:v>The study (reported)</c:v>
                </c:pt>
              </c:strCache>
            </c:strRef>
          </c:tx>
          <c:spPr>
            <a:solidFill>
              <a:srgbClr val="2A78D6"/>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UNSW-NB15</c:v>
                  </c:pt>
                </c:lvl>
              </c:multiLvlStrCache>
            </c:multiLvlStrRef>
          </c:cat>
          <c:val>
            <c:numRef>
              <c:f>Sheet1!$B$2:$B$2</c:f>
              <c:numCache>
                <c:formatCode>General</c:formatCode>
                <c:ptCount val="1"/>
                <c:pt idx="0">
                  <c:v>2.89</c:v>
                </c:pt>
              </c:numCache>
            </c:numRef>
          </c:val>
        </c:ser>
        <c:ser>
          <c:idx val="1"/>
          <c:order val="1"/>
          <c:tx>
            <c:strRef>
              <c:f>Sheet1!$C$1</c:f>
              <c:strCache>
                <c:ptCount val="1"/>
                <c:pt idx="0">
                  <c:v>Our re-do of the study</c:v>
                </c:pt>
              </c:strCache>
            </c:strRef>
          </c:tx>
          <c:spPr>
            <a:solidFill>
              <a:srgbClr val="EB6834"/>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UNSW-NB15</c:v>
                  </c:pt>
                </c:lvl>
              </c:multiLvlStrCache>
            </c:multiLvlStrRef>
          </c:cat>
          <c:val>
            <c:numRef>
              <c:f>Sheet1!$C$2:$C$2</c:f>
              <c:numCache>
                <c:formatCode>General</c:formatCode>
                <c:ptCount val="1"/>
                <c:pt idx="0">
                  <c:v>8.67</c:v>
                </c:pt>
              </c:numCache>
            </c:numRef>
          </c:val>
        </c:ser>
        <c:ser>
          <c:idx val="2"/>
          <c:order val="2"/>
          <c:tx>
            <c:strRef>
              <c:f>Sheet1!$D$1</c:f>
              <c:strCache>
                <c:ptCount val="1"/>
                <c:pt idx="0">
                  <c:v>Idea 1: team + LSTM</c:v>
                </c:pt>
              </c:strCache>
            </c:strRef>
          </c:tx>
          <c:spPr>
            <a:solidFill>
              <a:srgbClr val="1BAF7A"/>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UNSW-NB15</c:v>
                  </c:pt>
                </c:lvl>
              </c:multiLvlStrCache>
            </c:multiLvlStrRef>
          </c:cat>
          <c:val>
            <c:numRef>
              <c:f>Sheet1!$D$2:$D$2</c:f>
              <c:numCache>
                <c:formatCode>General</c:formatCode>
                <c:ptCount val="1"/>
                <c:pt idx="0">
                  <c:v>8.67</c:v>
                </c:pt>
              </c:numCache>
            </c:numRef>
          </c:val>
        </c:ser>
        <c:ser>
          <c:idx val="3"/>
          <c:order val="3"/>
          <c:tx>
            <c:strRef>
              <c:f>Sheet1!$E$1</c:f>
              <c:strCache>
                <c:ptCount val="1"/>
                <c:pt idx="0">
                  <c:v>Idea 2: FT-Transformer</c:v>
                </c:pt>
              </c:strCache>
            </c:strRef>
          </c:tx>
          <c:spPr>
            <a:solidFill>
              <a:srgbClr val="EDA100"/>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UNSW-NB15</c:v>
                  </c:pt>
                </c:lvl>
              </c:multiLvlStrCache>
            </c:multiLvlStrRef>
          </c:cat>
          <c:val>
            <c:numRef>
              <c:f>Sheet1!$E$2:$E$2</c:f>
              <c:numCache>
                <c:formatCode>General</c:formatCode>
                <c:ptCount val="1"/>
                <c:pt idx="0">
                  <c:v>9.53</c:v>
                </c:pt>
              </c:numCache>
            </c:numRef>
          </c:val>
        </c:ser>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93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9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67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2933"/>
                </a:solidFill>
                <a:latin typeface="Arial"/>
              </a:defRPr>
            </a:pPr>
            <a:r>
              <a:rPr sz="1100" b="0" i="0" u="none" strike="noStrike">
                <a:solidFill>
                  <a:srgbClr val="1F2933"/>
                </a:solidFill>
                <a:latin typeface="Arial"/>
              </a:rPr>
              <a:t>CSE-CIC-IDS2018: mistakes</a:t>
            </a:r>
          </a:p>
        </c:rich>
      </c:tx>
      <c:layout/>
      <c:overlay val="0"/>
    </c:title>
    <c:autoTitleDeleted val="0"/>
    <c:plotArea>
      <c:layout/>
      <c:barChart>
        <c:barDir val="col"/>
        <c:grouping val="clustered"/>
        <c:varyColors val="0"/>
        <c:ser>
          <c:idx val="0"/>
          <c:order val="0"/>
          <c:tx>
            <c:strRef>
              <c:f>Sheet1!$B$1</c:f>
              <c:strCache>
                <c:ptCount val="1"/>
                <c:pt idx="0">
                  <c:v>The study (reported)</c:v>
                </c:pt>
              </c:strCache>
            </c:strRef>
          </c:tx>
          <c:spPr>
            <a:solidFill>
              <a:srgbClr val="2A78D6"/>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CSE-CIC-IDS2018</c:v>
                  </c:pt>
                </c:lvl>
              </c:multiLvlStrCache>
            </c:multiLvlStrRef>
          </c:cat>
          <c:val>
            <c:numRef>
              <c:f>Sheet1!$B$2:$B$2</c:f>
              <c:numCache>
                <c:formatCode>General</c:formatCode>
                <c:ptCount val="1"/>
                <c:pt idx="0">
                  <c:v>1.08</c:v>
                </c:pt>
              </c:numCache>
            </c:numRef>
          </c:val>
        </c:ser>
        <c:ser>
          <c:idx val="1"/>
          <c:order val="1"/>
          <c:tx>
            <c:strRef>
              <c:f>Sheet1!$C$1</c:f>
              <c:strCache>
                <c:ptCount val="1"/>
                <c:pt idx="0">
                  <c:v>Our re-do of the study</c:v>
                </c:pt>
              </c:strCache>
            </c:strRef>
          </c:tx>
          <c:spPr>
            <a:solidFill>
              <a:srgbClr val="EB6834"/>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CSE-CIC-IDS2018</c:v>
                  </c:pt>
                </c:lvl>
              </c:multiLvlStrCache>
            </c:multiLvlStrRef>
          </c:cat>
          <c:val>
            <c:numRef>
              <c:f>Sheet1!$C$2:$C$2</c:f>
              <c:numCache>
                <c:formatCode>General</c:formatCode>
                <c:ptCount val="1"/>
                <c:pt idx="0">
                  <c:v>1.41</c:v>
                </c:pt>
              </c:numCache>
            </c:numRef>
          </c:val>
        </c:ser>
        <c:ser>
          <c:idx val="2"/>
          <c:order val="2"/>
          <c:tx>
            <c:strRef>
              <c:f>Sheet1!$D$1</c:f>
              <c:strCache>
                <c:ptCount val="1"/>
                <c:pt idx="0">
                  <c:v>Idea 1: team + LSTM</c:v>
                </c:pt>
              </c:strCache>
            </c:strRef>
          </c:tx>
          <c:spPr>
            <a:solidFill>
              <a:srgbClr val="1BAF7A"/>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CSE-CIC-IDS2018</c:v>
                  </c:pt>
                </c:lvl>
              </c:multiLvlStrCache>
            </c:multiLvlStrRef>
          </c:cat>
          <c:val>
            <c:numRef>
              <c:f>Sheet1!$D$2:$D$2</c:f>
              <c:numCache>
                <c:formatCode>General</c:formatCode>
                <c:ptCount val="1"/>
                <c:pt idx="0">
                  <c:v>1.43</c:v>
                </c:pt>
              </c:numCache>
            </c:numRef>
          </c:val>
        </c:ser>
        <c:ser>
          <c:idx val="3"/>
          <c:order val="3"/>
          <c:tx>
            <c:strRef>
              <c:f>Sheet1!$E$1</c:f>
              <c:strCache>
                <c:ptCount val="1"/>
                <c:pt idx="0">
                  <c:v>Idea 2: FT-Transformer</c:v>
                </c:pt>
              </c:strCache>
            </c:strRef>
          </c:tx>
          <c:spPr>
            <a:solidFill>
              <a:srgbClr val="EDA100"/>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CSE-CIC-IDS2018</c:v>
                  </c:pt>
                </c:lvl>
              </c:multiLvlStrCache>
            </c:multiLvlStrRef>
          </c:cat>
          <c:val>
            <c:numRef>
              <c:f>Sheet1!$E$2:$E$2</c:f>
              <c:numCache>
                <c:formatCode>General</c:formatCode>
                <c:ptCount val="1"/>
                <c:pt idx="0">
                  <c:v>1.58</c:v>
                </c:pt>
              </c:numCache>
            </c:numRef>
          </c:val>
        </c:ser>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93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9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67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2933"/>
                </a:solidFill>
                <a:latin typeface="Arial"/>
              </a:defRPr>
            </a:pPr>
            <a:r>
              <a:rPr sz="1100" b="0" i="0" u="none" strike="noStrike">
                <a:solidFill>
                  <a:srgbClr val="1F2933"/>
                </a:solidFill>
                <a:latin typeface="Arial"/>
              </a:rPr>
              <a:t>CIC-IDS2017: mistakes</a:t>
            </a:r>
          </a:p>
        </c:rich>
      </c:tx>
      <c:layout/>
      <c:overlay val="0"/>
    </c:title>
    <c:autoTitleDeleted val="0"/>
    <c:plotArea>
      <c:layout/>
      <c:barChart>
        <c:barDir val="col"/>
        <c:grouping val="clustered"/>
        <c:varyColors val="0"/>
        <c:ser>
          <c:idx val="0"/>
          <c:order val="0"/>
          <c:tx>
            <c:strRef>
              <c:f>Sheet1!$B$1</c:f>
              <c:strCache>
                <c:ptCount val="1"/>
                <c:pt idx="0">
                  <c:v>The study (reported)</c:v>
                </c:pt>
              </c:strCache>
            </c:strRef>
          </c:tx>
          <c:spPr>
            <a:solidFill>
              <a:srgbClr val="2A78D6"/>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CIC-IDS2017</c:v>
                  </c:pt>
                </c:lvl>
              </c:multiLvlStrCache>
            </c:multiLvlStrRef>
          </c:cat>
          <c:val>
            <c:numRef>
              <c:f>Sheet1!$B$2:$B$2</c:f>
              <c:numCache>
                <c:formatCode>General</c:formatCode>
                <c:ptCount val="1"/>
                <c:pt idx="0">
                  <c:v>0.09</c:v>
                </c:pt>
              </c:numCache>
            </c:numRef>
          </c:val>
        </c:ser>
        <c:ser>
          <c:idx val="1"/>
          <c:order val="1"/>
          <c:tx>
            <c:strRef>
              <c:f>Sheet1!$C$1</c:f>
              <c:strCache>
                <c:ptCount val="1"/>
                <c:pt idx="0">
                  <c:v>Our re-do of the study</c:v>
                </c:pt>
              </c:strCache>
            </c:strRef>
          </c:tx>
          <c:spPr>
            <a:solidFill>
              <a:srgbClr val="EB6834"/>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CIC-IDS2017</c:v>
                  </c:pt>
                </c:lvl>
              </c:multiLvlStrCache>
            </c:multiLvlStrRef>
          </c:cat>
          <c:val>
            <c:numRef>
              <c:f>Sheet1!$C$2:$C$2</c:f>
              <c:numCache>
                <c:formatCode>General</c:formatCode>
                <c:ptCount val="1"/>
                <c:pt idx="0">
                  <c:v>0.14</c:v>
                </c:pt>
              </c:numCache>
            </c:numRef>
          </c:val>
        </c:ser>
        <c:ser>
          <c:idx val="2"/>
          <c:order val="2"/>
          <c:tx>
            <c:strRef>
              <c:f>Sheet1!$D$1</c:f>
              <c:strCache>
                <c:ptCount val="1"/>
                <c:pt idx="0">
                  <c:v>Idea 1: team + LSTM</c:v>
                </c:pt>
              </c:strCache>
            </c:strRef>
          </c:tx>
          <c:spPr>
            <a:solidFill>
              <a:srgbClr val="1BAF7A"/>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CIC-IDS2017</c:v>
                  </c:pt>
                </c:lvl>
              </c:multiLvlStrCache>
            </c:multiLvlStrRef>
          </c:cat>
          <c:val>
            <c:numRef>
              <c:f>Sheet1!$D$2:$D$2</c:f>
              <c:numCache>
                <c:formatCode>General</c:formatCode>
                <c:ptCount val="1"/>
                <c:pt idx="0">
                  <c:v>0.14</c:v>
                </c:pt>
              </c:numCache>
            </c:numRef>
          </c:val>
        </c:ser>
        <c:ser>
          <c:idx val="3"/>
          <c:order val="3"/>
          <c:tx>
            <c:strRef>
              <c:f>Sheet1!$E$1</c:f>
              <c:strCache>
                <c:ptCount val="1"/>
                <c:pt idx="0">
                  <c:v>Idea 2: FT-Transformer</c:v>
                </c:pt>
              </c:strCache>
            </c:strRef>
          </c:tx>
          <c:spPr>
            <a:solidFill>
              <a:srgbClr val="EDA100"/>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CIC-IDS2017</c:v>
                  </c:pt>
                </c:lvl>
              </c:multiLvlStrCache>
            </c:multiLvlStrRef>
          </c:cat>
          <c:val>
            <c:numRef>
              <c:f>Sheet1!$E$2:$E$2</c:f>
              <c:numCache>
                <c:formatCode>General</c:formatCode>
                <c:ptCount val="1"/>
                <c:pt idx="0">
                  <c:v>0.4</c:v>
                </c:pt>
              </c:numCache>
            </c:numRef>
          </c:val>
        </c:ser>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93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9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67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2933"/>
                </a:solidFill>
                <a:latin typeface="Arial"/>
              </a:defRPr>
            </a:pPr>
            <a:r>
              <a:rPr sz="1100" b="0" i="0" u="none" strike="noStrike">
                <a:solidFill>
                  <a:srgbClr val="1F2933"/>
                </a:solidFill>
                <a:latin typeface="Arial"/>
              </a:rPr>
              <a:t>NSL-KDD: false alarms</a:t>
            </a:r>
          </a:p>
        </c:rich>
      </c:tx>
      <c:layout/>
      <c:overlay val="0"/>
    </c:title>
    <c:autoTitleDeleted val="0"/>
    <c:plotArea>
      <c:layout/>
      <c:barChart>
        <c:barDir val="col"/>
        <c:grouping val="clustered"/>
        <c:varyColors val="0"/>
        <c:ser>
          <c:idx val="0"/>
          <c:order val="0"/>
          <c:tx>
            <c:strRef>
              <c:f>Sheet1!$B$1</c:f>
              <c:strCache>
                <c:ptCount val="1"/>
                <c:pt idx="0">
                  <c:v>The study (reported)</c:v>
                </c:pt>
              </c:strCache>
            </c:strRef>
          </c:tx>
          <c:spPr>
            <a:solidFill>
              <a:srgbClr val="2A78D6"/>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NSL-KDD</c:v>
                  </c:pt>
                </c:lvl>
              </c:multiLvlStrCache>
            </c:multiLvlStrRef>
          </c:cat>
          <c:val>
            <c:numRef>
              <c:f>Sheet1!$B$2:$B$2</c:f>
              <c:numCache>
                <c:formatCode>General</c:formatCode>
                <c:ptCount val="1"/>
                <c:pt idx="0">
                  <c:v>0.62</c:v>
                </c:pt>
              </c:numCache>
            </c:numRef>
          </c:val>
        </c:ser>
        <c:ser>
          <c:idx val="1"/>
          <c:order val="1"/>
          <c:tx>
            <c:strRef>
              <c:f>Sheet1!$C$1</c:f>
              <c:strCache>
                <c:ptCount val="1"/>
                <c:pt idx="0">
                  <c:v>Our re-do of the study</c:v>
                </c:pt>
              </c:strCache>
            </c:strRef>
          </c:tx>
          <c:spPr>
            <a:solidFill>
              <a:srgbClr val="EB6834"/>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NSL-KDD</c:v>
                  </c:pt>
                </c:lvl>
              </c:multiLvlStrCache>
            </c:multiLvlStrRef>
          </c:cat>
          <c:val>
            <c:numRef>
              <c:f>Sheet1!$C$2:$C$2</c:f>
              <c:numCache>
                <c:formatCode>General</c:formatCode>
                <c:ptCount val="1"/>
                <c:pt idx="0">
                  <c:v>0.33</c:v>
                </c:pt>
              </c:numCache>
            </c:numRef>
          </c:val>
        </c:ser>
        <c:ser>
          <c:idx val="2"/>
          <c:order val="2"/>
          <c:tx>
            <c:strRef>
              <c:f>Sheet1!$D$1</c:f>
              <c:strCache>
                <c:ptCount val="1"/>
                <c:pt idx="0">
                  <c:v>Idea 1: team + LSTM</c:v>
                </c:pt>
              </c:strCache>
            </c:strRef>
          </c:tx>
          <c:spPr>
            <a:solidFill>
              <a:srgbClr val="1BAF7A"/>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NSL-KDD</c:v>
                  </c:pt>
                </c:lvl>
              </c:multiLvlStrCache>
            </c:multiLvlStrRef>
          </c:cat>
          <c:val>
            <c:numRef>
              <c:f>Sheet1!$D$2:$D$2</c:f>
              <c:numCache>
                <c:formatCode>General</c:formatCode>
                <c:ptCount val="1"/>
                <c:pt idx="0">
                  <c:v>0.34</c:v>
                </c:pt>
              </c:numCache>
            </c:numRef>
          </c:val>
        </c:ser>
        <c:ser>
          <c:idx val="3"/>
          <c:order val="3"/>
          <c:tx>
            <c:strRef>
              <c:f>Sheet1!$E$1</c:f>
              <c:strCache>
                <c:ptCount val="1"/>
                <c:pt idx="0">
                  <c:v>Idea 2: FT-Transformer</c:v>
                </c:pt>
              </c:strCache>
            </c:strRef>
          </c:tx>
          <c:spPr>
            <a:solidFill>
              <a:srgbClr val="EDA100"/>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NSL-KDD</c:v>
                  </c:pt>
                </c:lvl>
              </c:multiLvlStrCache>
            </c:multiLvlStrRef>
          </c:cat>
          <c:val>
            <c:numRef>
              <c:f>Sheet1!$E$2:$E$2</c:f>
              <c:numCache>
                <c:formatCode>General</c:formatCode>
                <c:ptCount val="1"/>
                <c:pt idx="0">
                  <c:v>0.65</c:v>
                </c:pt>
              </c:numCache>
            </c:numRef>
          </c:val>
        </c:ser>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93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9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67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2933"/>
                </a:solidFill>
                <a:latin typeface="Arial"/>
              </a:defRPr>
            </a:pPr>
            <a:r>
              <a:rPr sz="1100" b="0" i="0" u="none" strike="noStrike">
                <a:solidFill>
                  <a:srgbClr val="1F2933"/>
                </a:solidFill>
                <a:latin typeface="Arial"/>
              </a:rPr>
              <a:t>UNSW-NB15: false alarms</a:t>
            </a:r>
          </a:p>
        </c:rich>
      </c:tx>
      <c:layout/>
      <c:overlay val="0"/>
    </c:title>
    <c:autoTitleDeleted val="0"/>
    <c:plotArea>
      <c:layout/>
      <c:barChart>
        <c:barDir val="col"/>
        <c:grouping val="clustered"/>
        <c:varyColors val="0"/>
        <c:ser>
          <c:idx val="0"/>
          <c:order val="0"/>
          <c:tx>
            <c:strRef>
              <c:f>Sheet1!$B$1</c:f>
              <c:strCache>
                <c:ptCount val="1"/>
                <c:pt idx="0">
                  <c:v>The study (reported)</c:v>
                </c:pt>
              </c:strCache>
            </c:strRef>
          </c:tx>
          <c:spPr>
            <a:solidFill>
              <a:srgbClr val="2A78D6"/>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UNSW-NB15</c:v>
                  </c:pt>
                </c:lvl>
              </c:multiLvlStrCache>
            </c:multiLvlStrRef>
          </c:cat>
          <c:val>
            <c:numRef>
              <c:f>Sheet1!$B$2:$B$2</c:f>
              <c:numCache>
                <c:formatCode>General</c:formatCode>
                <c:ptCount val="1"/>
                <c:pt idx="0">
                  <c:v>5.29</c:v>
                </c:pt>
              </c:numCache>
            </c:numRef>
          </c:val>
        </c:ser>
        <c:ser>
          <c:idx val="1"/>
          <c:order val="1"/>
          <c:tx>
            <c:strRef>
              <c:f>Sheet1!$C$1</c:f>
              <c:strCache>
                <c:ptCount val="1"/>
                <c:pt idx="0">
                  <c:v>Our re-do of the study</c:v>
                </c:pt>
              </c:strCache>
            </c:strRef>
          </c:tx>
          <c:spPr>
            <a:solidFill>
              <a:srgbClr val="EB6834"/>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UNSW-NB15</c:v>
                  </c:pt>
                </c:lvl>
              </c:multiLvlStrCache>
            </c:multiLvlStrRef>
          </c:cat>
          <c:val>
            <c:numRef>
              <c:f>Sheet1!$C$2:$C$2</c:f>
              <c:numCache>
                <c:formatCode>General</c:formatCode>
                <c:ptCount val="1"/>
                <c:pt idx="0">
                  <c:v>8.94</c:v>
                </c:pt>
              </c:numCache>
            </c:numRef>
          </c:val>
        </c:ser>
        <c:ser>
          <c:idx val="2"/>
          <c:order val="2"/>
          <c:tx>
            <c:strRef>
              <c:f>Sheet1!$D$1</c:f>
              <c:strCache>
                <c:ptCount val="1"/>
                <c:pt idx="0">
                  <c:v>Idea 1: team + LSTM</c:v>
                </c:pt>
              </c:strCache>
            </c:strRef>
          </c:tx>
          <c:spPr>
            <a:solidFill>
              <a:srgbClr val="1BAF7A"/>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UNSW-NB15</c:v>
                  </c:pt>
                </c:lvl>
              </c:multiLvlStrCache>
            </c:multiLvlStrRef>
          </c:cat>
          <c:val>
            <c:numRef>
              <c:f>Sheet1!$D$2:$D$2</c:f>
              <c:numCache>
                <c:formatCode>General</c:formatCode>
                <c:ptCount val="1"/>
                <c:pt idx="0">
                  <c:v>8.54</c:v>
                </c:pt>
              </c:numCache>
            </c:numRef>
          </c:val>
        </c:ser>
        <c:ser>
          <c:idx val="3"/>
          <c:order val="3"/>
          <c:tx>
            <c:strRef>
              <c:f>Sheet1!$E$1</c:f>
              <c:strCache>
                <c:ptCount val="1"/>
                <c:pt idx="0">
                  <c:v>Idea 2: FT-Transformer</c:v>
                </c:pt>
              </c:strCache>
            </c:strRef>
          </c:tx>
          <c:spPr>
            <a:solidFill>
              <a:srgbClr val="EDA100"/>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UNSW-NB15</c:v>
                  </c:pt>
                </c:lvl>
              </c:multiLvlStrCache>
            </c:multiLvlStrRef>
          </c:cat>
          <c:val>
            <c:numRef>
              <c:f>Sheet1!$E$2:$E$2</c:f>
              <c:numCache>
                <c:formatCode>General</c:formatCode>
                <c:ptCount val="1"/>
                <c:pt idx="0">
                  <c:v>7.27</c:v>
                </c:pt>
              </c:numCache>
            </c:numRef>
          </c:val>
        </c:ser>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93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9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67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2933"/>
                </a:solidFill>
                <a:latin typeface="Arial"/>
              </a:defRPr>
            </a:pPr>
            <a:r>
              <a:rPr sz="1100" b="0" i="0" u="none" strike="noStrike">
                <a:solidFill>
                  <a:srgbClr val="1F2933"/>
                </a:solidFill>
                <a:latin typeface="Arial"/>
              </a:rPr>
              <a:t>CSE-CIC-IDS2018: false alarms</a:t>
            </a:r>
          </a:p>
        </c:rich>
      </c:tx>
      <c:layout/>
      <c:overlay val="0"/>
    </c:title>
    <c:autoTitleDeleted val="0"/>
    <c:plotArea>
      <c:layout/>
      <c:barChart>
        <c:barDir val="col"/>
        <c:grouping val="clustered"/>
        <c:varyColors val="0"/>
        <c:ser>
          <c:idx val="0"/>
          <c:order val="0"/>
          <c:tx>
            <c:strRef>
              <c:f>Sheet1!$B$1</c:f>
              <c:strCache>
                <c:ptCount val="1"/>
                <c:pt idx="0">
                  <c:v>The study (reported)</c:v>
                </c:pt>
              </c:strCache>
            </c:strRef>
          </c:tx>
          <c:spPr>
            <a:solidFill>
              <a:srgbClr val="2A78D6"/>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CSE-CIC-IDS2018</c:v>
                  </c:pt>
                </c:lvl>
              </c:multiLvlStrCache>
            </c:multiLvlStrRef>
          </c:cat>
          <c:val>
            <c:numRef>
              <c:f>Sheet1!$B$2:$B$2</c:f>
              <c:numCache>
                <c:formatCode>General</c:formatCode>
                <c:ptCount val="1"/>
                <c:pt idx="0">
                  <c:v>0.52</c:v>
                </c:pt>
              </c:numCache>
            </c:numRef>
          </c:val>
        </c:ser>
        <c:ser>
          <c:idx val="1"/>
          <c:order val="1"/>
          <c:tx>
            <c:strRef>
              <c:f>Sheet1!$C$1</c:f>
              <c:strCache>
                <c:ptCount val="1"/>
                <c:pt idx="0">
                  <c:v>Our re-do of the study</c:v>
                </c:pt>
              </c:strCache>
            </c:strRef>
          </c:tx>
          <c:spPr>
            <a:solidFill>
              <a:srgbClr val="EB6834"/>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CSE-CIC-IDS2018</c:v>
                  </c:pt>
                </c:lvl>
              </c:multiLvlStrCache>
            </c:multiLvlStrRef>
          </c:cat>
          <c:val>
            <c:numRef>
              <c:f>Sheet1!$C$2:$C$2</c:f>
              <c:numCache>
                <c:formatCode>General</c:formatCode>
                <c:ptCount val="1"/>
                <c:pt idx="0">
                  <c:v>0.38</c:v>
                </c:pt>
              </c:numCache>
            </c:numRef>
          </c:val>
        </c:ser>
        <c:ser>
          <c:idx val="2"/>
          <c:order val="2"/>
          <c:tx>
            <c:strRef>
              <c:f>Sheet1!$D$1</c:f>
              <c:strCache>
                <c:ptCount val="1"/>
                <c:pt idx="0">
                  <c:v>Idea 1: team + LSTM</c:v>
                </c:pt>
              </c:strCache>
            </c:strRef>
          </c:tx>
          <c:spPr>
            <a:solidFill>
              <a:srgbClr val="1BAF7A"/>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CSE-CIC-IDS2018</c:v>
                  </c:pt>
                </c:lvl>
              </c:multiLvlStrCache>
            </c:multiLvlStrRef>
          </c:cat>
          <c:val>
            <c:numRef>
              <c:f>Sheet1!$D$2:$D$2</c:f>
              <c:numCache>
                <c:formatCode>General</c:formatCode>
                <c:ptCount val="1"/>
                <c:pt idx="0">
                  <c:v>0.43</c:v>
                </c:pt>
              </c:numCache>
            </c:numRef>
          </c:val>
        </c:ser>
        <c:ser>
          <c:idx val="3"/>
          <c:order val="3"/>
          <c:tx>
            <c:strRef>
              <c:f>Sheet1!$E$1</c:f>
              <c:strCache>
                <c:ptCount val="1"/>
                <c:pt idx="0">
                  <c:v>Idea 2: FT-Transformer</c:v>
                </c:pt>
              </c:strCache>
            </c:strRef>
          </c:tx>
          <c:spPr>
            <a:solidFill>
              <a:srgbClr val="EDA100"/>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CSE-CIC-IDS2018</c:v>
                  </c:pt>
                </c:lvl>
              </c:multiLvlStrCache>
            </c:multiLvlStrRef>
          </c:cat>
          <c:val>
            <c:numRef>
              <c:f>Sheet1!$E$2:$E$2</c:f>
              <c:numCache>
                <c:formatCode>General</c:formatCode>
                <c:ptCount val="1"/>
                <c:pt idx="0">
                  <c:v>0.59</c:v>
                </c:pt>
              </c:numCache>
            </c:numRef>
          </c:val>
        </c:ser>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93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9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67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2933"/>
                </a:solidFill>
                <a:latin typeface="Arial"/>
              </a:defRPr>
            </a:pPr>
            <a:r>
              <a:rPr sz="1100" b="0" i="0" u="none" strike="noStrike">
                <a:solidFill>
                  <a:srgbClr val="1F2933"/>
                </a:solidFill>
                <a:latin typeface="Arial"/>
              </a:rPr>
              <a:t>CIC-IDS2017: false alarms</a:t>
            </a:r>
          </a:p>
        </c:rich>
      </c:tx>
      <c:layout/>
      <c:overlay val="0"/>
    </c:title>
    <c:autoTitleDeleted val="0"/>
    <c:plotArea>
      <c:layout/>
      <c:barChart>
        <c:barDir val="col"/>
        <c:grouping val="clustered"/>
        <c:varyColors val="0"/>
        <c:ser>
          <c:idx val="0"/>
          <c:order val="0"/>
          <c:tx>
            <c:strRef>
              <c:f>Sheet1!$B$1</c:f>
              <c:strCache>
                <c:ptCount val="1"/>
                <c:pt idx="0">
                  <c:v>The study (reported)</c:v>
                </c:pt>
              </c:strCache>
            </c:strRef>
          </c:tx>
          <c:spPr>
            <a:solidFill>
              <a:srgbClr val="2A78D6"/>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CIC-IDS2017</c:v>
                  </c:pt>
                </c:lvl>
              </c:multiLvlStrCache>
            </c:multiLvlStrRef>
          </c:cat>
          <c:val>
            <c:numRef>
              <c:f>Sheet1!$B$2:$B$2</c:f>
              <c:numCache>
                <c:formatCode>General</c:formatCode>
                <c:ptCount val="1"/>
                <c:pt idx="0">
                  <c:v>0.12</c:v>
                </c:pt>
              </c:numCache>
            </c:numRef>
          </c:val>
        </c:ser>
        <c:ser>
          <c:idx val="1"/>
          <c:order val="1"/>
          <c:tx>
            <c:strRef>
              <c:f>Sheet1!$C$1</c:f>
              <c:strCache>
                <c:ptCount val="1"/>
                <c:pt idx="0">
                  <c:v>Our re-do of the study</c:v>
                </c:pt>
              </c:strCache>
            </c:strRef>
          </c:tx>
          <c:spPr>
            <a:solidFill>
              <a:srgbClr val="EB6834"/>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CIC-IDS2017</c:v>
                  </c:pt>
                </c:lvl>
              </c:multiLvlStrCache>
            </c:multiLvlStrRef>
          </c:cat>
          <c:val>
            <c:numRef>
              <c:f>Sheet1!$C$2:$C$2</c:f>
              <c:numCache>
                <c:formatCode>General</c:formatCode>
                <c:ptCount val="1"/>
                <c:pt idx="0">
                  <c:v>0.1</c:v>
                </c:pt>
              </c:numCache>
            </c:numRef>
          </c:val>
        </c:ser>
        <c:ser>
          <c:idx val="2"/>
          <c:order val="2"/>
          <c:tx>
            <c:strRef>
              <c:f>Sheet1!$D$1</c:f>
              <c:strCache>
                <c:ptCount val="1"/>
                <c:pt idx="0">
                  <c:v>Idea 1: team + LSTM</c:v>
                </c:pt>
              </c:strCache>
            </c:strRef>
          </c:tx>
          <c:spPr>
            <a:solidFill>
              <a:srgbClr val="1BAF7A"/>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CIC-IDS2017</c:v>
                  </c:pt>
                </c:lvl>
              </c:multiLvlStrCache>
            </c:multiLvlStrRef>
          </c:cat>
          <c:val>
            <c:numRef>
              <c:f>Sheet1!$D$2:$D$2</c:f>
              <c:numCache>
                <c:formatCode>General</c:formatCode>
                <c:ptCount val="1"/>
                <c:pt idx="0">
                  <c:v>0.1</c:v>
                </c:pt>
              </c:numCache>
            </c:numRef>
          </c:val>
        </c:ser>
        <c:ser>
          <c:idx val="3"/>
          <c:order val="3"/>
          <c:tx>
            <c:strRef>
              <c:f>Sheet1!$E$1</c:f>
              <c:strCache>
                <c:ptCount val="1"/>
                <c:pt idx="0">
                  <c:v>Idea 2: FT-Transformer</c:v>
                </c:pt>
              </c:strCache>
            </c:strRef>
          </c:tx>
          <c:spPr>
            <a:solidFill>
              <a:srgbClr val="EDA100"/>
            </a:solidFill>
            <a:effectLst/>
          </c:spPr>
          <c:invertIfNegative val="0"/>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cat>
            <c:multiLvlStrRef>
              <c:f>Sheet1!$A$2:$A$2</c:f>
              <c:multiLvlStrCache>
                <c:ptCount val="1"/>
                <c:lvl>
                  <c:pt idx="0">
                    <c:v>CIC-IDS2017</c:v>
                  </c:pt>
                </c:lvl>
              </c:multiLvlStrCache>
            </c:multiLvlStrRef>
          </c:cat>
          <c:val>
            <c:numRef>
              <c:f>Sheet1!$E$2:$E$2</c:f>
              <c:numCache>
                <c:formatCode>General</c:formatCode>
                <c:ptCount val="1"/>
                <c:pt idx="0">
                  <c:v>0.34</c:v>
                </c:pt>
              </c:numCache>
            </c:numRef>
          </c:val>
        </c:ser>
        <c:dLbls>
          <c:numFmt formatCode="0.00" sourceLinked="0"/>
          <c:txPr>
            <a:bodyPr/>
            <a:lstStyle/>
            <a:p>
              <a:pPr>
                <a:defRPr b="0" i="0" strike="noStrike" sz="900" u="none">
                  <a:solidFill>
                    <a:srgbClr val="1F2933"/>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93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9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67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we took a published study, did it again ourselves, tried two new ideas, and checked whether its 99% scores hold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1,000 alarms number is a simple example, not something we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models that judge one connection at a time can't see a plan spread over many steps. Sequence models (LSTM, GRU, Transformers over each computer's history) and graph models (who talks to whom) can. Our four datasets only have single connections, so they can't test this; that's why an APT dataset like DAPT2020 is on the next-steps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Forest and XGBoost are both made of many small decision trees. The study just averages their two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two or three. The best stories are the title rows and "Infinity": both would have run without any error message and quietly given wrong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far fewer attacks than normal rows, so we add made-up practice attacks (a method called SMOTE-Tomek) to the learning part, so the model sees enough of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problem is the order of two steps: split first, then add practice examples only to what you learn from. (The method is called SMOTE-Tomek.)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that our version has this problem too. Fixing it is the first job in the next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counts come from the official files. Other studies usually report around 80% accuracy on the official test; we have not measured it ourselves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speed" is the learning rate: how big a step the model takes each time it corrects itself. 1.0 is very large for XGBoost.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counts over all 2.75 million attack rows in CSE-CIC-IDS2018: 69.8% floods, 5.9% Infiltration.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Stacking: the judge (a simple model) learns from the three models' answers on data they haven't seen. FT-Transformer: Gorishniy et al., 2021.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Mistakes = 100 minus accuracy. Each small chart has its own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is finished. Phase 2 asks how much of the reported performance is left once the test is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chart" Target="/ppt/charts/chart5.xml"/><Relationship Id="rId5" Type="http://schemas.openxmlformats.org/officeDocument/2006/relationships/chart" Target="/ppt/charts/chart6.xml"/><Relationship Id="rId6" Type="http://schemas.openxmlformats.org/officeDocument/2006/relationships/chart" Target="/ppt/charts/chart7.xml"/><Relationship Id="rId7" Type="http://schemas.openxmlformats.org/officeDocument/2006/relationships/chart" Target="/ppt/charts/chart8.xml"/><Relationship Id="rId8" Type="http://schemas.openxmlformats.org/officeDocument/2006/relationships/chart" Target="/ppt/charts/chart9.xml"/><Relationship Id="rId9" Type="http://schemas.openxmlformats.org/officeDocument/2006/relationships/slideLayout" Target="../slideLayouts/slideLayout1.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3E"/>
        </a:solidFill>
      </p:bgPr>
    </p:bg>
    <p:spTree>
      <p:nvGrpSpPr>
        <p:cNvPr id="1" name=""/>
        <p:cNvGrpSpPr/>
        <p:nvPr/>
      </p:nvGrpSpPr>
      <p:grpSpPr>
        <a:xfrm>
          <a:off x="0" y="0"/>
          <a:ext cx="0" cy="0"/>
          <a:chOff x="0" y="0"/>
          <a:chExt cx="0" cy="0"/>
        </a:xfrm>
      </p:grpSpPr>
      <p:sp>
        <p:nvSpPr>
          <p:cNvPr id="2" name="Text 0"/>
          <p:cNvSpPr txBox="1"/>
          <p:nvPr/>
        </p:nvSpPr>
        <p:spPr>
          <a:xfrm>
            <a:off x="548640" y="1188720"/>
            <a:ext cx="11091672" cy="128016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A Hybrid Ensemble Machine Learning Model for Detecting APT Attacks Based on Network Behavior Anomaly Detection</a:t>
            </a:r>
            <a:endParaRPr lang="en-US" sz="3400" dirty="0"/>
          </a:p>
        </p:txBody>
      </p:sp>
      <p:sp>
        <p:nvSpPr>
          <p:cNvPr id="3" name="Text 1"/>
          <p:cNvSpPr txBox="1"/>
          <p:nvPr/>
        </p:nvSpPr>
        <p:spPr>
          <a:xfrm>
            <a:off x="548640" y="2606040"/>
            <a:ext cx="11091672" cy="4572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Reproducing and extending Saini, Bhat Kasaragod, Prakasha &amp; Das (2023)</a:t>
            </a:r>
            <a:endParaRPr lang="en-US" sz="2000" dirty="0"/>
          </a:p>
        </p:txBody>
      </p:sp>
      <p:sp>
        <p:nvSpPr>
          <p:cNvPr id="4" name="Text 2"/>
          <p:cNvSpPr txBox="1"/>
          <p:nvPr/>
        </p:nvSpPr>
        <p:spPr>
          <a:xfrm>
            <a:off x="548640" y="3520440"/>
            <a:ext cx="3840480" cy="38404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Achyutananda Sahoo</a:t>
            </a:r>
            <a:endParaRPr lang="en-US" sz="1800" dirty="0"/>
          </a:p>
        </p:txBody>
      </p:sp>
      <p:sp>
        <p:nvSpPr>
          <p:cNvPr id="5" name="Text 3"/>
          <p:cNvSpPr txBox="1"/>
          <p:nvPr/>
        </p:nvSpPr>
        <p:spPr>
          <a:xfrm>
            <a:off x="4480560" y="3520440"/>
            <a:ext cx="2286000" cy="384048"/>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2025202028</a:t>
            </a:r>
            <a:endParaRPr lang="en-US" sz="1800" dirty="0"/>
          </a:p>
        </p:txBody>
      </p:sp>
      <p:sp>
        <p:nvSpPr>
          <p:cNvPr id="6" name="Text 4"/>
          <p:cNvSpPr txBox="1"/>
          <p:nvPr/>
        </p:nvSpPr>
        <p:spPr>
          <a:xfrm>
            <a:off x="548640" y="3977640"/>
            <a:ext cx="3840480" cy="38404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Vadla Shiva Kishan</a:t>
            </a:r>
            <a:endParaRPr lang="en-US" sz="1800" dirty="0"/>
          </a:p>
        </p:txBody>
      </p:sp>
      <p:sp>
        <p:nvSpPr>
          <p:cNvPr id="7" name="Text 5"/>
          <p:cNvSpPr txBox="1"/>
          <p:nvPr/>
        </p:nvSpPr>
        <p:spPr>
          <a:xfrm>
            <a:off x="4480560" y="3977640"/>
            <a:ext cx="2286000" cy="384048"/>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2025202036</a:t>
            </a:r>
            <a:endParaRPr lang="en-US" sz="1800" dirty="0"/>
          </a:p>
        </p:txBody>
      </p:sp>
      <p:sp>
        <p:nvSpPr>
          <p:cNvPr id="8" name="Text 6"/>
          <p:cNvSpPr txBox="1"/>
          <p:nvPr/>
        </p:nvSpPr>
        <p:spPr>
          <a:xfrm>
            <a:off x="548640" y="4434840"/>
            <a:ext cx="3840480" cy="38404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Abhijith Sanarsu</a:t>
            </a:r>
            <a:endParaRPr lang="en-US" sz="1800" dirty="0"/>
          </a:p>
        </p:txBody>
      </p:sp>
      <p:sp>
        <p:nvSpPr>
          <p:cNvPr id="9" name="Text 7"/>
          <p:cNvSpPr txBox="1"/>
          <p:nvPr/>
        </p:nvSpPr>
        <p:spPr>
          <a:xfrm>
            <a:off x="4480560" y="4434840"/>
            <a:ext cx="2286000" cy="384048"/>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2025202032</a:t>
            </a:r>
            <a:endParaRPr lang="en-US" sz="1800" dirty="0"/>
          </a:p>
        </p:txBody>
      </p:sp>
      <p:sp>
        <p:nvSpPr>
          <p:cNvPr id="10" name="Text 8"/>
          <p:cNvSpPr txBox="1"/>
          <p:nvPr/>
        </p:nvSpPr>
        <p:spPr>
          <a:xfrm>
            <a:off x="548640" y="5120640"/>
            <a:ext cx="11091672" cy="365760"/>
          </a:xfrm>
          <a:prstGeom prst="rect">
            <a:avLst/>
          </a:prstGeom>
          <a:noFill/>
          <a:ln/>
        </p:spPr>
        <p:txBody>
          <a:bodyPr wrap="square" lIns="0" tIns="0" rIns="0" bIns="0" rtlCol="0" anchor="ctr"/>
          <a:lstStyle/>
          <a:p>
            <a:pPr indent="0" marL="0">
              <a:buNone/>
            </a:pPr>
            <a:r>
              <a:rPr lang="en-US" sz="1400" dirty="0">
                <a:solidFill>
                  <a:srgbClr val="AAB6C8"/>
                </a:solidFill>
                <a:latin typeface="Calibri" pitchFamily="34" charset="0"/>
                <a:ea typeface="Calibri" pitchFamily="34" charset="-122"/>
                <a:cs typeface="Calibri" pitchFamily="34" charset="-120"/>
              </a:rPr>
              <a:t>Research in Information Security  ·  IIIT Hyderabad  ·  Monsoon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000" b="1" dirty="0">
                <a:solidFill>
                  <a:srgbClr val="16213E"/>
                </a:solidFill>
                <a:latin typeface="Calibri" pitchFamily="34" charset="0"/>
                <a:ea typeface="Calibri" pitchFamily="34" charset="-122"/>
                <a:cs typeface="Calibri" pitchFamily="34" charset="-120"/>
              </a:rPr>
              <a:t>What this talk covers</a:t>
            </a:r>
            <a:endParaRPr lang="en-US" sz="3000" dirty="0"/>
          </a:p>
        </p:txBody>
      </p:sp>
      <p:sp>
        <p:nvSpPr>
          <p:cNvPr id="3" name="Shape 1"/>
          <p:cNvSpPr/>
          <p:nvPr/>
        </p:nvSpPr>
        <p:spPr>
          <a:xfrm>
            <a:off x="548640" y="1463040"/>
            <a:ext cx="3474720" cy="2057400"/>
          </a:xfrm>
          <a:prstGeom prst="roundRect">
            <a:avLst>
              <a:gd name="adj" fmla="val 3556"/>
            </a:avLst>
          </a:prstGeom>
          <a:solidFill>
            <a:srgbClr val="EEF3FA"/>
          </a:solidFill>
          <a:ln w="12700">
            <a:solidFill>
              <a:srgbClr val="EEF3FA"/>
            </a:solidFill>
            <a:prstDash val="solid"/>
          </a:ln>
        </p:spPr>
      </p:sp>
      <p:sp>
        <p:nvSpPr>
          <p:cNvPr id="4" name="Shape 2"/>
          <p:cNvSpPr/>
          <p:nvPr/>
        </p:nvSpPr>
        <p:spPr>
          <a:xfrm>
            <a:off x="822960" y="1737360"/>
            <a:ext cx="457200" cy="457200"/>
          </a:xfrm>
          <a:prstGeom prst="ellipse">
            <a:avLst/>
          </a:prstGeom>
          <a:solidFill>
            <a:srgbClr val="16213E"/>
          </a:solidFill>
          <a:ln w="12700">
            <a:solidFill>
              <a:srgbClr val="16213E"/>
            </a:solidFill>
            <a:prstDash val="solid"/>
          </a:ln>
        </p:spPr>
      </p:sp>
      <p:sp>
        <p:nvSpPr>
          <p:cNvPr id="5" name="Text 3"/>
          <p:cNvSpPr txBox="1"/>
          <p:nvPr/>
        </p:nvSpPr>
        <p:spPr>
          <a:xfrm>
            <a:off x="82296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822960" y="2331720"/>
            <a:ext cx="2926080" cy="411480"/>
          </a:xfrm>
          <a:prstGeom prst="rect">
            <a:avLst/>
          </a:prstGeom>
          <a:noFill/>
          <a:ln/>
        </p:spPr>
        <p:txBody>
          <a:bodyPr wrap="square" lIns="0" tIns="0" rIns="0" bIns="0" rtlCol="0" anchor="ctr"/>
          <a:lstStyle/>
          <a:p>
            <a:pPr indent="0" marL="0">
              <a:buNone/>
            </a:pPr>
            <a:r>
              <a:rPr lang="en-US" sz="2000" b="1" dirty="0">
                <a:solidFill>
                  <a:srgbClr val="16213E"/>
                </a:solidFill>
                <a:latin typeface="Calibri" pitchFamily="34" charset="0"/>
                <a:ea typeface="Calibri" pitchFamily="34" charset="-122"/>
                <a:cs typeface="Calibri" pitchFamily="34" charset="-120"/>
              </a:rPr>
              <a:t>The problem</a:t>
            </a:r>
            <a:endParaRPr lang="en-US" sz="2000" dirty="0"/>
          </a:p>
        </p:txBody>
      </p:sp>
      <p:sp>
        <p:nvSpPr>
          <p:cNvPr id="7" name="Text 5"/>
          <p:cNvSpPr txBox="1"/>
          <p:nvPr/>
        </p:nvSpPr>
        <p:spPr>
          <a:xfrm>
            <a:off x="822960" y="2761488"/>
            <a:ext cx="292608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What hidden hackers are, and the study we checked</a:t>
            </a:r>
            <a:endParaRPr lang="en-US" sz="1400" dirty="0"/>
          </a:p>
        </p:txBody>
      </p:sp>
      <p:sp>
        <p:nvSpPr>
          <p:cNvPr id="8" name="Shape 6"/>
          <p:cNvSpPr/>
          <p:nvPr/>
        </p:nvSpPr>
        <p:spPr>
          <a:xfrm>
            <a:off x="4297680" y="1463040"/>
            <a:ext cx="3474720" cy="2057400"/>
          </a:xfrm>
          <a:prstGeom prst="roundRect">
            <a:avLst>
              <a:gd name="adj" fmla="val 3556"/>
            </a:avLst>
          </a:prstGeom>
          <a:solidFill>
            <a:srgbClr val="EEF3FA"/>
          </a:solidFill>
          <a:ln w="12700">
            <a:solidFill>
              <a:srgbClr val="EEF3FA"/>
            </a:solidFill>
            <a:prstDash val="solid"/>
          </a:ln>
        </p:spPr>
      </p:sp>
      <p:sp>
        <p:nvSpPr>
          <p:cNvPr id="9" name="Shape 7"/>
          <p:cNvSpPr/>
          <p:nvPr/>
        </p:nvSpPr>
        <p:spPr>
          <a:xfrm>
            <a:off x="4572000" y="1737360"/>
            <a:ext cx="457200" cy="457200"/>
          </a:xfrm>
          <a:prstGeom prst="ellipse">
            <a:avLst/>
          </a:prstGeom>
          <a:solidFill>
            <a:srgbClr val="16213E"/>
          </a:solidFill>
          <a:ln w="12700">
            <a:solidFill>
              <a:srgbClr val="16213E"/>
            </a:solidFill>
            <a:prstDash val="solid"/>
          </a:ln>
        </p:spPr>
      </p:sp>
      <p:sp>
        <p:nvSpPr>
          <p:cNvPr id="10" name="Text 8"/>
          <p:cNvSpPr txBox="1"/>
          <p:nvPr/>
        </p:nvSpPr>
        <p:spPr>
          <a:xfrm>
            <a:off x="457200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4572000" y="2331720"/>
            <a:ext cx="2926080" cy="411480"/>
          </a:xfrm>
          <a:prstGeom prst="rect">
            <a:avLst/>
          </a:prstGeom>
          <a:noFill/>
          <a:ln/>
        </p:spPr>
        <p:txBody>
          <a:bodyPr wrap="square" lIns="0" tIns="0" rIns="0" bIns="0" rtlCol="0" anchor="ctr"/>
          <a:lstStyle/>
          <a:p>
            <a:pPr indent="0" marL="0">
              <a:buNone/>
            </a:pPr>
            <a:r>
              <a:rPr lang="en-US" sz="2000" b="1" dirty="0">
                <a:solidFill>
                  <a:srgbClr val="16213E"/>
                </a:solidFill>
                <a:latin typeface="Calibri" pitchFamily="34" charset="0"/>
                <a:ea typeface="Calibri" pitchFamily="34" charset="-122"/>
                <a:cs typeface="Calibri" pitchFamily="34" charset="-120"/>
              </a:rPr>
              <a:t>The data</a:t>
            </a:r>
            <a:endParaRPr lang="en-US" sz="2000" dirty="0"/>
          </a:p>
        </p:txBody>
      </p:sp>
      <p:sp>
        <p:nvSpPr>
          <p:cNvPr id="12" name="Text 10"/>
          <p:cNvSpPr txBox="1"/>
          <p:nvPr/>
        </p:nvSpPr>
        <p:spPr>
          <a:xfrm>
            <a:off x="4572000" y="2761488"/>
            <a:ext cx="292608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Four collections of network traffic, and how we cleaned them</a:t>
            </a:r>
            <a:endParaRPr lang="en-US" sz="1400" dirty="0"/>
          </a:p>
        </p:txBody>
      </p:sp>
      <p:sp>
        <p:nvSpPr>
          <p:cNvPr id="13" name="Shape 11"/>
          <p:cNvSpPr/>
          <p:nvPr/>
        </p:nvSpPr>
        <p:spPr>
          <a:xfrm>
            <a:off x="8046720" y="1463040"/>
            <a:ext cx="3474720" cy="2057400"/>
          </a:xfrm>
          <a:prstGeom prst="roundRect">
            <a:avLst>
              <a:gd name="adj" fmla="val 3556"/>
            </a:avLst>
          </a:prstGeom>
          <a:solidFill>
            <a:srgbClr val="EEF3FA"/>
          </a:solidFill>
          <a:ln w="12700">
            <a:solidFill>
              <a:srgbClr val="EEF3FA"/>
            </a:solidFill>
            <a:prstDash val="solid"/>
          </a:ln>
        </p:spPr>
      </p:sp>
      <p:sp>
        <p:nvSpPr>
          <p:cNvPr id="14" name="Shape 12"/>
          <p:cNvSpPr/>
          <p:nvPr/>
        </p:nvSpPr>
        <p:spPr>
          <a:xfrm>
            <a:off x="8321040" y="1737360"/>
            <a:ext cx="457200" cy="457200"/>
          </a:xfrm>
          <a:prstGeom prst="ellipse">
            <a:avLst/>
          </a:prstGeom>
          <a:solidFill>
            <a:srgbClr val="16213E"/>
          </a:solidFill>
          <a:ln w="12700">
            <a:solidFill>
              <a:srgbClr val="16213E"/>
            </a:solidFill>
            <a:prstDash val="solid"/>
          </a:ln>
        </p:spPr>
      </p:sp>
      <p:sp>
        <p:nvSpPr>
          <p:cNvPr id="15" name="Text 13"/>
          <p:cNvSpPr txBox="1"/>
          <p:nvPr/>
        </p:nvSpPr>
        <p:spPr>
          <a:xfrm>
            <a:off x="832104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8321040" y="2331720"/>
            <a:ext cx="2926080" cy="411480"/>
          </a:xfrm>
          <a:prstGeom prst="rect">
            <a:avLst/>
          </a:prstGeom>
          <a:noFill/>
          <a:ln/>
        </p:spPr>
        <p:txBody>
          <a:bodyPr wrap="square" lIns="0" tIns="0" rIns="0" bIns="0" rtlCol="0" anchor="ctr"/>
          <a:lstStyle/>
          <a:p>
            <a:pPr indent="0" marL="0">
              <a:buNone/>
            </a:pPr>
            <a:r>
              <a:rPr lang="en-US" sz="2000" b="1" dirty="0">
                <a:solidFill>
                  <a:srgbClr val="16213E"/>
                </a:solidFill>
                <a:latin typeface="Calibri" pitchFamily="34" charset="0"/>
                <a:ea typeface="Calibri" pitchFamily="34" charset="-122"/>
                <a:cs typeface="Calibri" pitchFamily="34" charset="-120"/>
              </a:rPr>
              <a:t>Re-doing the study</a:t>
            </a:r>
            <a:endParaRPr lang="en-US" sz="2000" dirty="0"/>
          </a:p>
        </p:txBody>
      </p:sp>
      <p:sp>
        <p:nvSpPr>
          <p:cNvPr id="17" name="Text 15"/>
          <p:cNvSpPr txBox="1"/>
          <p:nvPr/>
        </p:nvSpPr>
        <p:spPr>
          <a:xfrm>
            <a:off x="8321040" y="2761488"/>
            <a:ext cx="292608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Our steps, a hidden step we found, and our results</a:t>
            </a:r>
            <a:endParaRPr lang="en-US" sz="1400" dirty="0"/>
          </a:p>
        </p:txBody>
      </p:sp>
      <p:sp>
        <p:nvSpPr>
          <p:cNvPr id="18" name="Shape 16"/>
          <p:cNvSpPr/>
          <p:nvPr/>
        </p:nvSpPr>
        <p:spPr>
          <a:xfrm>
            <a:off x="548640" y="3794760"/>
            <a:ext cx="3474720" cy="2057400"/>
          </a:xfrm>
          <a:prstGeom prst="roundRect">
            <a:avLst>
              <a:gd name="adj" fmla="val 3556"/>
            </a:avLst>
          </a:prstGeom>
          <a:solidFill>
            <a:srgbClr val="EEF3FA"/>
          </a:solidFill>
          <a:ln w="12700">
            <a:solidFill>
              <a:srgbClr val="EEF3FA"/>
            </a:solidFill>
            <a:prstDash val="solid"/>
          </a:ln>
        </p:spPr>
      </p:sp>
      <p:sp>
        <p:nvSpPr>
          <p:cNvPr id="19" name="Shape 17"/>
          <p:cNvSpPr/>
          <p:nvPr/>
        </p:nvSpPr>
        <p:spPr>
          <a:xfrm>
            <a:off x="822960" y="4069080"/>
            <a:ext cx="457200" cy="457200"/>
          </a:xfrm>
          <a:prstGeom prst="ellipse">
            <a:avLst/>
          </a:prstGeom>
          <a:solidFill>
            <a:srgbClr val="EB6834"/>
          </a:solidFill>
          <a:ln w="12700">
            <a:solidFill>
              <a:srgbClr val="EB6834"/>
            </a:solidFill>
            <a:prstDash val="solid"/>
          </a:ln>
        </p:spPr>
      </p:sp>
      <p:sp>
        <p:nvSpPr>
          <p:cNvPr id="20" name="Text 18"/>
          <p:cNvSpPr txBox="1"/>
          <p:nvPr/>
        </p:nvSpPr>
        <p:spPr>
          <a:xfrm>
            <a:off x="822960" y="4069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txBox="1"/>
          <p:nvPr/>
        </p:nvSpPr>
        <p:spPr>
          <a:xfrm>
            <a:off x="822960" y="4663440"/>
            <a:ext cx="2926080" cy="411480"/>
          </a:xfrm>
          <a:prstGeom prst="rect">
            <a:avLst/>
          </a:prstGeom>
          <a:noFill/>
          <a:ln/>
        </p:spPr>
        <p:txBody>
          <a:bodyPr wrap="square" lIns="0" tIns="0" rIns="0" bIns="0" rtlCol="0" anchor="ctr"/>
          <a:lstStyle/>
          <a:p>
            <a:pPr indent="0" marL="0">
              <a:buNone/>
            </a:pPr>
            <a:r>
              <a:rPr lang="en-US" sz="2000" b="1" dirty="0">
                <a:solidFill>
                  <a:srgbClr val="16213E"/>
                </a:solidFill>
                <a:latin typeface="Calibri" pitchFamily="34" charset="0"/>
                <a:ea typeface="Calibri" pitchFamily="34" charset="-122"/>
                <a:cs typeface="Calibri" pitchFamily="34" charset="-120"/>
              </a:rPr>
              <a:t>Problems in the study</a:t>
            </a:r>
            <a:endParaRPr lang="en-US" sz="2000" dirty="0"/>
          </a:p>
        </p:txBody>
      </p:sp>
      <p:sp>
        <p:nvSpPr>
          <p:cNvPr id="22" name="Text 20"/>
          <p:cNvSpPr txBox="1"/>
          <p:nvPr/>
        </p:nvSpPr>
        <p:spPr>
          <a:xfrm>
            <a:off x="822960" y="5093208"/>
            <a:ext cx="292608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Five mistakes in how it was tested</a:t>
            </a:r>
            <a:endParaRPr lang="en-US" sz="1400" dirty="0"/>
          </a:p>
        </p:txBody>
      </p:sp>
      <p:sp>
        <p:nvSpPr>
          <p:cNvPr id="23" name="Shape 21"/>
          <p:cNvSpPr/>
          <p:nvPr/>
        </p:nvSpPr>
        <p:spPr>
          <a:xfrm>
            <a:off x="4297680" y="3794760"/>
            <a:ext cx="3474720" cy="2057400"/>
          </a:xfrm>
          <a:prstGeom prst="roundRect">
            <a:avLst>
              <a:gd name="adj" fmla="val 3556"/>
            </a:avLst>
          </a:prstGeom>
          <a:solidFill>
            <a:srgbClr val="EEF3FA"/>
          </a:solidFill>
          <a:ln w="12700">
            <a:solidFill>
              <a:srgbClr val="EEF3FA"/>
            </a:solidFill>
            <a:prstDash val="solid"/>
          </a:ln>
        </p:spPr>
      </p:sp>
      <p:sp>
        <p:nvSpPr>
          <p:cNvPr id="24" name="Shape 22"/>
          <p:cNvSpPr/>
          <p:nvPr/>
        </p:nvSpPr>
        <p:spPr>
          <a:xfrm>
            <a:off x="4572000" y="4069080"/>
            <a:ext cx="457200" cy="457200"/>
          </a:xfrm>
          <a:prstGeom prst="ellipse">
            <a:avLst/>
          </a:prstGeom>
          <a:solidFill>
            <a:srgbClr val="16213E"/>
          </a:solidFill>
          <a:ln w="12700">
            <a:solidFill>
              <a:srgbClr val="16213E"/>
            </a:solidFill>
            <a:prstDash val="solid"/>
          </a:ln>
        </p:spPr>
      </p:sp>
      <p:sp>
        <p:nvSpPr>
          <p:cNvPr id="25" name="Text 23"/>
          <p:cNvSpPr txBox="1"/>
          <p:nvPr/>
        </p:nvSpPr>
        <p:spPr>
          <a:xfrm>
            <a:off x="4572000" y="4069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6" name="Text 24"/>
          <p:cNvSpPr txBox="1"/>
          <p:nvPr/>
        </p:nvSpPr>
        <p:spPr>
          <a:xfrm>
            <a:off x="4572000" y="4663440"/>
            <a:ext cx="2926080" cy="411480"/>
          </a:xfrm>
          <a:prstGeom prst="rect">
            <a:avLst/>
          </a:prstGeom>
          <a:noFill/>
          <a:ln/>
        </p:spPr>
        <p:txBody>
          <a:bodyPr wrap="square" lIns="0" tIns="0" rIns="0" bIns="0" rtlCol="0" anchor="ctr"/>
          <a:lstStyle/>
          <a:p>
            <a:pPr indent="0" marL="0">
              <a:buNone/>
            </a:pPr>
            <a:r>
              <a:rPr lang="en-US" sz="2000" b="1" dirty="0">
                <a:solidFill>
                  <a:srgbClr val="16213E"/>
                </a:solidFill>
                <a:latin typeface="Calibri" pitchFamily="34" charset="0"/>
                <a:ea typeface="Calibri" pitchFamily="34" charset="-122"/>
                <a:cs typeface="Calibri" pitchFamily="34" charset="-120"/>
              </a:rPr>
              <a:t>Our new ideas</a:t>
            </a:r>
            <a:endParaRPr lang="en-US" sz="2000" dirty="0"/>
          </a:p>
        </p:txBody>
      </p:sp>
      <p:sp>
        <p:nvSpPr>
          <p:cNvPr id="27" name="Text 25"/>
          <p:cNvSpPr txBox="1"/>
          <p:nvPr/>
        </p:nvSpPr>
        <p:spPr>
          <a:xfrm>
            <a:off x="4572000" y="5093208"/>
            <a:ext cx="292608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Two new models we tried, and what we learned</a:t>
            </a:r>
            <a:endParaRPr lang="en-US" sz="1400" dirty="0"/>
          </a:p>
        </p:txBody>
      </p:sp>
      <p:sp>
        <p:nvSpPr>
          <p:cNvPr id="28" name="Shape 26"/>
          <p:cNvSpPr/>
          <p:nvPr/>
        </p:nvSpPr>
        <p:spPr>
          <a:xfrm>
            <a:off x="8046720" y="3794760"/>
            <a:ext cx="3474720" cy="2057400"/>
          </a:xfrm>
          <a:prstGeom prst="roundRect">
            <a:avLst>
              <a:gd name="adj" fmla="val 3556"/>
            </a:avLst>
          </a:prstGeom>
          <a:solidFill>
            <a:srgbClr val="EEF3FA"/>
          </a:solidFill>
          <a:ln w="12700">
            <a:solidFill>
              <a:srgbClr val="EEF3FA"/>
            </a:solidFill>
            <a:prstDash val="solid"/>
          </a:ln>
        </p:spPr>
      </p:sp>
      <p:sp>
        <p:nvSpPr>
          <p:cNvPr id="29" name="Shape 27"/>
          <p:cNvSpPr/>
          <p:nvPr/>
        </p:nvSpPr>
        <p:spPr>
          <a:xfrm>
            <a:off x="8321040" y="4069080"/>
            <a:ext cx="457200" cy="457200"/>
          </a:xfrm>
          <a:prstGeom prst="ellipse">
            <a:avLst/>
          </a:prstGeom>
          <a:solidFill>
            <a:srgbClr val="16213E"/>
          </a:solidFill>
          <a:ln w="12700">
            <a:solidFill>
              <a:srgbClr val="16213E"/>
            </a:solidFill>
            <a:prstDash val="solid"/>
          </a:ln>
        </p:spPr>
      </p:sp>
      <p:sp>
        <p:nvSpPr>
          <p:cNvPr id="30" name="Text 28"/>
          <p:cNvSpPr txBox="1"/>
          <p:nvPr/>
        </p:nvSpPr>
        <p:spPr>
          <a:xfrm>
            <a:off x="8321040" y="4069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1" name="Text 29"/>
          <p:cNvSpPr txBox="1"/>
          <p:nvPr/>
        </p:nvSpPr>
        <p:spPr>
          <a:xfrm>
            <a:off x="8321040" y="4663440"/>
            <a:ext cx="2926080" cy="411480"/>
          </a:xfrm>
          <a:prstGeom prst="rect">
            <a:avLst/>
          </a:prstGeom>
          <a:noFill/>
          <a:ln/>
        </p:spPr>
        <p:txBody>
          <a:bodyPr wrap="square" lIns="0" tIns="0" rIns="0" bIns="0" rtlCol="0" anchor="ctr"/>
          <a:lstStyle/>
          <a:p>
            <a:pPr indent="0" marL="0">
              <a:buNone/>
            </a:pPr>
            <a:r>
              <a:rPr lang="en-US" sz="2000" b="1" dirty="0">
                <a:solidFill>
                  <a:srgbClr val="16213E"/>
                </a:solidFill>
                <a:latin typeface="Calibri" pitchFamily="34" charset="0"/>
                <a:ea typeface="Calibri" pitchFamily="34" charset="-122"/>
                <a:cs typeface="Calibri" pitchFamily="34" charset="-120"/>
              </a:rPr>
              <a:t>What's next</a:t>
            </a:r>
            <a:endParaRPr lang="en-US" sz="2000" dirty="0"/>
          </a:p>
        </p:txBody>
      </p:sp>
      <p:sp>
        <p:nvSpPr>
          <p:cNvPr id="32" name="Text 30"/>
          <p:cNvSpPr txBox="1"/>
          <p:nvPr/>
        </p:nvSpPr>
        <p:spPr>
          <a:xfrm>
            <a:off x="8321040" y="5093208"/>
            <a:ext cx="292608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What we finished, what comes next, and our own weak spots</a:t>
            </a:r>
            <a:endParaRPr lang="en-US" sz="1400" dirty="0"/>
          </a:p>
        </p:txBody>
      </p:sp>
      <p:sp>
        <p:nvSpPr>
          <p:cNvPr id="33" name="Text 31"/>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000" b="1" dirty="0">
                <a:solidFill>
                  <a:srgbClr val="16213E"/>
                </a:solidFill>
                <a:latin typeface="Calibri" pitchFamily="34" charset="0"/>
                <a:ea typeface="Calibri" pitchFamily="34" charset="-122"/>
                <a:cs typeface="Calibri" pitchFamily="34" charset="-120"/>
              </a:rPr>
              <a:t>What is an APT?</a:t>
            </a:r>
            <a:endParaRPr lang="en-US" sz="3000" dirty="0"/>
          </a:p>
        </p:txBody>
      </p:sp>
      <p:sp>
        <p:nvSpPr>
          <p:cNvPr id="3" name="Text 1"/>
          <p:cNvSpPr txBox="1"/>
          <p:nvPr/>
        </p:nvSpPr>
        <p:spPr>
          <a:xfrm>
            <a:off x="548640" y="1463040"/>
            <a:ext cx="6035040" cy="4389120"/>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2933"/>
                </a:solidFill>
                <a:latin typeface="Calibri" pitchFamily="34" charset="0"/>
                <a:ea typeface="Calibri" pitchFamily="34" charset="-122"/>
                <a:cs typeface="Calibri" pitchFamily="34" charset="-120"/>
              </a:rPr>
              <a:t>An APT</a:t>
            </a:r>
            <a:pPr indent="0" marL="0">
              <a:spcAft>
                <a:spcPts val="800"/>
              </a:spcAft>
              <a:buNone/>
            </a:pPr>
            <a:r>
              <a:rPr lang="en-US" sz="1800" dirty="0">
                <a:solidFill>
                  <a:srgbClr val="1F2933"/>
                </a:solidFill>
                <a:latin typeface="Calibri" pitchFamily="34" charset="0"/>
                <a:ea typeface="Calibri" pitchFamily="34" charset="-122"/>
                <a:cs typeface="Calibri" pitchFamily="34" charset="-120"/>
              </a:rPr>
              <a:t> (Advanced Persistent Threat) is a hacker who sneaks into a network and hides there for months</a:t>
            </a:r>
            <a:endParaRPr lang="en-US" sz="1800" dirty="0"/>
          </a:p>
          <a:p>
            <a:pPr marL="228600" indent="-228600">
              <a:spcAft>
                <a:spcPts val="800"/>
              </a:spcAft>
              <a:buSzPct val="100000"/>
              <a:buChar char="•"/>
            </a:pPr>
            <a:r>
              <a:rPr lang="en-US" sz="1800" dirty="0">
                <a:solidFill>
                  <a:srgbClr val="1F2933"/>
                </a:solidFill>
                <a:latin typeface="Calibri" pitchFamily="34" charset="0"/>
                <a:ea typeface="Calibri" pitchFamily="34" charset="-122"/>
                <a:cs typeface="Calibri" pitchFamily="34" charset="-120"/>
              </a:rPr>
              <a:t>They act like normal users, so tools that look for </a:t>
            </a:r>
            <a:pPr indent="0" marL="0">
              <a:spcAft>
                <a:spcPts val="800"/>
              </a:spcAft>
              <a:buNone/>
            </a:pPr>
            <a:r>
              <a:rPr lang="en-US" sz="1800" b="1" dirty="0">
                <a:solidFill>
                  <a:srgbClr val="EB6834"/>
                </a:solidFill>
                <a:latin typeface="Calibri" pitchFamily="34" charset="0"/>
                <a:ea typeface="Calibri" pitchFamily="34" charset="-122"/>
                <a:cs typeface="Calibri" pitchFamily="34" charset="-120"/>
              </a:rPr>
              <a:t>known bad patterns</a:t>
            </a:r>
            <a:pPr indent="0" marL="0">
              <a:spcAft>
                <a:spcPts val="800"/>
              </a:spcAft>
              <a:buNone/>
            </a:pPr>
            <a:r>
              <a:rPr lang="en-US" sz="1800" dirty="0">
                <a:solidFill>
                  <a:srgbClr val="1F2933"/>
                </a:solidFill>
                <a:latin typeface="Calibri" pitchFamily="34" charset="0"/>
                <a:ea typeface="Calibri" pitchFamily="34" charset="-122"/>
                <a:cs typeface="Calibri" pitchFamily="34" charset="-120"/>
              </a:rPr>
              <a:t> (like antivirus) miss them</a:t>
            </a:r>
            <a:endParaRPr lang="en-US" sz="1800" dirty="0"/>
          </a:p>
          <a:p>
            <a:pPr marL="228600" indent="-228600">
              <a:spcAft>
                <a:spcPts val="800"/>
              </a:spcAft>
              <a:buSzPct val="100000"/>
              <a:buChar char="•"/>
            </a:pPr>
            <a:r>
              <a:rPr lang="en-US" sz="1800" b="1" dirty="0">
                <a:solidFill>
                  <a:srgbClr val="1F2933"/>
                </a:solidFill>
                <a:latin typeface="Calibri" pitchFamily="34" charset="0"/>
                <a:ea typeface="Calibri" pitchFamily="34" charset="-122"/>
                <a:cs typeface="Calibri" pitchFamily="34" charset="-120"/>
              </a:rPr>
              <a:t>The idea: </a:t>
            </a:r>
            <a:pPr indent="0" marL="0">
              <a:spcAft>
                <a:spcPts val="800"/>
              </a:spcAft>
              <a:buNone/>
            </a:pPr>
            <a:r>
              <a:rPr lang="en-US" sz="1800" dirty="0">
                <a:solidFill>
                  <a:srgbClr val="1F2933"/>
                </a:solidFill>
                <a:latin typeface="Calibri" pitchFamily="34" charset="0"/>
                <a:ea typeface="Calibri" pitchFamily="34" charset="-122"/>
                <a:cs typeface="Calibri" pitchFamily="34" charset="-120"/>
              </a:rPr>
              <a:t>learn what normal traffic looks like, and raise an alarm when something looks different</a:t>
            </a:r>
            <a:endParaRPr lang="en-US" sz="1800" dirty="0"/>
          </a:p>
          <a:p>
            <a:pPr marL="228600" indent="-228600">
              <a:spcAft>
                <a:spcPts val="800"/>
              </a:spcAft>
              <a:buSzPct val="100000"/>
              <a:buChar char="•"/>
            </a:pPr>
            <a:r>
              <a:rPr lang="en-US" sz="1800" dirty="0">
                <a:solidFill>
                  <a:srgbClr val="1F2933"/>
                </a:solidFill>
                <a:latin typeface="Calibri" pitchFamily="34" charset="0"/>
                <a:ea typeface="Calibri" pitchFamily="34" charset="-122"/>
                <a:cs typeface="Calibri" pitchFamily="34" charset="-120"/>
              </a:rPr>
              <a:t>A computer can learn this from examples labelled "normal" or "attack". That is machine learning</a:t>
            </a:r>
            <a:endParaRPr lang="en-US" sz="1800" dirty="0"/>
          </a:p>
        </p:txBody>
      </p:sp>
      <p:sp>
        <p:nvSpPr>
          <p:cNvPr id="4" name="Shape 2"/>
          <p:cNvSpPr/>
          <p:nvPr/>
        </p:nvSpPr>
        <p:spPr>
          <a:xfrm>
            <a:off x="7132320" y="1463040"/>
            <a:ext cx="4480560" cy="2011680"/>
          </a:xfrm>
          <a:prstGeom prst="roundRect">
            <a:avLst>
              <a:gd name="adj" fmla="val 3636"/>
            </a:avLst>
          </a:prstGeom>
          <a:solidFill>
            <a:srgbClr val="EEF3FA"/>
          </a:solidFill>
          <a:ln w="12700">
            <a:solidFill>
              <a:srgbClr val="EEF3FA"/>
            </a:solidFill>
            <a:prstDash val="solid"/>
          </a:ln>
        </p:spPr>
      </p:sp>
      <p:sp>
        <p:nvSpPr>
          <p:cNvPr id="5" name="Text 3"/>
          <p:cNvSpPr txBox="1"/>
          <p:nvPr/>
        </p:nvSpPr>
        <p:spPr>
          <a:xfrm>
            <a:off x="7315200" y="1600200"/>
            <a:ext cx="4114800" cy="822960"/>
          </a:xfrm>
          <a:prstGeom prst="rect">
            <a:avLst/>
          </a:prstGeom>
          <a:noFill/>
          <a:ln/>
        </p:spPr>
        <p:txBody>
          <a:bodyPr wrap="square" lIns="0" tIns="0" rIns="0" bIns="0" rtlCol="0" anchor="ctr"/>
          <a:lstStyle/>
          <a:p>
            <a:pPr indent="0" marL="0">
              <a:buNone/>
            </a:pPr>
            <a:r>
              <a:rPr lang="en-US" sz="4400" b="1" dirty="0">
                <a:solidFill>
                  <a:srgbClr val="16213E"/>
                </a:solidFill>
                <a:latin typeface="Calibri" pitchFamily="34" charset="0"/>
                <a:ea typeface="Calibri" pitchFamily="34" charset="-122"/>
                <a:cs typeface="Calibri" pitchFamily="34" charset="-120"/>
              </a:rPr>
              <a:t>Years</a:t>
            </a:r>
            <a:endParaRPr lang="en-US" sz="4400" dirty="0"/>
          </a:p>
        </p:txBody>
      </p:sp>
      <p:sp>
        <p:nvSpPr>
          <p:cNvPr id="6" name="Text 4"/>
          <p:cNvSpPr txBox="1"/>
          <p:nvPr/>
        </p:nvSpPr>
        <p:spPr>
          <a:xfrm>
            <a:off x="7315200" y="2423160"/>
            <a:ext cx="4114800" cy="914400"/>
          </a:xfrm>
          <a:prstGeom prst="rect">
            <a:avLst/>
          </a:prstGeom>
          <a:noFill/>
          <a:ln/>
        </p:spPr>
        <p:txBody>
          <a:bodyPr wrap="square" lIns="0" tIns="0" rIns="0" bIns="0" rtlCol="0" anchor="ctr"/>
          <a:lstStyle/>
          <a:p>
            <a:pPr indent="0" marL="0">
              <a:buNone/>
            </a:pPr>
            <a:r>
              <a:rPr lang="en-US" sz="1400" dirty="0">
                <a:solidFill>
                  <a:srgbClr val="5B6770"/>
                </a:solidFill>
                <a:latin typeface="Calibri" pitchFamily="34" charset="0"/>
                <a:ea typeface="Calibri" pitchFamily="34" charset="-122"/>
                <a:cs typeface="Calibri" pitchFamily="34" charset="-120"/>
              </a:rPr>
              <a:t>how long one real spy program stayed hidden (an example from the study)</a:t>
            </a:r>
            <a:endParaRPr lang="en-US" sz="1400" dirty="0"/>
          </a:p>
        </p:txBody>
      </p:sp>
      <p:sp>
        <p:nvSpPr>
          <p:cNvPr id="7" name="Shape 5"/>
          <p:cNvSpPr/>
          <p:nvPr/>
        </p:nvSpPr>
        <p:spPr>
          <a:xfrm>
            <a:off x="7132320" y="3749040"/>
            <a:ext cx="4480560" cy="2011680"/>
          </a:xfrm>
          <a:prstGeom prst="roundRect">
            <a:avLst>
              <a:gd name="adj" fmla="val 3636"/>
            </a:avLst>
          </a:prstGeom>
          <a:solidFill>
            <a:srgbClr val="EEF3FA"/>
          </a:solidFill>
          <a:ln w="12700">
            <a:solidFill>
              <a:srgbClr val="EEF3FA"/>
            </a:solidFill>
            <a:prstDash val="solid"/>
          </a:ln>
        </p:spPr>
      </p:sp>
      <p:sp>
        <p:nvSpPr>
          <p:cNvPr id="8" name="Text 6"/>
          <p:cNvSpPr txBox="1"/>
          <p:nvPr/>
        </p:nvSpPr>
        <p:spPr>
          <a:xfrm>
            <a:off x="7315200" y="3886200"/>
            <a:ext cx="4114800" cy="822960"/>
          </a:xfrm>
          <a:prstGeom prst="rect">
            <a:avLst/>
          </a:prstGeom>
          <a:noFill/>
          <a:ln/>
        </p:spPr>
        <p:txBody>
          <a:bodyPr wrap="square" lIns="0" tIns="0" rIns="0" bIns="0" rtlCol="0" anchor="ctr"/>
          <a:lstStyle/>
          <a:p>
            <a:pPr indent="0" marL="0">
              <a:buNone/>
            </a:pPr>
            <a:r>
              <a:rPr lang="en-US" sz="3200" b="1" dirty="0">
                <a:solidFill>
                  <a:srgbClr val="EB6834"/>
                </a:solidFill>
                <a:latin typeface="Calibri" pitchFamily="34" charset="0"/>
                <a:ea typeface="Calibri" pitchFamily="34" charset="-122"/>
                <a:cs typeface="Calibri" pitchFamily="34" charset="-120"/>
              </a:rPr>
              <a:t>1,000 alarms a day</a:t>
            </a:r>
            <a:endParaRPr lang="en-US" sz="3200" dirty="0"/>
          </a:p>
        </p:txBody>
      </p:sp>
      <p:sp>
        <p:nvSpPr>
          <p:cNvPr id="9" name="Text 7"/>
          <p:cNvSpPr txBox="1"/>
          <p:nvPr/>
        </p:nvSpPr>
        <p:spPr>
          <a:xfrm>
            <a:off x="7315200" y="4709160"/>
            <a:ext cx="4114800" cy="914400"/>
          </a:xfrm>
          <a:prstGeom prst="rect">
            <a:avLst/>
          </a:prstGeom>
          <a:noFill/>
          <a:ln/>
        </p:spPr>
        <p:txBody>
          <a:bodyPr wrap="square" lIns="0" tIns="0" rIns="0" bIns="0" rtlCol="0" anchor="ctr"/>
          <a:lstStyle/>
          <a:p>
            <a:pPr indent="0" marL="0">
              <a:buNone/>
            </a:pPr>
            <a:r>
              <a:rPr lang="en-US" sz="1400" dirty="0">
                <a:solidFill>
                  <a:srgbClr val="5B6770"/>
                </a:solidFill>
                <a:latin typeface="Calibri" pitchFamily="34" charset="0"/>
                <a:ea typeface="Calibri" pitchFamily="34" charset="-122"/>
                <a:cs typeface="Calibri" pitchFamily="34" charset="-120"/>
              </a:rPr>
              <a:t>if just 0.1% of a million daily connections raise false alarms (an example). Too many false alarms, and people stop listening.</a:t>
            </a:r>
            <a:endParaRPr lang="en-US" sz="1400" dirty="0"/>
          </a:p>
        </p:txBody>
      </p:sp>
      <p:sp>
        <p:nvSpPr>
          <p:cNvPr id="10" name="Text 8"/>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000" b="1" dirty="0">
                <a:solidFill>
                  <a:srgbClr val="16213E"/>
                </a:solidFill>
                <a:latin typeface="Calibri" pitchFamily="34" charset="0"/>
                <a:ea typeface="Calibri" pitchFamily="34" charset="-122"/>
                <a:cs typeface="Calibri" pitchFamily="34" charset="-120"/>
              </a:rPr>
              <a:t>Why normal models miss APTs</a:t>
            </a:r>
            <a:endParaRPr lang="en-US" sz="3000" dirty="0"/>
          </a:p>
        </p:txBody>
      </p:sp>
      <p:sp>
        <p:nvSpPr>
          <p:cNvPr id="3" name="Text 1"/>
          <p:cNvSpPr txBox="1"/>
          <p:nvPr/>
        </p:nvSpPr>
        <p:spPr>
          <a:xfrm>
            <a:off x="548640" y="960120"/>
            <a:ext cx="11091672" cy="365760"/>
          </a:xfrm>
          <a:prstGeom prst="rect">
            <a:avLst/>
          </a:prstGeom>
          <a:noFill/>
          <a:ln/>
        </p:spPr>
        <p:txBody>
          <a:bodyPr wrap="square" lIns="0" tIns="0" rIns="0" bIns="0" rtlCol="0" anchor="ctr"/>
          <a:lstStyle/>
          <a:p>
            <a:pPr indent="0" marL="0">
              <a:buNone/>
            </a:pPr>
            <a:r>
              <a:rPr lang="en-US" sz="1500" dirty="0">
                <a:solidFill>
                  <a:srgbClr val="5B6770"/>
                </a:solidFill>
                <a:latin typeface="Calibri" pitchFamily="34" charset="0"/>
                <a:ea typeface="Calibri" pitchFamily="34" charset="-122"/>
                <a:cs typeface="Calibri" pitchFamily="34" charset="-120"/>
              </a:rPr>
              <a:t>A hidden hacker takes many small steps. Each step looks harmless; only the whole story looks bad.</a:t>
            </a:r>
            <a:endParaRPr lang="en-US" sz="1500" dirty="0"/>
          </a:p>
        </p:txBody>
      </p:sp>
      <p:sp>
        <p:nvSpPr>
          <p:cNvPr id="4" name="Shape 2"/>
          <p:cNvSpPr/>
          <p:nvPr/>
        </p:nvSpPr>
        <p:spPr>
          <a:xfrm>
            <a:off x="548640" y="3429000"/>
            <a:ext cx="11091672" cy="914"/>
          </a:xfrm>
          <a:prstGeom prst="line">
            <a:avLst/>
          </a:prstGeom>
          <a:noFill/>
          <a:ln w="19050">
            <a:solidFill>
              <a:srgbClr val="7A8793"/>
            </a:solidFill>
            <a:prstDash val="solid"/>
            <a:tailEnd type="triangle"/>
          </a:ln>
        </p:spPr>
      </p:sp>
      <p:sp>
        <p:nvSpPr>
          <p:cNvPr id="5" name="Text 3"/>
          <p:cNvSpPr txBox="1"/>
          <p:nvPr/>
        </p:nvSpPr>
        <p:spPr>
          <a:xfrm>
            <a:off x="9262872" y="3493008"/>
            <a:ext cx="2377440" cy="274320"/>
          </a:xfrm>
          <a:prstGeom prst="rect">
            <a:avLst/>
          </a:prstGeom>
          <a:noFill/>
          <a:ln/>
        </p:spPr>
        <p:txBody>
          <a:bodyPr wrap="square" lIns="0" tIns="0" rIns="0" bIns="0" rtlCol="0" anchor="ctr"/>
          <a:lstStyle/>
          <a:p>
            <a:pPr algn="r" indent="0" marL="0">
              <a:buNone/>
            </a:pPr>
            <a:r>
              <a:rPr lang="en-US" sz="1100" i="1" dirty="0">
                <a:solidFill>
                  <a:srgbClr val="5B6770"/>
                </a:solidFill>
                <a:latin typeface="Calibri" pitchFamily="34" charset="0"/>
                <a:ea typeface="Calibri" pitchFamily="34" charset="-122"/>
                <a:cs typeface="Calibri" pitchFamily="34" charset="-120"/>
              </a:rPr>
              <a:t>time: days to months</a:t>
            </a:r>
            <a:endParaRPr lang="en-US" sz="1100" dirty="0"/>
          </a:p>
        </p:txBody>
      </p:sp>
      <p:sp>
        <p:nvSpPr>
          <p:cNvPr id="6" name="Shape 4"/>
          <p:cNvSpPr/>
          <p:nvPr/>
        </p:nvSpPr>
        <p:spPr>
          <a:xfrm>
            <a:off x="548640" y="1691640"/>
            <a:ext cx="2011680" cy="1417320"/>
          </a:xfrm>
          <a:prstGeom prst="roundRect">
            <a:avLst>
              <a:gd name="adj" fmla="val 5161"/>
            </a:avLst>
          </a:prstGeom>
          <a:solidFill>
            <a:srgbClr val="EEF3FA"/>
          </a:solidFill>
          <a:ln w="12700">
            <a:solidFill>
              <a:srgbClr val="EEF3FA"/>
            </a:solidFill>
            <a:prstDash val="solid"/>
          </a:ln>
        </p:spPr>
      </p:sp>
      <p:sp>
        <p:nvSpPr>
          <p:cNvPr id="7" name="Text 5"/>
          <p:cNvSpPr txBox="1"/>
          <p:nvPr/>
        </p:nvSpPr>
        <p:spPr>
          <a:xfrm>
            <a:off x="685800" y="1801368"/>
            <a:ext cx="1737360" cy="320040"/>
          </a:xfrm>
          <a:prstGeom prst="rect">
            <a:avLst/>
          </a:prstGeom>
          <a:noFill/>
          <a:ln/>
        </p:spPr>
        <p:txBody>
          <a:bodyPr wrap="square" lIns="0" tIns="0" rIns="0" bIns="0" rtlCol="0" anchor="ctr"/>
          <a:lstStyle/>
          <a:p>
            <a:pPr indent="0" marL="0">
              <a:buNone/>
            </a:pPr>
            <a:r>
              <a:rPr lang="en-US" sz="1400" b="1" dirty="0">
                <a:solidFill>
                  <a:srgbClr val="16213E"/>
                </a:solidFill>
                <a:latin typeface="Calibri" pitchFamily="34" charset="0"/>
                <a:ea typeface="Calibri" pitchFamily="34" charset="-122"/>
                <a:cs typeface="Calibri" pitchFamily="34" charset="-120"/>
              </a:rPr>
              <a:t>1. Look around</a:t>
            </a:r>
            <a:endParaRPr lang="en-US" sz="1400" dirty="0"/>
          </a:p>
        </p:txBody>
      </p:sp>
      <p:sp>
        <p:nvSpPr>
          <p:cNvPr id="8" name="Text 6"/>
          <p:cNvSpPr txBox="1"/>
          <p:nvPr/>
        </p:nvSpPr>
        <p:spPr>
          <a:xfrm>
            <a:off x="685800" y="2148840"/>
            <a:ext cx="1737360" cy="64008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Quietly checks which doors are open</a:t>
            </a:r>
            <a:endParaRPr lang="en-US" sz="1200" dirty="0"/>
          </a:p>
        </p:txBody>
      </p:sp>
      <p:sp>
        <p:nvSpPr>
          <p:cNvPr id="9" name="Text 7"/>
          <p:cNvSpPr txBox="1"/>
          <p:nvPr/>
        </p:nvSpPr>
        <p:spPr>
          <a:xfrm>
            <a:off x="685800" y="2770632"/>
            <a:ext cx="1737360" cy="256032"/>
          </a:xfrm>
          <a:prstGeom prst="rect">
            <a:avLst/>
          </a:prstGeom>
          <a:noFill/>
          <a:ln/>
        </p:spPr>
        <p:txBody>
          <a:bodyPr wrap="square" lIns="0" tIns="0" rIns="0" bIns="0" rtlCol="0" anchor="ctr"/>
          <a:lstStyle/>
          <a:p>
            <a:pPr indent="0" marL="0">
              <a:buNone/>
            </a:pPr>
            <a:r>
              <a:rPr lang="en-US" sz="1100" b="1" dirty="0">
                <a:solidFill>
                  <a:srgbClr val="0A7F2E"/>
                </a:solidFill>
                <a:latin typeface="Calibri" pitchFamily="34" charset="0"/>
                <a:ea typeface="Calibri" pitchFamily="34" charset="-122"/>
                <a:cs typeface="Calibri" pitchFamily="34" charset="-120"/>
              </a:rPr>
              <a:t>looks harmless</a:t>
            </a:r>
            <a:endParaRPr lang="en-US" sz="1100" dirty="0"/>
          </a:p>
        </p:txBody>
      </p:sp>
      <p:sp>
        <p:nvSpPr>
          <p:cNvPr id="10" name="Shape 8"/>
          <p:cNvSpPr/>
          <p:nvPr/>
        </p:nvSpPr>
        <p:spPr>
          <a:xfrm>
            <a:off x="2560320" y="2400300"/>
            <a:ext cx="246888" cy="914"/>
          </a:xfrm>
          <a:prstGeom prst="line">
            <a:avLst/>
          </a:prstGeom>
          <a:noFill/>
          <a:ln w="19050">
            <a:solidFill>
              <a:srgbClr val="7A8793"/>
            </a:solidFill>
            <a:prstDash val="solid"/>
            <a:tailEnd type="triangle"/>
          </a:ln>
        </p:spPr>
      </p:sp>
      <p:sp>
        <p:nvSpPr>
          <p:cNvPr id="11" name="Shape 9"/>
          <p:cNvSpPr/>
          <p:nvPr/>
        </p:nvSpPr>
        <p:spPr>
          <a:xfrm>
            <a:off x="2807208" y="1691640"/>
            <a:ext cx="2011680" cy="1417320"/>
          </a:xfrm>
          <a:prstGeom prst="roundRect">
            <a:avLst>
              <a:gd name="adj" fmla="val 5161"/>
            </a:avLst>
          </a:prstGeom>
          <a:solidFill>
            <a:srgbClr val="EEF3FA"/>
          </a:solidFill>
          <a:ln w="12700">
            <a:solidFill>
              <a:srgbClr val="EEF3FA"/>
            </a:solidFill>
            <a:prstDash val="solid"/>
          </a:ln>
        </p:spPr>
      </p:sp>
      <p:sp>
        <p:nvSpPr>
          <p:cNvPr id="12" name="Text 10"/>
          <p:cNvSpPr txBox="1"/>
          <p:nvPr/>
        </p:nvSpPr>
        <p:spPr>
          <a:xfrm>
            <a:off x="2944368" y="1801368"/>
            <a:ext cx="1737360" cy="320040"/>
          </a:xfrm>
          <a:prstGeom prst="rect">
            <a:avLst/>
          </a:prstGeom>
          <a:noFill/>
          <a:ln/>
        </p:spPr>
        <p:txBody>
          <a:bodyPr wrap="square" lIns="0" tIns="0" rIns="0" bIns="0" rtlCol="0" anchor="ctr"/>
          <a:lstStyle/>
          <a:p>
            <a:pPr indent="0" marL="0">
              <a:buNone/>
            </a:pPr>
            <a:r>
              <a:rPr lang="en-US" sz="1400" b="1" dirty="0">
                <a:solidFill>
                  <a:srgbClr val="16213E"/>
                </a:solidFill>
                <a:latin typeface="Calibri" pitchFamily="34" charset="0"/>
                <a:ea typeface="Calibri" pitchFamily="34" charset="-122"/>
                <a:cs typeface="Calibri" pitchFamily="34" charset="-120"/>
              </a:rPr>
              <a:t>2. Get in</a:t>
            </a:r>
            <a:endParaRPr lang="en-US" sz="1400" dirty="0"/>
          </a:p>
        </p:txBody>
      </p:sp>
      <p:sp>
        <p:nvSpPr>
          <p:cNvPr id="13" name="Text 11"/>
          <p:cNvSpPr txBox="1"/>
          <p:nvPr/>
        </p:nvSpPr>
        <p:spPr>
          <a:xfrm>
            <a:off x="2944368" y="2148840"/>
            <a:ext cx="1737360" cy="64008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One fake email, one normal-looking login</a:t>
            </a:r>
            <a:endParaRPr lang="en-US" sz="1200" dirty="0"/>
          </a:p>
        </p:txBody>
      </p:sp>
      <p:sp>
        <p:nvSpPr>
          <p:cNvPr id="14" name="Text 12"/>
          <p:cNvSpPr txBox="1"/>
          <p:nvPr/>
        </p:nvSpPr>
        <p:spPr>
          <a:xfrm>
            <a:off x="2944368" y="2770632"/>
            <a:ext cx="1737360" cy="256032"/>
          </a:xfrm>
          <a:prstGeom prst="rect">
            <a:avLst/>
          </a:prstGeom>
          <a:noFill/>
          <a:ln/>
        </p:spPr>
        <p:txBody>
          <a:bodyPr wrap="square" lIns="0" tIns="0" rIns="0" bIns="0" rtlCol="0" anchor="ctr"/>
          <a:lstStyle/>
          <a:p>
            <a:pPr indent="0" marL="0">
              <a:buNone/>
            </a:pPr>
            <a:r>
              <a:rPr lang="en-US" sz="1100" b="1" dirty="0">
                <a:solidFill>
                  <a:srgbClr val="0A7F2E"/>
                </a:solidFill>
                <a:latin typeface="Calibri" pitchFamily="34" charset="0"/>
                <a:ea typeface="Calibri" pitchFamily="34" charset="-122"/>
                <a:cs typeface="Calibri" pitchFamily="34" charset="-120"/>
              </a:rPr>
              <a:t>looks harmless</a:t>
            </a:r>
            <a:endParaRPr lang="en-US" sz="1100" dirty="0"/>
          </a:p>
        </p:txBody>
      </p:sp>
      <p:sp>
        <p:nvSpPr>
          <p:cNvPr id="15" name="Shape 13"/>
          <p:cNvSpPr/>
          <p:nvPr/>
        </p:nvSpPr>
        <p:spPr>
          <a:xfrm>
            <a:off x="4818888" y="2400300"/>
            <a:ext cx="246888" cy="914"/>
          </a:xfrm>
          <a:prstGeom prst="line">
            <a:avLst/>
          </a:prstGeom>
          <a:noFill/>
          <a:ln w="19050">
            <a:solidFill>
              <a:srgbClr val="7A8793"/>
            </a:solidFill>
            <a:prstDash val="solid"/>
            <a:tailEnd type="triangle"/>
          </a:ln>
        </p:spPr>
      </p:sp>
      <p:sp>
        <p:nvSpPr>
          <p:cNvPr id="16" name="Shape 14"/>
          <p:cNvSpPr/>
          <p:nvPr/>
        </p:nvSpPr>
        <p:spPr>
          <a:xfrm>
            <a:off x="5065776" y="1691640"/>
            <a:ext cx="2011680" cy="1417320"/>
          </a:xfrm>
          <a:prstGeom prst="roundRect">
            <a:avLst>
              <a:gd name="adj" fmla="val 5161"/>
            </a:avLst>
          </a:prstGeom>
          <a:solidFill>
            <a:srgbClr val="EEF3FA"/>
          </a:solidFill>
          <a:ln w="12700">
            <a:solidFill>
              <a:srgbClr val="EEF3FA"/>
            </a:solidFill>
            <a:prstDash val="solid"/>
          </a:ln>
        </p:spPr>
      </p:sp>
      <p:sp>
        <p:nvSpPr>
          <p:cNvPr id="17" name="Text 15"/>
          <p:cNvSpPr txBox="1"/>
          <p:nvPr/>
        </p:nvSpPr>
        <p:spPr>
          <a:xfrm>
            <a:off x="5202936" y="1801368"/>
            <a:ext cx="1737360" cy="320040"/>
          </a:xfrm>
          <a:prstGeom prst="rect">
            <a:avLst/>
          </a:prstGeom>
          <a:noFill/>
          <a:ln/>
        </p:spPr>
        <p:txBody>
          <a:bodyPr wrap="square" lIns="0" tIns="0" rIns="0" bIns="0" rtlCol="0" anchor="ctr"/>
          <a:lstStyle/>
          <a:p>
            <a:pPr indent="0" marL="0">
              <a:buNone/>
            </a:pPr>
            <a:r>
              <a:rPr lang="en-US" sz="1400" b="1" dirty="0">
                <a:solidFill>
                  <a:srgbClr val="16213E"/>
                </a:solidFill>
                <a:latin typeface="Calibri" pitchFamily="34" charset="0"/>
                <a:ea typeface="Calibri" pitchFamily="34" charset="-122"/>
                <a:cs typeface="Calibri" pitchFamily="34" charset="-120"/>
              </a:rPr>
              <a:t>3. Phone home</a:t>
            </a:r>
            <a:endParaRPr lang="en-US" sz="1400" dirty="0"/>
          </a:p>
        </p:txBody>
      </p:sp>
      <p:sp>
        <p:nvSpPr>
          <p:cNvPr id="18" name="Text 16"/>
          <p:cNvSpPr txBox="1"/>
          <p:nvPr/>
        </p:nvSpPr>
        <p:spPr>
          <a:xfrm>
            <a:off x="5202936" y="2148840"/>
            <a:ext cx="1737360" cy="64008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Sends a tiny "hello" to the hacker every few hours</a:t>
            </a:r>
            <a:endParaRPr lang="en-US" sz="1200" dirty="0"/>
          </a:p>
        </p:txBody>
      </p:sp>
      <p:sp>
        <p:nvSpPr>
          <p:cNvPr id="19" name="Text 17"/>
          <p:cNvSpPr txBox="1"/>
          <p:nvPr/>
        </p:nvSpPr>
        <p:spPr>
          <a:xfrm>
            <a:off x="5202936" y="2770632"/>
            <a:ext cx="1737360" cy="256032"/>
          </a:xfrm>
          <a:prstGeom prst="rect">
            <a:avLst/>
          </a:prstGeom>
          <a:noFill/>
          <a:ln/>
        </p:spPr>
        <p:txBody>
          <a:bodyPr wrap="square" lIns="0" tIns="0" rIns="0" bIns="0" rtlCol="0" anchor="ctr"/>
          <a:lstStyle/>
          <a:p>
            <a:pPr indent="0" marL="0">
              <a:buNone/>
            </a:pPr>
            <a:r>
              <a:rPr lang="en-US" sz="1100" b="1" dirty="0">
                <a:solidFill>
                  <a:srgbClr val="0A7F2E"/>
                </a:solidFill>
                <a:latin typeface="Calibri" pitchFamily="34" charset="0"/>
                <a:ea typeface="Calibri" pitchFamily="34" charset="-122"/>
                <a:cs typeface="Calibri" pitchFamily="34" charset="-120"/>
              </a:rPr>
              <a:t>looks harmless</a:t>
            </a:r>
            <a:endParaRPr lang="en-US" sz="1100" dirty="0"/>
          </a:p>
        </p:txBody>
      </p:sp>
      <p:sp>
        <p:nvSpPr>
          <p:cNvPr id="20" name="Shape 18"/>
          <p:cNvSpPr/>
          <p:nvPr/>
        </p:nvSpPr>
        <p:spPr>
          <a:xfrm>
            <a:off x="7077456" y="2400300"/>
            <a:ext cx="246888" cy="914"/>
          </a:xfrm>
          <a:prstGeom prst="line">
            <a:avLst/>
          </a:prstGeom>
          <a:noFill/>
          <a:ln w="19050">
            <a:solidFill>
              <a:srgbClr val="7A8793"/>
            </a:solidFill>
            <a:prstDash val="solid"/>
            <a:tailEnd type="triangle"/>
          </a:ln>
        </p:spPr>
      </p:sp>
      <p:sp>
        <p:nvSpPr>
          <p:cNvPr id="21" name="Shape 19"/>
          <p:cNvSpPr/>
          <p:nvPr/>
        </p:nvSpPr>
        <p:spPr>
          <a:xfrm>
            <a:off x="7324344" y="1691640"/>
            <a:ext cx="2011680" cy="1417320"/>
          </a:xfrm>
          <a:prstGeom prst="roundRect">
            <a:avLst>
              <a:gd name="adj" fmla="val 5161"/>
            </a:avLst>
          </a:prstGeom>
          <a:solidFill>
            <a:srgbClr val="EEF3FA"/>
          </a:solidFill>
          <a:ln w="12700">
            <a:solidFill>
              <a:srgbClr val="EEF3FA"/>
            </a:solidFill>
            <a:prstDash val="solid"/>
          </a:ln>
        </p:spPr>
      </p:sp>
      <p:sp>
        <p:nvSpPr>
          <p:cNvPr id="22" name="Text 20"/>
          <p:cNvSpPr txBox="1"/>
          <p:nvPr/>
        </p:nvSpPr>
        <p:spPr>
          <a:xfrm>
            <a:off x="7461504" y="1801368"/>
            <a:ext cx="1737360" cy="320040"/>
          </a:xfrm>
          <a:prstGeom prst="rect">
            <a:avLst/>
          </a:prstGeom>
          <a:noFill/>
          <a:ln/>
        </p:spPr>
        <p:txBody>
          <a:bodyPr wrap="square" lIns="0" tIns="0" rIns="0" bIns="0" rtlCol="0" anchor="ctr"/>
          <a:lstStyle/>
          <a:p>
            <a:pPr indent="0" marL="0">
              <a:buNone/>
            </a:pPr>
            <a:r>
              <a:rPr lang="en-US" sz="1400" b="1" dirty="0">
                <a:solidFill>
                  <a:srgbClr val="16213E"/>
                </a:solidFill>
                <a:latin typeface="Calibri" pitchFamily="34" charset="0"/>
                <a:ea typeface="Calibri" pitchFamily="34" charset="-122"/>
                <a:cs typeface="Calibri" pitchFamily="34" charset="-120"/>
              </a:rPr>
              <a:t>4. Spread</a:t>
            </a:r>
            <a:endParaRPr lang="en-US" sz="1400" dirty="0"/>
          </a:p>
        </p:txBody>
      </p:sp>
      <p:sp>
        <p:nvSpPr>
          <p:cNvPr id="23" name="Text 21"/>
          <p:cNvSpPr txBox="1"/>
          <p:nvPr/>
        </p:nvSpPr>
        <p:spPr>
          <a:xfrm>
            <a:off x="7461504" y="2148840"/>
            <a:ext cx="1737360" cy="64008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Logs into other computers in the network</a:t>
            </a:r>
            <a:endParaRPr lang="en-US" sz="1200" dirty="0"/>
          </a:p>
        </p:txBody>
      </p:sp>
      <p:sp>
        <p:nvSpPr>
          <p:cNvPr id="24" name="Text 22"/>
          <p:cNvSpPr txBox="1"/>
          <p:nvPr/>
        </p:nvSpPr>
        <p:spPr>
          <a:xfrm>
            <a:off x="7461504" y="2770632"/>
            <a:ext cx="1737360" cy="256032"/>
          </a:xfrm>
          <a:prstGeom prst="rect">
            <a:avLst/>
          </a:prstGeom>
          <a:noFill/>
          <a:ln/>
        </p:spPr>
        <p:txBody>
          <a:bodyPr wrap="square" lIns="0" tIns="0" rIns="0" bIns="0" rtlCol="0" anchor="ctr"/>
          <a:lstStyle/>
          <a:p>
            <a:pPr indent="0" marL="0">
              <a:buNone/>
            </a:pPr>
            <a:r>
              <a:rPr lang="en-US" sz="1100" b="1" dirty="0">
                <a:solidFill>
                  <a:srgbClr val="0A7F2E"/>
                </a:solidFill>
                <a:latin typeface="Calibri" pitchFamily="34" charset="0"/>
                <a:ea typeface="Calibri" pitchFamily="34" charset="-122"/>
                <a:cs typeface="Calibri" pitchFamily="34" charset="-120"/>
              </a:rPr>
              <a:t>looks harmless</a:t>
            </a:r>
            <a:endParaRPr lang="en-US" sz="1100" dirty="0"/>
          </a:p>
        </p:txBody>
      </p:sp>
      <p:sp>
        <p:nvSpPr>
          <p:cNvPr id="25" name="Shape 23"/>
          <p:cNvSpPr/>
          <p:nvPr/>
        </p:nvSpPr>
        <p:spPr>
          <a:xfrm>
            <a:off x="9336024" y="2400300"/>
            <a:ext cx="246888" cy="914"/>
          </a:xfrm>
          <a:prstGeom prst="line">
            <a:avLst/>
          </a:prstGeom>
          <a:noFill/>
          <a:ln w="19050">
            <a:solidFill>
              <a:srgbClr val="7A8793"/>
            </a:solidFill>
            <a:prstDash val="solid"/>
            <a:tailEnd type="triangle"/>
          </a:ln>
        </p:spPr>
      </p:sp>
      <p:sp>
        <p:nvSpPr>
          <p:cNvPr id="26" name="Shape 24"/>
          <p:cNvSpPr/>
          <p:nvPr/>
        </p:nvSpPr>
        <p:spPr>
          <a:xfrm>
            <a:off x="9582912" y="1691640"/>
            <a:ext cx="2011680" cy="1417320"/>
          </a:xfrm>
          <a:prstGeom prst="roundRect">
            <a:avLst>
              <a:gd name="adj" fmla="val 5161"/>
            </a:avLst>
          </a:prstGeom>
          <a:solidFill>
            <a:srgbClr val="EEF3FA"/>
          </a:solidFill>
          <a:ln w="12700">
            <a:solidFill>
              <a:srgbClr val="EEF3FA"/>
            </a:solidFill>
            <a:prstDash val="solid"/>
          </a:ln>
        </p:spPr>
      </p:sp>
      <p:sp>
        <p:nvSpPr>
          <p:cNvPr id="27" name="Text 25"/>
          <p:cNvSpPr txBox="1"/>
          <p:nvPr/>
        </p:nvSpPr>
        <p:spPr>
          <a:xfrm>
            <a:off x="9720072" y="1801368"/>
            <a:ext cx="1737360" cy="320040"/>
          </a:xfrm>
          <a:prstGeom prst="rect">
            <a:avLst/>
          </a:prstGeom>
          <a:noFill/>
          <a:ln/>
        </p:spPr>
        <p:txBody>
          <a:bodyPr wrap="square" lIns="0" tIns="0" rIns="0" bIns="0" rtlCol="0" anchor="ctr"/>
          <a:lstStyle/>
          <a:p>
            <a:pPr indent="0" marL="0">
              <a:buNone/>
            </a:pPr>
            <a:r>
              <a:rPr lang="en-US" sz="1400" b="1" dirty="0">
                <a:solidFill>
                  <a:srgbClr val="16213E"/>
                </a:solidFill>
                <a:latin typeface="Calibri" pitchFamily="34" charset="0"/>
                <a:ea typeface="Calibri" pitchFamily="34" charset="-122"/>
                <a:cs typeface="Calibri" pitchFamily="34" charset="-120"/>
              </a:rPr>
              <a:t>5. Steal</a:t>
            </a:r>
            <a:endParaRPr lang="en-US" sz="1400" dirty="0"/>
          </a:p>
        </p:txBody>
      </p:sp>
      <p:sp>
        <p:nvSpPr>
          <p:cNvPr id="28" name="Text 26"/>
          <p:cNvSpPr txBox="1"/>
          <p:nvPr/>
        </p:nvSpPr>
        <p:spPr>
          <a:xfrm>
            <a:off x="9720072" y="2148840"/>
            <a:ext cx="1737360" cy="64008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Sends data out in small pieces, over many days</a:t>
            </a:r>
            <a:endParaRPr lang="en-US" sz="1200" dirty="0"/>
          </a:p>
        </p:txBody>
      </p:sp>
      <p:sp>
        <p:nvSpPr>
          <p:cNvPr id="29" name="Text 27"/>
          <p:cNvSpPr txBox="1"/>
          <p:nvPr/>
        </p:nvSpPr>
        <p:spPr>
          <a:xfrm>
            <a:off x="9720072" y="2770632"/>
            <a:ext cx="1737360" cy="256032"/>
          </a:xfrm>
          <a:prstGeom prst="rect">
            <a:avLst/>
          </a:prstGeom>
          <a:noFill/>
          <a:ln/>
        </p:spPr>
        <p:txBody>
          <a:bodyPr wrap="square" lIns="0" tIns="0" rIns="0" bIns="0" rtlCol="0" anchor="ctr"/>
          <a:lstStyle/>
          <a:p>
            <a:pPr indent="0" marL="0">
              <a:buNone/>
            </a:pPr>
            <a:r>
              <a:rPr lang="en-US" sz="1100" b="1" dirty="0">
                <a:solidFill>
                  <a:srgbClr val="0A7F2E"/>
                </a:solidFill>
                <a:latin typeface="Calibri" pitchFamily="34" charset="0"/>
                <a:ea typeface="Calibri" pitchFamily="34" charset="-122"/>
                <a:cs typeface="Calibri" pitchFamily="34" charset="-120"/>
              </a:rPr>
              <a:t>looks harmless</a:t>
            </a:r>
            <a:endParaRPr lang="en-US" sz="1100" dirty="0"/>
          </a:p>
        </p:txBody>
      </p:sp>
      <p:sp>
        <p:nvSpPr>
          <p:cNvPr id="30" name="Shape 28"/>
          <p:cNvSpPr/>
          <p:nvPr/>
        </p:nvSpPr>
        <p:spPr>
          <a:xfrm>
            <a:off x="548640" y="3977640"/>
            <a:ext cx="5394960" cy="2103120"/>
          </a:xfrm>
          <a:prstGeom prst="roundRect">
            <a:avLst>
              <a:gd name="adj" fmla="val 3478"/>
            </a:avLst>
          </a:prstGeom>
          <a:solidFill>
            <a:srgbClr val="FDE7DD"/>
          </a:solidFill>
          <a:ln w="12700">
            <a:solidFill>
              <a:srgbClr val="FDE7DD"/>
            </a:solidFill>
            <a:prstDash val="solid"/>
          </a:ln>
        </p:spPr>
      </p:sp>
      <p:sp>
        <p:nvSpPr>
          <p:cNvPr id="31" name="Text 29"/>
          <p:cNvSpPr txBox="1"/>
          <p:nvPr/>
        </p:nvSpPr>
        <p:spPr>
          <a:xfrm>
            <a:off x="822960" y="4160520"/>
            <a:ext cx="4846320" cy="365760"/>
          </a:xfrm>
          <a:prstGeom prst="rect">
            <a:avLst/>
          </a:prstGeom>
          <a:noFill/>
          <a:ln/>
        </p:spPr>
        <p:txBody>
          <a:bodyPr wrap="square" lIns="0" tIns="0" rIns="0" bIns="0" rtlCol="0" anchor="ctr"/>
          <a:lstStyle/>
          <a:p>
            <a:pPr indent="0" marL="0">
              <a:buNone/>
            </a:pPr>
            <a:r>
              <a:rPr lang="en-US" sz="1700" b="1" dirty="0">
                <a:solidFill>
                  <a:srgbClr val="EB6834"/>
                </a:solidFill>
                <a:latin typeface="Calibri" pitchFamily="34" charset="0"/>
                <a:ea typeface="Calibri" pitchFamily="34" charset="-122"/>
                <a:cs typeface="Calibri" pitchFamily="34" charset="-120"/>
              </a:rPr>
              <a:t>Models that look at one step at a time</a:t>
            </a:r>
            <a:endParaRPr lang="en-US" sz="1700" dirty="0"/>
          </a:p>
        </p:txBody>
      </p:sp>
      <p:sp>
        <p:nvSpPr>
          <p:cNvPr id="32" name="Text 30"/>
          <p:cNvSpPr txBox="1"/>
          <p:nvPr/>
        </p:nvSpPr>
        <p:spPr>
          <a:xfrm>
            <a:off x="822960" y="4526280"/>
            <a:ext cx="4846320" cy="320040"/>
          </a:xfrm>
          <a:prstGeom prst="rect">
            <a:avLst/>
          </a:prstGeom>
          <a:noFill/>
          <a:ln/>
        </p:spPr>
        <p:txBody>
          <a:bodyPr wrap="square" lIns="0" tIns="0" rIns="0" bIns="0" rtlCol="0" anchor="ctr"/>
          <a:lstStyle/>
          <a:p>
            <a:pPr indent="0" marL="0">
              <a:buNone/>
            </a:pPr>
            <a:r>
              <a:rPr lang="en-US" sz="1300" i="1" dirty="0">
                <a:solidFill>
                  <a:srgbClr val="5B6770"/>
                </a:solidFill>
                <a:latin typeface="Calibri" pitchFamily="34" charset="0"/>
                <a:ea typeface="Calibri" pitchFamily="34" charset="-122"/>
                <a:cs typeface="Calibri" pitchFamily="34" charset="-120"/>
              </a:rPr>
              <a:t>Random Forest, XGBoost, the study's model, even our FT-Transformer</a:t>
            </a:r>
            <a:endParaRPr lang="en-US" sz="1300" dirty="0"/>
          </a:p>
        </p:txBody>
      </p:sp>
      <p:sp>
        <p:nvSpPr>
          <p:cNvPr id="33" name="Text 31"/>
          <p:cNvSpPr txBox="1"/>
          <p:nvPr/>
        </p:nvSpPr>
        <p:spPr>
          <a:xfrm>
            <a:off x="822960" y="4892040"/>
            <a:ext cx="4846320" cy="10972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Like a guard who checks each visitor, then forgets them. Every step looks fine, so every step gets in. Good at catching loud attacks, bad at quiet ones.</a:t>
            </a:r>
            <a:endParaRPr lang="en-US" sz="1400" dirty="0"/>
          </a:p>
        </p:txBody>
      </p:sp>
      <p:sp>
        <p:nvSpPr>
          <p:cNvPr id="34" name="Shape 32"/>
          <p:cNvSpPr/>
          <p:nvPr/>
        </p:nvSpPr>
        <p:spPr>
          <a:xfrm>
            <a:off x="6217920" y="3977640"/>
            <a:ext cx="5394960" cy="2103120"/>
          </a:xfrm>
          <a:prstGeom prst="roundRect">
            <a:avLst>
              <a:gd name="adj" fmla="val 3478"/>
            </a:avLst>
          </a:prstGeom>
          <a:solidFill>
            <a:srgbClr val="EEF3FA"/>
          </a:solidFill>
          <a:ln w="12700">
            <a:solidFill>
              <a:srgbClr val="EEF3FA"/>
            </a:solidFill>
            <a:prstDash val="solid"/>
          </a:ln>
        </p:spPr>
      </p:sp>
      <p:sp>
        <p:nvSpPr>
          <p:cNvPr id="35" name="Text 33"/>
          <p:cNvSpPr txBox="1"/>
          <p:nvPr/>
        </p:nvSpPr>
        <p:spPr>
          <a:xfrm>
            <a:off x="6492240" y="4160520"/>
            <a:ext cx="4846320" cy="365760"/>
          </a:xfrm>
          <a:prstGeom prst="rect">
            <a:avLst/>
          </a:prstGeom>
          <a:noFill/>
          <a:ln/>
        </p:spPr>
        <p:txBody>
          <a:bodyPr wrap="square" lIns="0" tIns="0" rIns="0" bIns="0" rtlCol="0" anchor="ctr"/>
          <a:lstStyle/>
          <a:p>
            <a:pPr indent="0" marL="0">
              <a:buNone/>
            </a:pPr>
            <a:r>
              <a:rPr lang="en-US" sz="1700" b="1" dirty="0">
                <a:solidFill>
                  <a:srgbClr val="0A7F2E"/>
                </a:solidFill>
                <a:latin typeface="Calibri" pitchFamily="34" charset="0"/>
                <a:ea typeface="Calibri" pitchFamily="34" charset="-122"/>
                <a:cs typeface="Calibri" pitchFamily="34" charset="-120"/>
              </a:rPr>
              <a:t>Models that read the whole story</a:t>
            </a:r>
            <a:endParaRPr lang="en-US" sz="1700" dirty="0"/>
          </a:p>
        </p:txBody>
      </p:sp>
      <p:sp>
        <p:nvSpPr>
          <p:cNvPr id="36" name="Text 34"/>
          <p:cNvSpPr txBox="1"/>
          <p:nvPr/>
        </p:nvSpPr>
        <p:spPr>
          <a:xfrm>
            <a:off x="6492240" y="4526280"/>
            <a:ext cx="4846320" cy="320040"/>
          </a:xfrm>
          <a:prstGeom prst="rect">
            <a:avLst/>
          </a:prstGeom>
          <a:noFill/>
          <a:ln/>
        </p:spPr>
        <p:txBody>
          <a:bodyPr wrap="square" lIns="0" tIns="0" rIns="0" bIns="0" rtlCol="0" anchor="ctr"/>
          <a:lstStyle/>
          <a:p>
            <a:pPr indent="0" marL="0">
              <a:buNone/>
            </a:pPr>
            <a:r>
              <a:rPr lang="en-US" sz="1300" i="1" dirty="0">
                <a:solidFill>
                  <a:srgbClr val="5B6770"/>
                </a:solidFill>
                <a:latin typeface="Calibri" pitchFamily="34" charset="0"/>
                <a:ea typeface="Calibri" pitchFamily="34" charset="-122"/>
                <a:cs typeface="Calibri" pitchFamily="34" charset="-120"/>
              </a:rPr>
              <a:t>Sequence models, such as an LSTM</a:t>
            </a:r>
            <a:endParaRPr lang="en-US" sz="1300" dirty="0"/>
          </a:p>
        </p:txBody>
      </p:sp>
      <p:sp>
        <p:nvSpPr>
          <p:cNvPr id="37" name="Text 35"/>
          <p:cNvSpPr txBox="1"/>
          <p:nvPr/>
        </p:nvSpPr>
        <p:spPr>
          <a:xfrm>
            <a:off x="6492240" y="4892040"/>
            <a:ext cx="4846320" cy="11430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Like a guard who keeps a diary of every visitor. Put the steps in order and the plan becomes clear. This needs data that records who did what, and when (for example DAPT2020).</a:t>
            </a:r>
            <a:endParaRPr lang="en-US" sz="1400" dirty="0"/>
          </a:p>
        </p:txBody>
      </p:sp>
      <p:sp>
        <p:nvSpPr>
          <p:cNvPr id="38" name="Text 36"/>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000" b="1" dirty="0">
                <a:solidFill>
                  <a:srgbClr val="16213E"/>
                </a:solidFill>
                <a:latin typeface="Calibri" pitchFamily="34" charset="0"/>
                <a:ea typeface="Calibri" pitchFamily="34" charset="-122"/>
                <a:cs typeface="Calibri" pitchFamily="34" charset="-120"/>
              </a:rPr>
              <a:t>The study we checked</a:t>
            </a:r>
            <a:endParaRPr lang="en-US" sz="3000" dirty="0"/>
          </a:p>
        </p:txBody>
      </p:sp>
      <p:sp>
        <p:nvSpPr>
          <p:cNvPr id="3" name="Text 1"/>
          <p:cNvSpPr txBox="1"/>
          <p:nvPr/>
        </p:nvSpPr>
        <p:spPr>
          <a:xfrm>
            <a:off x="548640" y="960120"/>
            <a:ext cx="11091672" cy="365760"/>
          </a:xfrm>
          <a:prstGeom prst="rect">
            <a:avLst/>
          </a:prstGeom>
          <a:noFill/>
          <a:ln/>
        </p:spPr>
        <p:txBody>
          <a:bodyPr wrap="square" lIns="0" tIns="0" rIns="0" bIns="0" rtlCol="0" anchor="ctr"/>
          <a:lstStyle/>
          <a:p>
            <a:pPr indent="0" marL="0">
              <a:buNone/>
            </a:pPr>
            <a:r>
              <a:rPr lang="en-US" sz="1500" dirty="0">
                <a:solidFill>
                  <a:srgbClr val="5B6770"/>
                </a:solidFill>
                <a:latin typeface="Calibri" pitchFamily="34" charset="0"/>
                <a:ea typeface="Calibri" pitchFamily="34" charset="-122"/>
                <a:cs typeface="Calibri" pitchFamily="34" charset="-120"/>
              </a:rPr>
              <a:t>Saini, Bhat Kasaragod, Prakasha &amp; Das (2023), Concurrency and Computation: Practice and Experience</a:t>
            </a:r>
            <a:endParaRPr lang="en-US" sz="1500" dirty="0"/>
          </a:p>
        </p:txBody>
      </p:sp>
      <p:sp>
        <p:nvSpPr>
          <p:cNvPr id="4" name="Shape 2"/>
          <p:cNvSpPr/>
          <p:nvPr/>
        </p:nvSpPr>
        <p:spPr>
          <a:xfrm>
            <a:off x="548640" y="1920240"/>
            <a:ext cx="2103120" cy="731520"/>
          </a:xfrm>
          <a:prstGeom prst="roundRect">
            <a:avLst>
              <a:gd name="adj" fmla="val 7500"/>
            </a:avLst>
          </a:prstGeom>
          <a:solidFill>
            <a:srgbClr val="EEF3FA"/>
          </a:solidFill>
          <a:ln w="9525">
            <a:solidFill>
              <a:srgbClr val="C9D3DF"/>
            </a:solidFill>
            <a:prstDash val="solid"/>
          </a:ln>
        </p:spPr>
      </p:sp>
      <p:sp>
        <p:nvSpPr>
          <p:cNvPr id="5" name="Text 3"/>
          <p:cNvSpPr txBox="1"/>
          <p:nvPr/>
        </p:nvSpPr>
        <p:spPr>
          <a:xfrm>
            <a:off x="548640" y="1920240"/>
            <a:ext cx="2103120" cy="731520"/>
          </a:xfrm>
          <a:prstGeom prst="rect">
            <a:avLst/>
          </a:prstGeom>
          <a:noFill/>
          <a:ln/>
        </p:spPr>
        <p:txBody>
          <a:bodyPr wrap="square" lIns="38100" tIns="38100" rIns="38100" bIns="3810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Random Forest</a:t>
            </a:r>
            <a:endParaRPr lang="en-US" sz="1300" dirty="0"/>
          </a:p>
        </p:txBody>
      </p:sp>
      <p:sp>
        <p:nvSpPr>
          <p:cNvPr id="6" name="Shape 4"/>
          <p:cNvSpPr/>
          <p:nvPr/>
        </p:nvSpPr>
        <p:spPr>
          <a:xfrm>
            <a:off x="548640" y="3108960"/>
            <a:ext cx="2103120" cy="731520"/>
          </a:xfrm>
          <a:prstGeom prst="roundRect">
            <a:avLst>
              <a:gd name="adj" fmla="val 7500"/>
            </a:avLst>
          </a:prstGeom>
          <a:solidFill>
            <a:srgbClr val="EEF3FA"/>
          </a:solidFill>
          <a:ln w="9525">
            <a:solidFill>
              <a:srgbClr val="C9D3DF"/>
            </a:solidFill>
            <a:prstDash val="solid"/>
          </a:ln>
        </p:spPr>
      </p:sp>
      <p:sp>
        <p:nvSpPr>
          <p:cNvPr id="7" name="Text 5"/>
          <p:cNvSpPr txBox="1"/>
          <p:nvPr/>
        </p:nvSpPr>
        <p:spPr>
          <a:xfrm>
            <a:off x="548640" y="3108960"/>
            <a:ext cx="2103120" cy="731520"/>
          </a:xfrm>
          <a:prstGeom prst="rect">
            <a:avLst/>
          </a:prstGeom>
          <a:noFill/>
          <a:ln/>
        </p:spPr>
        <p:txBody>
          <a:bodyPr wrap="square" lIns="38100" tIns="38100" rIns="38100" bIns="3810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XGBoost</a:t>
            </a:r>
            <a:endParaRPr lang="en-US" sz="1300" dirty="0"/>
          </a:p>
        </p:txBody>
      </p:sp>
      <p:sp>
        <p:nvSpPr>
          <p:cNvPr id="8" name="Shape 6"/>
          <p:cNvSpPr/>
          <p:nvPr/>
        </p:nvSpPr>
        <p:spPr>
          <a:xfrm>
            <a:off x="3291840" y="2514600"/>
            <a:ext cx="2011680" cy="731520"/>
          </a:xfrm>
          <a:prstGeom prst="roundRect">
            <a:avLst>
              <a:gd name="adj" fmla="val 7500"/>
            </a:avLst>
          </a:prstGeom>
          <a:solidFill>
            <a:srgbClr val="FDE7DD"/>
          </a:solidFill>
          <a:ln w="9525">
            <a:solidFill>
              <a:srgbClr val="C9D3DF"/>
            </a:solidFill>
            <a:prstDash val="solid"/>
          </a:ln>
        </p:spPr>
      </p:sp>
      <p:sp>
        <p:nvSpPr>
          <p:cNvPr id="9" name="Text 7"/>
          <p:cNvSpPr txBox="1"/>
          <p:nvPr/>
        </p:nvSpPr>
        <p:spPr>
          <a:xfrm>
            <a:off x="3291840" y="2514600"/>
            <a:ext cx="2011680" cy="731520"/>
          </a:xfrm>
          <a:prstGeom prst="rect">
            <a:avLst/>
          </a:prstGeom>
          <a:noFill/>
          <a:ln/>
        </p:spPr>
        <p:txBody>
          <a:bodyPr wrap="square" lIns="38100" tIns="38100" rIns="38100" bIns="3810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Take the</a:t>
            </a:r>
            <a:endParaRPr lang="en-US" sz="1300" dirty="0"/>
          </a:p>
          <a:p>
            <a:pPr algn="ctr" indent="0" marL="0">
              <a:buNone/>
            </a:pPr>
            <a:r>
              <a:rPr lang="en-US" sz="1300" dirty="0">
                <a:solidFill>
                  <a:srgbClr val="1F2933"/>
                </a:solidFill>
                <a:latin typeface="Calibri" pitchFamily="34" charset="0"/>
                <a:ea typeface="Calibri" pitchFamily="34" charset="-122"/>
                <a:cs typeface="Calibri" pitchFamily="34" charset="-120"/>
              </a:rPr>
              <a:t>average</a:t>
            </a:r>
            <a:endParaRPr lang="en-US" sz="1300" dirty="0"/>
          </a:p>
        </p:txBody>
      </p:sp>
      <p:sp>
        <p:nvSpPr>
          <p:cNvPr id="10" name="Shape 8"/>
          <p:cNvSpPr/>
          <p:nvPr/>
        </p:nvSpPr>
        <p:spPr>
          <a:xfrm>
            <a:off x="5760720" y="2514600"/>
            <a:ext cx="1371600" cy="731520"/>
          </a:xfrm>
          <a:prstGeom prst="roundRect">
            <a:avLst>
              <a:gd name="adj" fmla="val 7500"/>
            </a:avLst>
          </a:prstGeom>
          <a:solidFill>
            <a:srgbClr val="EEF3FA"/>
          </a:solidFill>
          <a:ln w="9525">
            <a:solidFill>
              <a:srgbClr val="C9D3DF"/>
            </a:solidFill>
            <a:prstDash val="solid"/>
          </a:ln>
        </p:spPr>
      </p:sp>
      <p:sp>
        <p:nvSpPr>
          <p:cNvPr id="11" name="Text 9"/>
          <p:cNvSpPr txBox="1"/>
          <p:nvPr/>
        </p:nvSpPr>
        <p:spPr>
          <a:xfrm>
            <a:off x="5760720" y="2514600"/>
            <a:ext cx="1371600" cy="731520"/>
          </a:xfrm>
          <a:prstGeom prst="rect">
            <a:avLst/>
          </a:prstGeom>
          <a:noFill/>
          <a:ln/>
        </p:spPr>
        <p:txBody>
          <a:bodyPr wrap="square" lIns="38100" tIns="38100" rIns="38100" bIns="3810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Normal or</a:t>
            </a:r>
            <a:endParaRPr lang="en-US" sz="1300" dirty="0"/>
          </a:p>
          <a:p>
            <a:pPr algn="ctr" indent="0" marL="0">
              <a:buNone/>
            </a:pPr>
            <a:r>
              <a:rPr lang="en-US" sz="1300" dirty="0">
                <a:solidFill>
                  <a:srgbClr val="1F2933"/>
                </a:solidFill>
                <a:latin typeface="Calibri" pitchFamily="34" charset="0"/>
                <a:ea typeface="Calibri" pitchFamily="34" charset="-122"/>
                <a:cs typeface="Calibri" pitchFamily="34" charset="-120"/>
              </a:rPr>
              <a:t>attack?</a:t>
            </a:r>
            <a:endParaRPr lang="en-US" sz="1300" dirty="0"/>
          </a:p>
        </p:txBody>
      </p:sp>
      <p:sp>
        <p:nvSpPr>
          <p:cNvPr id="12" name="Shape 10"/>
          <p:cNvSpPr/>
          <p:nvPr/>
        </p:nvSpPr>
        <p:spPr>
          <a:xfrm>
            <a:off x="2651760" y="2286000"/>
            <a:ext cx="640080" cy="502920"/>
          </a:xfrm>
          <a:prstGeom prst="line">
            <a:avLst/>
          </a:prstGeom>
          <a:noFill/>
          <a:ln w="19050">
            <a:solidFill>
              <a:srgbClr val="7A8793"/>
            </a:solidFill>
            <a:prstDash val="solid"/>
            <a:tailEnd type="triangle"/>
          </a:ln>
        </p:spPr>
      </p:sp>
      <p:sp>
        <p:nvSpPr>
          <p:cNvPr id="13" name="Shape 11"/>
          <p:cNvSpPr/>
          <p:nvPr/>
        </p:nvSpPr>
        <p:spPr>
          <a:xfrm flipV="1">
            <a:off x="2651760" y="2971800"/>
            <a:ext cx="640080" cy="502920"/>
          </a:xfrm>
          <a:prstGeom prst="line">
            <a:avLst/>
          </a:prstGeom>
          <a:noFill/>
          <a:ln w="19050">
            <a:solidFill>
              <a:srgbClr val="7A8793"/>
            </a:solidFill>
            <a:prstDash val="solid"/>
            <a:tailEnd type="triangle"/>
          </a:ln>
        </p:spPr>
      </p:sp>
      <p:sp>
        <p:nvSpPr>
          <p:cNvPr id="14" name="Shape 12"/>
          <p:cNvSpPr/>
          <p:nvPr/>
        </p:nvSpPr>
        <p:spPr>
          <a:xfrm>
            <a:off x="5303520" y="2880360"/>
            <a:ext cx="457200" cy="914"/>
          </a:xfrm>
          <a:prstGeom prst="line">
            <a:avLst/>
          </a:prstGeom>
          <a:noFill/>
          <a:ln w="19050">
            <a:solidFill>
              <a:srgbClr val="7A8793"/>
            </a:solidFill>
            <a:prstDash val="solid"/>
            <a:tailEnd type="triangle"/>
          </a:ln>
        </p:spPr>
      </p:sp>
      <p:sp>
        <p:nvSpPr>
          <p:cNvPr id="15" name="Text 13"/>
          <p:cNvSpPr txBox="1"/>
          <p:nvPr/>
        </p:nvSpPr>
        <p:spPr>
          <a:xfrm>
            <a:off x="548640" y="4297680"/>
            <a:ext cx="6583680" cy="18288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Two popular models each give an answer, and the study averages them</a:t>
            </a:r>
            <a:endParaRPr lang="en-US" sz="1600" dirty="0"/>
          </a:p>
          <a:p>
            <a:pPr marL="228600" indent="-2286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Every kind of attack is put into one group: "attack"</a:t>
            </a:r>
            <a:endParaRPr lang="en-US" sz="1600" dirty="0"/>
          </a:p>
          <a:p>
            <a:pPr marL="228600" indent="-2286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They say it beat 13 other models on every dataset</a:t>
            </a:r>
            <a:endParaRPr lang="en-US" sz="1600" dirty="0"/>
          </a:p>
        </p:txBody>
      </p:sp>
      <p:sp>
        <p:nvSpPr>
          <p:cNvPr id="16" name="Text 14"/>
          <p:cNvSpPr txBox="1"/>
          <p:nvPr/>
        </p:nvSpPr>
        <p:spPr>
          <a:xfrm>
            <a:off x="7772400" y="1737360"/>
            <a:ext cx="3840480" cy="365760"/>
          </a:xfrm>
          <a:prstGeom prst="rect">
            <a:avLst/>
          </a:prstGeom>
          <a:noFill/>
          <a:ln/>
        </p:spPr>
        <p:txBody>
          <a:bodyPr wrap="square" lIns="0" tIns="0" rIns="0" bIns="0" rtlCol="0" anchor="ctr"/>
          <a:lstStyle/>
          <a:p>
            <a:pPr indent="0" marL="0">
              <a:buNone/>
            </a:pPr>
            <a:r>
              <a:rPr lang="en-US" sz="1600" b="1" dirty="0">
                <a:solidFill>
                  <a:srgbClr val="16213E"/>
                </a:solidFill>
                <a:latin typeface="Calibri" pitchFamily="34" charset="0"/>
                <a:ea typeface="Calibri" pitchFamily="34" charset="-122"/>
                <a:cs typeface="Calibri" pitchFamily="34" charset="-120"/>
              </a:rPr>
              <a:t>Accuracy they reported</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0" y="2194560"/>
          <a:ext cx="3840480" cy="914400"/>
        </p:xfrm>
        <a:graphic>
          <a:graphicData uri="http://schemas.openxmlformats.org/drawingml/2006/table">
            <a:tbl>
              <a:tblPr/>
              <a:tblGrid>
                <a:gridCol w="2560320"/>
                <a:gridCol w="1280160"/>
              </a:tblGrid>
              <a:tr h="384048">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Dataset</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A"/>
                    </a:solidFill>
                  </a:tcPr>
                </a:tc>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Accuracy</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A"/>
                    </a:solidFill>
                  </a:tcPr>
                </a:tc>
              </a:tr>
              <a:tr h="384048">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CSE-CIC-IDS2018</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98.92%</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CIC-IDS2017</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99.91%</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NSL-KDD</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99.24%</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UNSW-NB15</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97.11%</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bl>
          </a:graphicData>
        </a:graphic>
      </p:graphicFrame>
      <p:sp>
        <p:nvSpPr>
          <p:cNvPr id="18" name="Text 15"/>
          <p:cNvSpPr txBox="1"/>
          <p:nvPr/>
        </p:nvSpPr>
        <p:spPr>
          <a:xfrm>
            <a:off x="7772400" y="4297680"/>
            <a:ext cx="3840480" cy="365760"/>
          </a:xfrm>
          <a:prstGeom prst="rect">
            <a:avLst/>
          </a:prstGeom>
          <a:noFill/>
          <a:ln/>
        </p:spPr>
        <p:txBody>
          <a:bodyPr wrap="square" lIns="0" tIns="0" rIns="0" bIns="0" rtlCol="0" anchor="ctr"/>
          <a:lstStyle/>
          <a:p>
            <a:pPr indent="0" marL="0">
              <a:buNone/>
            </a:pPr>
            <a:r>
              <a:rPr lang="en-US" sz="1400" i="1" dirty="0">
                <a:solidFill>
                  <a:srgbClr val="5B6770"/>
                </a:solidFill>
                <a:latin typeface="Calibri" pitchFamily="34" charset="0"/>
                <a:ea typeface="Calibri" pitchFamily="34" charset="-122"/>
                <a:cs typeface="Calibri" pitchFamily="34" charset="-120"/>
              </a:rPr>
              <a:t>Accuracy = how often the answer is right</a:t>
            </a:r>
            <a:endParaRPr lang="en-US" sz="1400" dirty="0"/>
          </a:p>
        </p:txBody>
      </p:sp>
      <p:sp>
        <p:nvSpPr>
          <p:cNvPr id="19" name="Text 16"/>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000" b="1" dirty="0">
                <a:solidFill>
                  <a:srgbClr val="16213E"/>
                </a:solidFill>
                <a:latin typeface="Calibri" pitchFamily="34" charset="0"/>
                <a:ea typeface="Calibri" pitchFamily="34" charset="-122"/>
                <a:cs typeface="Calibri" pitchFamily="34" charset="-120"/>
              </a:rPr>
              <a:t>What we wanted to do</a:t>
            </a:r>
            <a:endParaRPr lang="en-US" sz="3000" dirty="0"/>
          </a:p>
        </p:txBody>
      </p:sp>
      <p:sp>
        <p:nvSpPr>
          <p:cNvPr id="3" name="Shape 1"/>
          <p:cNvSpPr/>
          <p:nvPr/>
        </p:nvSpPr>
        <p:spPr>
          <a:xfrm>
            <a:off x="548640" y="1554480"/>
            <a:ext cx="3474720" cy="3291840"/>
          </a:xfrm>
          <a:prstGeom prst="roundRect">
            <a:avLst>
              <a:gd name="adj" fmla="val 2222"/>
            </a:avLst>
          </a:prstGeom>
          <a:solidFill>
            <a:srgbClr val="EEF3FA"/>
          </a:solidFill>
          <a:ln w="12700">
            <a:solidFill>
              <a:srgbClr val="EEF3FA"/>
            </a:solidFill>
            <a:prstDash val="solid"/>
          </a:ln>
        </p:spPr>
      </p:sp>
      <p:sp>
        <p:nvSpPr>
          <p:cNvPr id="4" name="Shape 2"/>
          <p:cNvSpPr/>
          <p:nvPr/>
        </p:nvSpPr>
        <p:spPr>
          <a:xfrm>
            <a:off x="822960" y="1783080"/>
            <a:ext cx="457200" cy="457200"/>
          </a:xfrm>
          <a:prstGeom prst="ellipse">
            <a:avLst/>
          </a:prstGeom>
          <a:solidFill>
            <a:srgbClr val="16213E"/>
          </a:solidFill>
          <a:ln w="12700">
            <a:solidFill>
              <a:srgbClr val="16213E"/>
            </a:solidFill>
            <a:prstDash val="solid"/>
          </a:ln>
        </p:spPr>
      </p:sp>
      <p:sp>
        <p:nvSpPr>
          <p:cNvPr id="5" name="Text 3"/>
          <p:cNvSpPr txBox="1"/>
          <p:nvPr/>
        </p:nvSpPr>
        <p:spPr>
          <a:xfrm>
            <a:off x="822960" y="1783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822960" y="2423160"/>
            <a:ext cx="2926080" cy="457200"/>
          </a:xfrm>
          <a:prstGeom prst="rect">
            <a:avLst/>
          </a:prstGeom>
          <a:noFill/>
          <a:ln/>
        </p:spPr>
        <p:txBody>
          <a:bodyPr wrap="square" lIns="0" tIns="0" rIns="0" bIns="0" rtlCol="0" anchor="ctr"/>
          <a:lstStyle/>
          <a:p>
            <a:pPr indent="0" marL="0">
              <a:buNone/>
            </a:pPr>
            <a:r>
              <a:rPr lang="en-US" sz="2200" b="1" dirty="0">
                <a:solidFill>
                  <a:srgbClr val="16213E"/>
                </a:solidFill>
                <a:latin typeface="Calibri" pitchFamily="34" charset="0"/>
                <a:ea typeface="Calibri" pitchFamily="34" charset="-122"/>
                <a:cs typeface="Calibri" pitchFamily="34" charset="-120"/>
              </a:rPr>
              <a:t>Re-do</a:t>
            </a:r>
            <a:endParaRPr lang="en-US" sz="2200" dirty="0"/>
          </a:p>
        </p:txBody>
      </p:sp>
      <p:sp>
        <p:nvSpPr>
          <p:cNvPr id="7" name="Text 5"/>
          <p:cNvSpPr txBox="1"/>
          <p:nvPr/>
        </p:nvSpPr>
        <p:spPr>
          <a:xfrm>
            <a:off x="822960" y="2926080"/>
            <a:ext cx="2926080" cy="173736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Follow their steps on the same four datasets, and see if we get the same numbers</a:t>
            </a:r>
            <a:endParaRPr lang="en-US" sz="1600" dirty="0"/>
          </a:p>
        </p:txBody>
      </p:sp>
      <p:sp>
        <p:nvSpPr>
          <p:cNvPr id="8" name="Shape 6"/>
          <p:cNvSpPr/>
          <p:nvPr/>
        </p:nvSpPr>
        <p:spPr>
          <a:xfrm>
            <a:off x="4297680" y="1554480"/>
            <a:ext cx="3474720" cy="3291840"/>
          </a:xfrm>
          <a:prstGeom prst="roundRect">
            <a:avLst>
              <a:gd name="adj" fmla="val 2222"/>
            </a:avLst>
          </a:prstGeom>
          <a:solidFill>
            <a:srgbClr val="EEF3FA"/>
          </a:solidFill>
          <a:ln w="12700">
            <a:solidFill>
              <a:srgbClr val="EEF3FA"/>
            </a:solidFill>
            <a:prstDash val="solid"/>
          </a:ln>
        </p:spPr>
      </p:sp>
      <p:sp>
        <p:nvSpPr>
          <p:cNvPr id="9" name="Shape 7"/>
          <p:cNvSpPr/>
          <p:nvPr/>
        </p:nvSpPr>
        <p:spPr>
          <a:xfrm>
            <a:off x="4572000" y="1783080"/>
            <a:ext cx="457200" cy="457200"/>
          </a:xfrm>
          <a:prstGeom prst="ellipse">
            <a:avLst/>
          </a:prstGeom>
          <a:solidFill>
            <a:srgbClr val="16213E"/>
          </a:solidFill>
          <a:ln w="12700">
            <a:solidFill>
              <a:srgbClr val="16213E"/>
            </a:solidFill>
            <a:prstDash val="solid"/>
          </a:ln>
        </p:spPr>
      </p:sp>
      <p:sp>
        <p:nvSpPr>
          <p:cNvPr id="10" name="Text 8"/>
          <p:cNvSpPr txBox="1"/>
          <p:nvPr/>
        </p:nvSpPr>
        <p:spPr>
          <a:xfrm>
            <a:off x="4572000" y="1783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4572000" y="2423160"/>
            <a:ext cx="2926080" cy="457200"/>
          </a:xfrm>
          <a:prstGeom prst="rect">
            <a:avLst/>
          </a:prstGeom>
          <a:noFill/>
          <a:ln/>
        </p:spPr>
        <p:txBody>
          <a:bodyPr wrap="square" lIns="0" tIns="0" rIns="0" bIns="0" rtlCol="0" anchor="ctr"/>
          <a:lstStyle/>
          <a:p>
            <a:pPr indent="0" marL="0">
              <a:buNone/>
            </a:pPr>
            <a:r>
              <a:rPr lang="en-US" sz="2200" b="1" dirty="0">
                <a:solidFill>
                  <a:srgbClr val="16213E"/>
                </a:solidFill>
                <a:latin typeface="Calibri" pitchFamily="34" charset="0"/>
                <a:ea typeface="Calibri" pitchFamily="34" charset="-122"/>
                <a:cs typeface="Calibri" pitchFamily="34" charset="-120"/>
              </a:rPr>
              <a:t>Try new ideas</a:t>
            </a:r>
            <a:endParaRPr lang="en-US" sz="2200" dirty="0"/>
          </a:p>
        </p:txBody>
      </p:sp>
      <p:sp>
        <p:nvSpPr>
          <p:cNvPr id="12" name="Text 10"/>
          <p:cNvSpPr txBox="1"/>
          <p:nvPr/>
        </p:nvSpPr>
        <p:spPr>
          <a:xfrm>
            <a:off x="4572000" y="2926080"/>
            <a:ext cx="2926080" cy="173736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Test two new models, including one the authors said they would try next</a:t>
            </a:r>
            <a:endParaRPr lang="en-US" sz="1600" dirty="0"/>
          </a:p>
        </p:txBody>
      </p:sp>
      <p:sp>
        <p:nvSpPr>
          <p:cNvPr id="13" name="Shape 11"/>
          <p:cNvSpPr/>
          <p:nvPr/>
        </p:nvSpPr>
        <p:spPr>
          <a:xfrm>
            <a:off x="8046720" y="1554480"/>
            <a:ext cx="3474720" cy="3291840"/>
          </a:xfrm>
          <a:prstGeom prst="roundRect">
            <a:avLst>
              <a:gd name="adj" fmla="val 2222"/>
            </a:avLst>
          </a:prstGeom>
          <a:solidFill>
            <a:srgbClr val="EEF3FA"/>
          </a:solidFill>
          <a:ln w="12700">
            <a:solidFill>
              <a:srgbClr val="EEF3FA"/>
            </a:solidFill>
            <a:prstDash val="solid"/>
          </a:ln>
        </p:spPr>
      </p:sp>
      <p:sp>
        <p:nvSpPr>
          <p:cNvPr id="14" name="Shape 12"/>
          <p:cNvSpPr/>
          <p:nvPr/>
        </p:nvSpPr>
        <p:spPr>
          <a:xfrm>
            <a:off x="8321040" y="1783080"/>
            <a:ext cx="457200" cy="457200"/>
          </a:xfrm>
          <a:prstGeom prst="ellipse">
            <a:avLst/>
          </a:prstGeom>
          <a:solidFill>
            <a:srgbClr val="EB6834"/>
          </a:solidFill>
          <a:ln w="12700">
            <a:solidFill>
              <a:srgbClr val="EB6834"/>
            </a:solidFill>
            <a:prstDash val="solid"/>
          </a:ln>
        </p:spPr>
      </p:sp>
      <p:sp>
        <p:nvSpPr>
          <p:cNvPr id="15" name="Text 13"/>
          <p:cNvSpPr txBox="1"/>
          <p:nvPr/>
        </p:nvSpPr>
        <p:spPr>
          <a:xfrm>
            <a:off x="8321040" y="1783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8321040" y="2423160"/>
            <a:ext cx="2926080" cy="457200"/>
          </a:xfrm>
          <a:prstGeom prst="rect">
            <a:avLst/>
          </a:prstGeom>
          <a:noFill/>
          <a:ln/>
        </p:spPr>
        <p:txBody>
          <a:bodyPr wrap="square" lIns="0" tIns="0" rIns="0" bIns="0" rtlCol="0" anchor="ctr"/>
          <a:lstStyle/>
          <a:p>
            <a:pPr indent="0" marL="0">
              <a:buNone/>
            </a:pPr>
            <a:r>
              <a:rPr lang="en-US" sz="2200" b="1" dirty="0">
                <a:solidFill>
                  <a:srgbClr val="16213E"/>
                </a:solidFill>
                <a:latin typeface="Calibri" pitchFamily="34" charset="0"/>
                <a:ea typeface="Calibri" pitchFamily="34" charset="-122"/>
                <a:cs typeface="Calibri" pitchFamily="34" charset="-120"/>
              </a:rPr>
              <a:t>Check</a:t>
            </a:r>
            <a:endParaRPr lang="en-US" sz="2200" dirty="0"/>
          </a:p>
        </p:txBody>
      </p:sp>
      <p:sp>
        <p:nvSpPr>
          <p:cNvPr id="17" name="Text 15"/>
          <p:cNvSpPr txBox="1"/>
          <p:nvPr/>
        </p:nvSpPr>
        <p:spPr>
          <a:xfrm>
            <a:off x="8321040" y="2926080"/>
            <a:ext cx="2926080" cy="173736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Look closely: are the 99% scores real, or is something making them look better?</a:t>
            </a:r>
            <a:endParaRPr lang="en-US" sz="1600" dirty="0"/>
          </a:p>
        </p:txBody>
      </p:sp>
      <p:sp>
        <p:nvSpPr>
          <p:cNvPr id="18" name="Text 16"/>
          <p:cNvSpPr txBox="1"/>
          <p:nvPr/>
        </p:nvSpPr>
        <p:spPr>
          <a:xfrm>
            <a:off x="548640" y="5303520"/>
            <a:ext cx="11091672" cy="457200"/>
          </a:xfrm>
          <a:prstGeom prst="rect">
            <a:avLst/>
          </a:prstGeom>
          <a:noFill/>
          <a:ln/>
        </p:spPr>
        <p:txBody>
          <a:bodyPr wrap="square" lIns="0" tIns="0" rIns="0" bIns="0" rtlCol="0" anchor="ctr"/>
          <a:lstStyle/>
          <a:p>
            <a:pPr indent="0" marL="0">
              <a:buNone/>
            </a:pPr>
            <a:r>
              <a:rPr lang="en-US" sz="1500" dirty="0">
                <a:solidFill>
                  <a:srgbClr val="5B6770"/>
                </a:solidFill>
                <a:latin typeface="Calibri" pitchFamily="34" charset="0"/>
                <a:ea typeface="Calibri" pitchFamily="34" charset="-122"/>
                <a:cs typeface="Calibri" pitchFamily="34" charset="-120"/>
              </a:rPr>
              <a:t>All our code is public:  github.com/Sahoo-Achyutananda/RIS-M26</a:t>
            </a:r>
            <a:endParaRPr lang="en-US" sz="1500" dirty="0"/>
          </a:p>
        </p:txBody>
      </p:sp>
      <p:sp>
        <p:nvSpPr>
          <p:cNvPr id="19" name="Text 17"/>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000" b="1" dirty="0">
                <a:solidFill>
                  <a:srgbClr val="16213E"/>
                </a:solidFill>
                <a:latin typeface="Calibri" pitchFamily="34" charset="0"/>
                <a:ea typeface="Calibri" pitchFamily="34" charset="-122"/>
                <a:cs typeface="Calibri" pitchFamily="34" charset="-120"/>
              </a:rPr>
              <a:t>Four datasets</a:t>
            </a:r>
            <a:endParaRPr lang="en-US" sz="3000" dirty="0"/>
          </a:p>
        </p:txBody>
      </p:sp>
      <p:sp>
        <p:nvSpPr>
          <p:cNvPr id="3" name="Text 1"/>
          <p:cNvSpPr txBox="1"/>
          <p:nvPr/>
        </p:nvSpPr>
        <p:spPr>
          <a:xfrm>
            <a:off x="548640" y="960120"/>
            <a:ext cx="11091672" cy="365760"/>
          </a:xfrm>
          <a:prstGeom prst="rect">
            <a:avLst/>
          </a:prstGeom>
          <a:noFill/>
          <a:ln/>
        </p:spPr>
        <p:txBody>
          <a:bodyPr wrap="square" lIns="0" tIns="0" rIns="0" bIns="0" rtlCol="0" anchor="ctr"/>
          <a:lstStyle/>
          <a:p>
            <a:pPr indent="0" marL="0">
              <a:buNone/>
            </a:pPr>
            <a:r>
              <a:rPr lang="en-US" sz="1500" dirty="0">
                <a:solidFill>
                  <a:srgbClr val="5B6770"/>
                </a:solidFill>
                <a:latin typeface="Calibri" pitchFamily="34" charset="0"/>
                <a:ea typeface="Calibri" pitchFamily="34" charset="-122"/>
                <a:cs typeface="Calibri" pitchFamily="34" charset="-120"/>
              </a:rPr>
              <a:t>Each row is one network connection, labelled "normal" or "attack"</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766560" cy="914400"/>
        </p:xfrm>
        <a:graphic>
          <a:graphicData uri="http://schemas.openxmlformats.org/drawingml/2006/table">
            <a:tbl>
              <a:tblPr/>
              <a:tblGrid>
                <a:gridCol w="2011680"/>
                <a:gridCol w="1280160"/>
                <a:gridCol w="1005840"/>
                <a:gridCol w="1280160"/>
                <a:gridCol w="1188720"/>
              </a:tblGrid>
              <a:tr h="384048">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Dataset</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A"/>
                    </a:solidFill>
                  </a:tcPr>
                </a:tc>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Rows</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A"/>
                    </a:solidFill>
                  </a:tcPr>
                </a:tc>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Attacks</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A"/>
                    </a:solidFill>
                  </a:tcPr>
                </a:tc>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Rows we used</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A"/>
                    </a:solidFill>
                  </a:tcPr>
                </a:tc>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Shrunk?</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A"/>
                    </a:solidFill>
                  </a:tcPr>
                </a:tc>
              </a:tr>
              <a:tr h="384048">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NSL-KDD</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148,517</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48%</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147,888</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UNSW-NB15</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257,673</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64%</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154,098</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CIC-IDS2017</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2.83 million</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49,235</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kept 2%</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CSE-CIC-IDS2018</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16.2 million</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17%</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30,838</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kept 0.2%</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bl>
          </a:graphicData>
        </a:graphic>
      </p:graphicFrame>
      <p:sp>
        <p:nvSpPr>
          <p:cNvPr id="5" name="Shape 2"/>
          <p:cNvSpPr/>
          <p:nvPr/>
        </p:nvSpPr>
        <p:spPr>
          <a:xfrm>
            <a:off x="7680960" y="1463040"/>
            <a:ext cx="3931920" cy="3200400"/>
          </a:xfrm>
          <a:prstGeom prst="roundRect">
            <a:avLst>
              <a:gd name="adj" fmla="val 2286"/>
            </a:avLst>
          </a:prstGeom>
          <a:solidFill>
            <a:srgbClr val="EEF3FA"/>
          </a:solidFill>
          <a:ln w="12700">
            <a:solidFill>
              <a:srgbClr val="EEF3FA"/>
            </a:solidFill>
            <a:prstDash val="solid"/>
          </a:ln>
        </p:spPr>
      </p:sp>
      <p:sp>
        <p:nvSpPr>
          <p:cNvPr id="6" name="Text 3"/>
          <p:cNvSpPr txBox="1"/>
          <p:nvPr/>
        </p:nvSpPr>
        <p:spPr>
          <a:xfrm>
            <a:off x="7955280" y="1645920"/>
            <a:ext cx="3474720" cy="411480"/>
          </a:xfrm>
          <a:prstGeom prst="rect">
            <a:avLst/>
          </a:prstGeom>
          <a:noFill/>
          <a:ln/>
        </p:spPr>
        <p:txBody>
          <a:bodyPr wrap="square" lIns="0" tIns="0" rIns="0" bIns="0" rtlCol="0" anchor="ctr"/>
          <a:lstStyle/>
          <a:p>
            <a:pPr indent="0" marL="0">
              <a:buNone/>
            </a:pPr>
            <a:r>
              <a:rPr lang="en-US" sz="1800" b="1" dirty="0">
                <a:solidFill>
                  <a:srgbClr val="16213E"/>
                </a:solidFill>
                <a:latin typeface="Calibri" pitchFamily="34" charset="0"/>
                <a:ea typeface="Calibri" pitchFamily="34" charset="-122"/>
                <a:cs typeface="Calibri" pitchFamily="34" charset="-120"/>
              </a:rPr>
              <a:t>Surprises in the raw files</a:t>
            </a:r>
            <a:endParaRPr lang="en-US" sz="1800" dirty="0"/>
          </a:p>
        </p:txBody>
      </p:sp>
      <p:sp>
        <p:nvSpPr>
          <p:cNvPr id="7" name="Text 4"/>
          <p:cNvSpPr txBox="1"/>
          <p:nvPr/>
        </p:nvSpPr>
        <p:spPr>
          <a:xfrm>
            <a:off x="7955280" y="2194560"/>
            <a:ext cx="3474720" cy="237744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Title words mixed into the data</a:t>
            </a:r>
            <a:endParaRPr lang="en-US" sz="1500" dirty="0"/>
          </a:p>
          <a:p>
            <a:pPr marL="228600" indent="-2286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The word "Infinity" where numbers should be</a:t>
            </a:r>
            <a:endParaRPr lang="en-US" sz="1500" dirty="0"/>
          </a:p>
          <a:p>
            <a:pPr marL="228600" indent="-2286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40% of one dataset was copies</a:t>
            </a:r>
            <a:endParaRPr lang="en-US" sz="1500" dirty="0"/>
          </a:p>
          <a:p>
            <a:pPr marL="228600" indent="-2286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The answer hidden in the inputs</a:t>
            </a:r>
            <a:endParaRPr lang="en-US" sz="1500" dirty="0"/>
          </a:p>
          <a:p>
            <a:pPr marL="228600" indent="-2286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One file was 3.9 GB, with extra columns</a:t>
            </a:r>
            <a:endParaRPr lang="en-US" sz="1500" dirty="0"/>
          </a:p>
        </p:txBody>
      </p:sp>
      <p:sp>
        <p:nvSpPr>
          <p:cNvPr id="8" name="Text 5"/>
          <p:cNvSpPr txBox="1"/>
          <p:nvPr/>
        </p:nvSpPr>
        <p:spPr>
          <a:xfrm>
            <a:off x="548640" y="3840480"/>
            <a:ext cx="6766560" cy="457200"/>
          </a:xfrm>
          <a:prstGeom prst="rect">
            <a:avLst/>
          </a:prstGeom>
          <a:noFill/>
          <a:ln/>
        </p:spPr>
        <p:txBody>
          <a:bodyPr wrap="square" lIns="0" tIns="0" rIns="0" bIns="0" rtlCol="0" anchor="ctr"/>
          <a:lstStyle/>
          <a:p>
            <a:pPr indent="0" marL="0">
              <a:buNone/>
            </a:pPr>
            <a:r>
              <a:rPr lang="en-US" sz="1500" i="1" dirty="0">
                <a:solidFill>
                  <a:srgbClr val="5B6770"/>
                </a:solidFill>
                <a:latin typeface="Calibri" pitchFamily="34" charset="0"/>
                <a:ea typeface="Calibri" pitchFamily="34" charset="-122"/>
                <a:cs typeface="Calibri" pitchFamily="34" charset="-120"/>
              </a:rPr>
              <a:t>We looked at the raw files first, before cleaning anything.</a:t>
            </a:r>
            <a:endParaRPr lang="en-US" sz="1500" dirty="0"/>
          </a:p>
        </p:txBody>
      </p:sp>
      <p:sp>
        <p:nvSpPr>
          <p:cNvPr id="9" name="Text 6"/>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000" b="1" dirty="0">
                <a:solidFill>
                  <a:srgbClr val="16213E"/>
                </a:solidFill>
                <a:latin typeface="Calibri" pitchFamily="34" charset="0"/>
                <a:ea typeface="Calibri" pitchFamily="34" charset="-122"/>
                <a:cs typeface="Calibri" pitchFamily="34" charset="-120"/>
              </a:rPr>
              <a:t>A look inside one dataset (CSE-CIC-IDS2018)</a:t>
            </a:r>
            <a:endParaRPr lang="en-US" sz="3000" dirty="0"/>
          </a:p>
        </p:txBody>
      </p:sp>
      <p:pic>
        <p:nvPicPr>
          <p:cNvPr id="3" name="Image 0" descr="c:\Users\SAHOO\Desktop\IIITH-M26\RIS\RIS-M26\report\figures\eda_cse_cic_ids2018_classes.png">    </p:cNvPr>
          <p:cNvPicPr>
            <a:picLocks noChangeAspect="1"/>
          </p:cNvPicPr>
          <p:nvPr/>
        </p:nvPicPr>
        <p:blipFill>
          <a:blip r:embed="rId1"/>
          <a:stretch>
            <a:fillRect/>
          </a:stretch>
        </p:blipFill>
        <p:spPr>
          <a:xfrm>
            <a:off x="548640" y="1371600"/>
            <a:ext cx="11064240" cy="3694176"/>
          </a:xfrm>
          <a:prstGeom prst="rect">
            <a:avLst/>
          </a:prstGeom>
        </p:spPr>
      </p:pic>
      <p:sp>
        <p:nvSpPr>
          <p:cNvPr id="4" name="Text 1"/>
          <p:cNvSpPr txBox="1"/>
          <p:nvPr/>
        </p:nvSpPr>
        <p:spPr>
          <a:xfrm>
            <a:off x="548640" y="5303520"/>
            <a:ext cx="11091672" cy="731520"/>
          </a:xfrm>
          <a:prstGeom prst="rect">
            <a:avLst/>
          </a:prstGeom>
          <a:noFill/>
          <a:ln/>
        </p:spPr>
        <p:txBody>
          <a:bodyPr wrap="square" lIns="0" tIns="0" rIns="0" bIns="0" rtlCol="0" anchor="ctr"/>
          <a:lstStyle/>
          <a:p>
            <a:pPr indent="0" marL="0">
              <a:buNone/>
            </a:pPr>
            <a:r>
              <a:rPr lang="en-US" sz="1400" dirty="0">
                <a:solidFill>
                  <a:srgbClr val="5B6770"/>
                </a:solidFill>
                <a:latin typeface="Calibri" pitchFamily="34" charset="0"/>
                <a:ea typeface="Calibri" pitchFamily="34" charset="-122"/>
                <a:cs typeface="Calibri" pitchFamily="34" charset="-120"/>
              </a:rPr>
              <a:t>Left: 16.2 million connections and 14 kinds of attack. The last bar, "Label", is not an attack: it's the title row, copied into the data 59 times. Right: how much of each day's traffic was attacks, from 0% to 66%.</a:t>
            </a:r>
            <a:endParaRPr lang="en-US" sz="1400" dirty="0"/>
          </a:p>
        </p:txBody>
      </p:sp>
      <p:sp>
        <p:nvSpPr>
          <p:cNvPr id="5" name="Text 2"/>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000" b="1" dirty="0">
                <a:solidFill>
                  <a:srgbClr val="16213E"/>
                </a:solidFill>
                <a:latin typeface="Calibri" pitchFamily="34" charset="0"/>
                <a:ea typeface="Calibri" pitchFamily="34" charset="-122"/>
                <a:cs typeface="Calibri" pitchFamily="34" charset="-120"/>
              </a:rPr>
              <a:t>Cleaning the data</a:t>
            </a:r>
            <a:endParaRPr lang="en-US" sz="3000" dirty="0"/>
          </a:p>
        </p:txBody>
      </p:sp>
      <p:sp>
        <p:nvSpPr>
          <p:cNvPr id="3" name="Text 1"/>
          <p:cNvSpPr txBox="1"/>
          <p:nvPr/>
        </p:nvSpPr>
        <p:spPr>
          <a:xfrm>
            <a:off x="548640" y="960120"/>
            <a:ext cx="11091672" cy="365760"/>
          </a:xfrm>
          <a:prstGeom prst="rect">
            <a:avLst/>
          </a:prstGeom>
          <a:noFill/>
          <a:ln/>
        </p:spPr>
        <p:txBody>
          <a:bodyPr wrap="square" lIns="0" tIns="0" rIns="0" bIns="0" rtlCol="0" anchor="ctr"/>
          <a:lstStyle/>
          <a:p>
            <a:pPr indent="0" marL="0">
              <a:buNone/>
            </a:pPr>
            <a:r>
              <a:rPr lang="en-US" sz="1500" dirty="0">
                <a:solidFill>
                  <a:srgbClr val="5B6770"/>
                </a:solidFill>
                <a:latin typeface="Calibri" pitchFamily="34" charset="0"/>
                <a:ea typeface="Calibri" pitchFamily="34" charset="-122"/>
                <a:cs typeface="Calibri" pitchFamily="34" charset="-120"/>
              </a:rPr>
              <a:t>Problems that would have quietly broken the results</a:t>
            </a:r>
            <a:endParaRPr lang="en-US" sz="1500" dirty="0"/>
          </a:p>
        </p:txBody>
      </p:sp>
      <p:sp>
        <p:nvSpPr>
          <p:cNvPr id="4" name="Shape 2"/>
          <p:cNvSpPr/>
          <p:nvPr/>
        </p:nvSpPr>
        <p:spPr>
          <a:xfrm>
            <a:off x="548640" y="1508760"/>
            <a:ext cx="3520440" cy="2240280"/>
          </a:xfrm>
          <a:prstGeom prst="roundRect">
            <a:avLst>
              <a:gd name="adj" fmla="val 3265"/>
            </a:avLst>
          </a:prstGeom>
          <a:solidFill>
            <a:srgbClr val="EEF3FA"/>
          </a:solidFill>
          <a:ln w="12700">
            <a:solidFill>
              <a:srgbClr val="EEF3FA"/>
            </a:solidFill>
            <a:prstDash val="solid"/>
          </a:ln>
        </p:spPr>
      </p:sp>
      <p:sp>
        <p:nvSpPr>
          <p:cNvPr id="5" name="Text 3"/>
          <p:cNvSpPr txBox="1"/>
          <p:nvPr/>
        </p:nvSpPr>
        <p:spPr>
          <a:xfrm>
            <a:off x="777240" y="1673352"/>
            <a:ext cx="3063240" cy="365760"/>
          </a:xfrm>
          <a:prstGeom prst="rect">
            <a:avLst/>
          </a:prstGeom>
          <a:noFill/>
          <a:ln/>
        </p:spPr>
        <p:txBody>
          <a:bodyPr wrap="square" lIns="0" tIns="0" rIns="0" bIns="0" rtlCol="0" anchor="ctr"/>
          <a:lstStyle/>
          <a:p>
            <a:pPr indent="0" marL="0">
              <a:buNone/>
            </a:pPr>
            <a:r>
              <a:rPr lang="en-US" sz="1600" b="1" dirty="0">
                <a:solidFill>
                  <a:srgbClr val="16213E"/>
                </a:solidFill>
                <a:latin typeface="Calibri" pitchFamily="34" charset="0"/>
                <a:ea typeface="Calibri" pitchFamily="34" charset="-122"/>
                <a:cs typeface="Calibri" pitchFamily="34" charset="-120"/>
              </a:rPr>
              <a:t>Title rows in the middle</a:t>
            </a:r>
            <a:endParaRPr lang="en-US" sz="1600" dirty="0"/>
          </a:p>
        </p:txBody>
      </p:sp>
      <p:sp>
        <p:nvSpPr>
          <p:cNvPr id="6" name="Text 4"/>
          <p:cNvSpPr txBox="1"/>
          <p:nvPr/>
        </p:nvSpPr>
        <p:spPr>
          <a:xfrm>
            <a:off x="777240" y="2039112"/>
            <a:ext cx="3063240" cy="274320"/>
          </a:xfrm>
          <a:prstGeom prst="rect">
            <a:avLst/>
          </a:prstGeom>
          <a:noFill/>
          <a:ln/>
        </p:spPr>
        <p:txBody>
          <a:bodyPr wrap="square" lIns="0" tIns="0" rIns="0" bIns="0" rtlCol="0" anchor="ctr"/>
          <a:lstStyle/>
          <a:p>
            <a:pPr indent="0" marL="0">
              <a:buNone/>
            </a:pPr>
            <a:r>
              <a:rPr lang="en-US" sz="1200" b="1" dirty="0">
                <a:solidFill>
                  <a:srgbClr val="EB6834"/>
                </a:solidFill>
                <a:latin typeface="Calibri" pitchFamily="34" charset="0"/>
                <a:ea typeface="Calibri" pitchFamily="34" charset="-122"/>
                <a:cs typeface="Calibri" pitchFamily="34" charset="-120"/>
              </a:rPr>
              <a:t>CSE-CIC-IDS2018</a:t>
            </a:r>
            <a:endParaRPr lang="en-US" sz="1200" dirty="0"/>
          </a:p>
        </p:txBody>
      </p:sp>
      <p:sp>
        <p:nvSpPr>
          <p:cNvPr id="7" name="Text 5"/>
          <p:cNvSpPr txBox="1"/>
          <p:nvPr/>
        </p:nvSpPr>
        <p:spPr>
          <a:xfrm>
            <a:off x="777240" y="2377440"/>
            <a:ext cx="3063240" cy="1234440"/>
          </a:xfrm>
          <a:prstGeom prst="rect">
            <a:avLst/>
          </a:prstGeom>
          <a:noFill/>
          <a:ln/>
        </p:spPr>
        <p:txBody>
          <a:bodyPr wrap="square" lIns="0" tIns="0" rIns="0" bIns="0" rtlCol="0" anchor="t"/>
          <a:lstStyle/>
          <a:p>
            <a:pPr indent="0" marL="0">
              <a:spcAft>
                <a:spcPts val="600"/>
              </a:spcAft>
              <a:buNone/>
            </a:pPr>
            <a:r>
              <a:rPr lang="en-US" sz="1300" b="1" dirty="0">
                <a:solidFill>
                  <a:srgbClr val="1F2933"/>
                </a:solidFill>
                <a:latin typeface="Calibri" pitchFamily="34" charset="0"/>
                <a:ea typeface="Calibri" pitchFamily="34" charset="-122"/>
                <a:cs typeface="Calibri" pitchFamily="34" charset="-120"/>
              </a:rPr>
              <a:t>Found: </a:t>
            </a:r>
            <a:pPr indent="0" marL="0">
              <a:spcAft>
                <a:spcPts val="600"/>
              </a:spcAft>
              <a:buNone/>
            </a:pPr>
            <a:r>
              <a:rPr lang="en-US" sz="1300" dirty="0">
                <a:solidFill>
                  <a:srgbClr val="1F2933"/>
                </a:solidFill>
                <a:latin typeface="Calibri" pitchFamily="34" charset="0"/>
                <a:ea typeface="Calibri" pitchFamily="34" charset="-122"/>
                <a:cs typeface="Calibri" pitchFamily="34" charset="-120"/>
              </a:rPr>
              <a:t>59 rows just said "Label" instead of a real answer</a:t>
            </a:r>
            <a:endParaRPr lang="en-US" sz="1300" dirty="0"/>
          </a:p>
          <a:p>
            <a:pPr indent="0" marL="0">
              <a:spcAft>
                <a:spcPts val="600"/>
              </a:spcAft>
              <a:buNone/>
            </a:pPr>
            <a:r>
              <a:rPr lang="en-US" sz="1300" b="1" dirty="0">
                <a:solidFill>
                  <a:srgbClr val="0A7F2E"/>
                </a:solidFill>
                <a:latin typeface="Calibri" pitchFamily="34" charset="0"/>
                <a:ea typeface="Calibri" pitchFamily="34" charset="-122"/>
                <a:cs typeface="Calibri" pitchFamily="34" charset="-120"/>
              </a:rPr>
              <a:t>Fix: </a:t>
            </a:r>
            <a:pPr indent="0" marL="0">
              <a:spcAft>
                <a:spcPts val="600"/>
              </a:spcAft>
              <a:buNone/>
            </a:pPr>
            <a:r>
              <a:rPr lang="en-US" sz="1300" dirty="0">
                <a:solidFill>
                  <a:srgbClr val="1F2933"/>
                </a:solidFill>
                <a:latin typeface="Calibri" pitchFamily="34" charset="0"/>
                <a:ea typeface="Calibri" pitchFamily="34" charset="-122"/>
                <a:cs typeface="Calibri" pitchFamily="34" charset="-120"/>
              </a:rPr>
              <a:t>Removed them. Otherwise they would have counted as attacks</a:t>
            </a:r>
            <a:endParaRPr lang="en-US" sz="1300" dirty="0"/>
          </a:p>
        </p:txBody>
      </p:sp>
      <p:sp>
        <p:nvSpPr>
          <p:cNvPr id="8" name="Shape 6"/>
          <p:cNvSpPr/>
          <p:nvPr/>
        </p:nvSpPr>
        <p:spPr>
          <a:xfrm>
            <a:off x="4325112" y="1508760"/>
            <a:ext cx="3520440" cy="2240280"/>
          </a:xfrm>
          <a:prstGeom prst="roundRect">
            <a:avLst>
              <a:gd name="adj" fmla="val 3265"/>
            </a:avLst>
          </a:prstGeom>
          <a:solidFill>
            <a:srgbClr val="EEF3FA"/>
          </a:solidFill>
          <a:ln w="12700">
            <a:solidFill>
              <a:srgbClr val="EEF3FA"/>
            </a:solidFill>
            <a:prstDash val="solid"/>
          </a:ln>
        </p:spPr>
      </p:sp>
      <p:sp>
        <p:nvSpPr>
          <p:cNvPr id="9" name="Text 7"/>
          <p:cNvSpPr txBox="1"/>
          <p:nvPr/>
        </p:nvSpPr>
        <p:spPr>
          <a:xfrm>
            <a:off x="4553712" y="1673352"/>
            <a:ext cx="3063240" cy="365760"/>
          </a:xfrm>
          <a:prstGeom prst="rect">
            <a:avLst/>
          </a:prstGeom>
          <a:noFill/>
          <a:ln/>
        </p:spPr>
        <p:txBody>
          <a:bodyPr wrap="square" lIns="0" tIns="0" rIns="0" bIns="0" rtlCol="0" anchor="ctr"/>
          <a:lstStyle/>
          <a:p>
            <a:pPr indent="0" marL="0">
              <a:buNone/>
            </a:pPr>
            <a:r>
              <a:rPr lang="en-US" sz="1600" b="1" dirty="0">
                <a:solidFill>
                  <a:srgbClr val="16213E"/>
                </a:solidFill>
                <a:latin typeface="Calibri" pitchFamily="34" charset="0"/>
                <a:ea typeface="Calibri" pitchFamily="34" charset="-122"/>
                <a:cs typeface="Calibri" pitchFamily="34" charset="-120"/>
              </a:rPr>
              <a:t>"Infinity" instead of numbers</a:t>
            </a:r>
            <a:endParaRPr lang="en-US" sz="1600" dirty="0"/>
          </a:p>
        </p:txBody>
      </p:sp>
      <p:sp>
        <p:nvSpPr>
          <p:cNvPr id="10" name="Text 8"/>
          <p:cNvSpPr txBox="1"/>
          <p:nvPr/>
        </p:nvSpPr>
        <p:spPr>
          <a:xfrm>
            <a:off x="4553712" y="2039112"/>
            <a:ext cx="3063240" cy="274320"/>
          </a:xfrm>
          <a:prstGeom prst="rect">
            <a:avLst/>
          </a:prstGeom>
          <a:noFill/>
          <a:ln/>
        </p:spPr>
        <p:txBody>
          <a:bodyPr wrap="square" lIns="0" tIns="0" rIns="0" bIns="0" rtlCol="0" anchor="ctr"/>
          <a:lstStyle/>
          <a:p>
            <a:pPr indent="0" marL="0">
              <a:buNone/>
            </a:pPr>
            <a:r>
              <a:rPr lang="en-US" sz="1200" b="1" dirty="0">
                <a:solidFill>
                  <a:srgbClr val="EB6834"/>
                </a:solidFill>
                <a:latin typeface="Calibri" pitchFamily="34" charset="0"/>
                <a:ea typeface="Calibri" pitchFamily="34" charset="-122"/>
                <a:cs typeface="Calibri" pitchFamily="34" charset="-120"/>
              </a:rPr>
              <a:t>CIC-IDS2017 and 2018</a:t>
            </a:r>
            <a:endParaRPr lang="en-US" sz="1200" dirty="0"/>
          </a:p>
        </p:txBody>
      </p:sp>
      <p:sp>
        <p:nvSpPr>
          <p:cNvPr id="11" name="Text 9"/>
          <p:cNvSpPr txBox="1"/>
          <p:nvPr/>
        </p:nvSpPr>
        <p:spPr>
          <a:xfrm>
            <a:off x="4553712" y="2377440"/>
            <a:ext cx="3063240" cy="1234440"/>
          </a:xfrm>
          <a:prstGeom prst="rect">
            <a:avLst/>
          </a:prstGeom>
          <a:noFill/>
          <a:ln/>
        </p:spPr>
        <p:txBody>
          <a:bodyPr wrap="square" lIns="0" tIns="0" rIns="0" bIns="0" rtlCol="0" anchor="t"/>
          <a:lstStyle/>
          <a:p>
            <a:pPr indent="0" marL="0">
              <a:spcAft>
                <a:spcPts val="600"/>
              </a:spcAft>
              <a:buNone/>
            </a:pPr>
            <a:r>
              <a:rPr lang="en-US" sz="1300" b="1" dirty="0">
                <a:solidFill>
                  <a:srgbClr val="1F2933"/>
                </a:solidFill>
                <a:latin typeface="Calibri" pitchFamily="34" charset="0"/>
                <a:ea typeface="Calibri" pitchFamily="34" charset="-122"/>
                <a:cs typeface="Calibri" pitchFamily="34" charset="-120"/>
              </a:rPr>
              <a:t>Found: </a:t>
            </a:r>
            <a:pPr indent="0" marL="0">
              <a:spcAft>
                <a:spcPts val="600"/>
              </a:spcAft>
              <a:buNone/>
            </a:pPr>
            <a:r>
              <a:rPr lang="en-US" sz="1300" dirty="0">
                <a:solidFill>
                  <a:srgbClr val="1F2933"/>
                </a:solidFill>
                <a:latin typeface="Calibri" pitchFamily="34" charset="0"/>
                <a:ea typeface="Calibri" pitchFamily="34" charset="-122"/>
                <a:cs typeface="Calibri" pitchFamily="34" charset="-120"/>
              </a:rPr>
              <a:t>Some speed columns said "Infinity", which a computer can't do maths with</a:t>
            </a:r>
            <a:endParaRPr lang="en-US" sz="1300" dirty="0"/>
          </a:p>
          <a:p>
            <a:pPr indent="0" marL="0">
              <a:spcAft>
                <a:spcPts val="600"/>
              </a:spcAft>
              <a:buNone/>
            </a:pPr>
            <a:r>
              <a:rPr lang="en-US" sz="1300" b="1" dirty="0">
                <a:solidFill>
                  <a:srgbClr val="0A7F2E"/>
                </a:solidFill>
                <a:latin typeface="Calibri" pitchFamily="34" charset="0"/>
                <a:ea typeface="Calibri" pitchFamily="34" charset="-122"/>
                <a:cs typeface="Calibri" pitchFamily="34" charset="-120"/>
              </a:rPr>
              <a:t>Fix: </a:t>
            </a:r>
            <a:pPr indent="0" marL="0">
              <a:spcAft>
                <a:spcPts val="600"/>
              </a:spcAft>
              <a:buNone/>
            </a:pPr>
            <a:r>
              <a:rPr lang="en-US" sz="1300" dirty="0">
                <a:solidFill>
                  <a:srgbClr val="1F2933"/>
                </a:solidFill>
                <a:latin typeface="Calibri" pitchFamily="34" charset="0"/>
                <a:ea typeface="Calibri" pitchFamily="34" charset="-122"/>
                <a:cs typeface="Calibri" pitchFamily="34" charset="-120"/>
              </a:rPr>
              <a:t>Turned them into numbers, then replaced infinity with 0</a:t>
            </a:r>
            <a:endParaRPr lang="en-US" sz="1300" dirty="0"/>
          </a:p>
        </p:txBody>
      </p:sp>
      <p:sp>
        <p:nvSpPr>
          <p:cNvPr id="12" name="Shape 10"/>
          <p:cNvSpPr/>
          <p:nvPr/>
        </p:nvSpPr>
        <p:spPr>
          <a:xfrm>
            <a:off x="8101584" y="1508760"/>
            <a:ext cx="3520440" cy="2240280"/>
          </a:xfrm>
          <a:prstGeom prst="roundRect">
            <a:avLst>
              <a:gd name="adj" fmla="val 3265"/>
            </a:avLst>
          </a:prstGeom>
          <a:solidFill>
            <a:srgbClr val="EEF3FA"/>
          </a:solidFill>
          <a:ln w="12700">
            <a:solidFill>
              <a:srgbClr val="EEF3FA"/>
            </a:solidFill>
            <a:prstDash val="solid"/>
          </a:ln>
        </p:spPr>
      </p:sp>
      <p:sp>
        <p:nvSpPr>
          <p:cNvPr id="13" name="Text 11"/>
          <p:cNvSpPr txBox="1"/>
          <p:nvPr/>
        </p:nvSpPr>
        <p:spPr>
          <a:xfrm>
            <a:off x="8330184" y="1673352"/>
            <a:ext cx="3063240" cy="365760"/>
          </a:xfrm>
          <a:prstGeom prst="rect">
            <a:avLst/>
          </a:prstGeom>
          <a:noFill/>
          <a:ln/>
        </p:spPr>
        <p:txBody>
          <a:bodyPr wrap="square" lIns="0" tIns="0" rIns="0" bIns="0" rtlCol="0" anchor="ctr"/>
          <a:lstStyle/>
          <a:p>
            <a:pPr indent="0" marL="0">
              <a:buNone/>
            </a:pPr>
            <a:r>
              <a:rPr lang="en-US" sz="1600" b="1" dirty="0">
                <a:solidFill>
                  <a:srgbClr val="16213E"/>
                </a:solidFill>
                <a:latin typeface="Calibri" pitchFamily="34" charset="0"/>
                <a:ea typeface="Calibri" pitchFamily="34" charset="-122"/>
                <a:cs typeface="Calibri" pitchFamily="34" charset="-120"/>
              </a:rPr>
              <a:t>The answer was in the inputs</a:t>
            </a:r>
            <a:endParaRPr lang="en-US" sz="1600" dirty="0"/>
          </a:p>
        </p:txBody>
      </p:sp>
      <p:sp>
        <p:nvSpPr>
          <p:cNvPr id="14" name="Text 12"/>
          <p:cNvSpPr txBox="1"/>
          <p:nvPr/>
        </p:nvSpPr>
        <p:spPr>
          <a:xfrm>
            <a:off x="8330184" y="2039112"/>
            <a:ext cx="3063240" cy="274320"/>
          </a:xfrm>
          <a:prstGeom prst="rect">
            <a:avLst/>
          </a:prstGeom>
          <a:noFill/>
          <a:ln/>
        </p:spPr>
        <p:txBody>
          <a:bodyPr wrap="square" lIns="0" tIns="0" rIns="0" bIns="0" rtlCol="0" anchor="ctr"/>
          <a:lstStyle/>
          <a:p>
            <a:pPr indent="0" marL="0">
              <a:buNone/>
            </a:pPr>
            <a:r>
              <a:rPr lang="en-US" sz="1200" b="1" dirty="0">
                <a:solidFill>
                  <a:srgbClr val="EB6834"/>
                </a:solidFill>
                <a:latin typeface="Calibri" pitchFamily="34" charset="0"/>
                <a:ea typeface="Calibri" pitchFamily="34" charset="-122"/>
                <a:cs typeface="Calibri" pitchFamily="34" charset="-120"/>
              </a:rPr>
              <a:t>UNSW-NB15</a:t>
            </a:r>
            <a:endParaRPr lang="en-US" sz="1200" dirty="0"/>
          </a:p>
        </p:txBody>
      </p:sp>
      <p:sp>
        <p:nvSpPr>
          <p:cNvPr id="15" name="Text 13"/>
          <p:cNvSpPr txBox="1"/>
          <p:nvPr/>
        </p:nvSpPr>
        <p:spPr>
          <a:xfrm>
            <a:off x="8330184" y="2377440"/>
            <a:ext cx="3063240" cy="1234440"/>
          </a:xfrm>
          <a:prstGeom prst="rect">
            <a:avLst/>
          </a:prstGeom>
          <a:noFill/>
          <a:ln/>
        </p:spPr>
        <p:txBody>
          <a:bodyPr wrap="square" lIns="0" tIns="0" rIns="0" bIns="0" rtlCol="0" anchor="t"/>
          <a:lstStyle/>
          <a:p>
            <a:pPr indent="0" marL="0">
              <a:spcAft>
                <a:spcPts val="600"/>
              </a:spcAft>
              <a:buNone/>
            </a:pPr>
            <a:r>
              <a:rPr lang="en-US" sz="1300" b="1" dirty="0">
                <a:solidFill>
                  <a:srgbClr val="1F2933"/>
                </a:solidFill>
                <a:latin typeface="Calibri" pitchFamily="34" charset="0"/>
                <a:ea typeface="Calibri" pitchFamily="34" charset="-122"/>
                <a:cs typeface="Calibri" pitchFamily="34" charset="-120"/>
              </a:rPr>
              <a:t>Found: </a:t>
            </a:r>
            <a:pPr indent="0" marL="0">
              <a:spcAft>
                <a:spcPts val="600"/>
              </a:spcAft>
              <a:buNone/>
            </a:pPr>
            <a:r>
              <a:rPr lang="en-US" sz="1300" dirty="0">
                <a:solidFill>
                  <a:srgbClr val="1F2933"/>
                </a:solidFill>
                <a:latin typeface="Calibri" pitchFamily="34" charset="0"/>
                <a:ea typeface="Calibri" pitchFamily="34" charset="-122"/>
                <a:cs typeface="Calibri" pitchFamily="34" charset="-120"/>
              </a:rPr>
              <a:t>One column named the attack type, like exam answers printed on the question paper</a:t>
            </a:r>
            <a:endParaRPr lang="en-US" sz="1300" dirty="0"/>
          </a:p>
          <a:p>
            <a:pPr indent="0" marL="0">
              <a:spcAft>
                <a:spcPts val="600"/>
              </a:spcAft>
              <a:buNone/>
            </a:pPr>
            <a:r>
              <a:rPr lang="en-US" sz="1300" b="1" dirty="0">
                <a:solidFill>
                  <a:srgbClr val="0A7F2E"/>
                </a:solidFill>
                <a:latin typeface="Calibri" pitchFamily="34" charset="0"/>
                <a:ea typeface="Calibri" pitchFamily="34" charset="-122"/>
                <a:cs typeface="Calibri" pitchFamily="34" charset="-120"/>
              </a:rPr>
              <a:t>Fix: </a:t>
            </a:r>
            <a:pPr indent="0" marL="0">
              <a:spcAft>
                <a:spcPts val="600"/>
              </a:spcAft>
              <a:buNone/>
            </a:pPr>
            <a:r>
              <a:rPr lang="en-US" sz="1300" dirty="0">
                <a:solidFill>
                  <a:srgbClr val="1F2933"/>
                </a:solidFill>
                <a:latin typeface="Calibri" pitchFamily="34" charset="0"/>
                <a:ea typeface="Calibri" pitchFamily="34" charset="-122"/>
                <a:cs typeface="Calibri" pitchFamily="34" charset="-120"/>
              </a:rPr>
              <a:t>Removed it, so the model has to really learn</a:t>
            </a:r>
            <a:endParaRPr lang="en-US" sz="1300" dirty="0"/>
          </a:p>
        </p:txBody>
      </p:sp>
      <p:sp>
        <p:nvSpPr>
          <p:cNvPr id="16" name="Shape 14"/>
          <p:cNvSpPr/>
          <p:nvPr/>
        </p:nvSpPr>
        <p:spPr>
          <a:xfrm>
            <a:off x="548640" y="3977640"/>
            <a:ext cx="3520440" cy="2240280"/>
          </a:xfrm>
          <a:prstGeom prst="roundRect">
            <a:avLst>
              <a:gd name="adj" fmla="val 3265"/>
            </a:avLst>
          </a:prstGeom>
          <a:solidFill>
            <a:srgbClr val="EEF3FA"/>
          </a:solidFill>
          <a:ln w="12700">
            <a:solidFill>
              <a:srgbClr val="EEF3FA"/>
            </a:solidFill>
            <a:prstDash val="solid"/>
          </a:ln>
        </p:spPr>
      </p:sp>
      <p:sp>
        <p:nvSpPr>
          <p:cNvPr id="17" name="Text 15"/>
          <p:cNvSpPr txBox="1"/>
          <p:nvPr/>
        </p:nvSpPr>
        <p:spPr>
          <a:xfrm>
            <a:off x="777240" y="4142232"/>
            <a:ext cx="3063240" cy="365760"/>
          </a:xfrm>
          <a:prstGeom prst="rect">
            <a:avLst/>
          </a:prstGeom>
          <a:noFill/>
          <a:ln/>
        </p:spPr>
        <p:txBody>
          <a:bodyPr wrap="square" lIns="0" tIns="0" rIns="0" bIns="0" rtlCol="0" anchor="ctr"/>
          <a:lstStyle/>
          <a:p>
            <a:pPr indent="0" marL="0">
              <a:buNone/>
            </a:pPr>
            <a:r>
              <a:rPr lang="en-US" sz="1600" b="1" dirty="0">
                <a:solidFill>
                  <a:srgbClr val="16213E"/>
                </a:solidFill>
                <a:latin typeface="Calibri" pitchFamily="34" charset="0"/>
                <a:ea typeface="Calibri" pitchFamily="34" charset="-122"/>
                <a:cs typeface="Calibri" pitchFamily="34" charset="-120"/>
              </a:rPr>
              <a:t>Copies of the same row</a:t>
            </a:r>
            <a:endParaRPr lang="en-US" sz="1600" dirty="0"/>
          </a:p>
        </p:txBody>
      </p:sp>
      <p:sp>
        <p:nvSpPr>
          <p:cNvPr id="18" name="Text 16"/>
          <p:cNvSpPr txBox="1"/>
          <p:nvPr/>
        </p:nvSpPr>
        <p:spPr>
          <a:xfrm>
            <a:off x="777240" y="4507992"/>
            <a:ext cx="3063240" cy="274320"/>
          </a:xfrm>
          <a:prstGeom prst="rect">
            <a:avLst/>
          </a:prstGeom>
          <a:noFill/>
          <a:ln/>
        </p:spPr>
        <p:txBody>
          <a:bodyPr wrap="square" lIns="0" tIns="0" rIns="0" bIns="0" rtlCol="0" anchor="ctr"/>
          <a:lstStyle/>
          <a:p>
            <a:pPr indent="0" marL="0">
              <a:buNone/>
            </a:pPr>
            <a:r>
              <a:rPr lang="en-US" sz="1200" b="1" dirty="0">
                <a:solidFill>
                  <a:srgbClr val="EB6834"/>
                </a:solidFill>
                <a:latin typeface="Calibri" pitchFamily="34" charset="0"/>
                <a:ea typeface="Calibri" pitchFamily="34" charset="-122"/>
                <a:cs typeface="Calibri" pitchFamily="34" charset="-120"/>
              </a:rPr>
              <a:t>UNSW-NB15</a:t>
            </a:r>
            <a:endParaRPr lang="en-US" sz="1200" dirty="0"/>
          </a:p>
        </p:txBody>
      </p:sp>
      <p:sp>
        <p:nvSpPr>
          <p:cNvPr id="19" name="Text 17"/>
          <p:cNvSpPr txBox="1"/>
          <p:nvPr/>
        </p:nvSpPr>
        <p:spPr>
          <a:xfrm>
            <a:off x="777240" y="4846320"/>
            <a:ext cx="3063240" cy="1234440"/>
          </a:xfrm>
          <a:prstGeom prst="rect">
            <a:avLst/>
          </a:prstGeom>
          <a:noFill/>
          <a:ln/>
        </p:spPr>
        <p:txBody>
          <a:bodyPr wrap="square" lIns="0" tIns="0" rIns="0" bIns="0" rtlCol="0" anchor="t"/>
          <a:lstStyle/>
          <a:p>
            <a:pPr indent="0" marL="0">
              <a:spcAft>
                <a:spcPts val="600"/>
              </a:spcAft>
              <a:buNone/>
            </a:pPr>
            <a:r>
              <a:rPr lang="en-US" sz="1300" b="1" dirty="0">
                <a:solidFill>
                  <a:srgbClr val="1F2933"/>
                </a:solidFill>
                <a:latin typeface="Calibri" pitchFamily="34" charset="0"/>
                <a:ea typeface="Calibri" pitchFamily="34" charset="-122"/>
                <a:cs typeface="Calibri" pitchFamily="34" charset="-120"/>
              </a:rPr>
              <a:t>Found: </a:t>
            </a:r>
            <a:pPr indent="0" marL="0">
              <a:spcAft>
                <a:spcPts val="600"/>
              </a:spcAft>
              <a:buNone/>
            </a:pPr>
            <a:r>
              <a:rPr lang="en-US" sz="1300" dirty="0">
                <a:solidFill>
                  <a:srgbClr val="1F2933"/>
                </a:solidFill>
                <a:latin typeface="Calibri" pitchFamily="34" charset="0"/>
                <a:ea typeface="Calibri" pitchFamily="34" charset="-122"/>
                <a:cs typeface="Calibri" pitchFamily="34" charset="-120"/>
              </a:rPr>
              <a:t>103,575 rows (40%) were exact copies</a:t>
            </a:r>
            <a:endParaRPr lang="en-US" sz="1300" dirty="0"/>
          </a:p>
          <a:p>
            <a:pPr indent="0" marL="0">
              <a:spcAft>
                <a:spcPts val="600"/>
              </a:spcAft>
              <a:buNone/>
            </a:pPr>
            <a:r>
              <a:rPr lang="en-US" sz="1300" b="1" dirty="0">
                <a:solidFill>
                  <a:srgbClr val="0A7F2E"/>
                </a:solidFill>
                <a:latin typeface="Calibri" pitchFamily="34" charset="0"/>
                <a:ea typeface="Calibri" pitchFamily="34" charset="-122"/>
                <a:cs typeface="Calibri" pitchFamily="34" charset="-120"/>
              </a:rPr>
              <a:t>Fix: </a:t>
            </a:r>
            <a:pPr indent="0" marL="0">
              <a:spcAft>
                <a:spcPts val="600"/>
              </a:spcAft>
              <a:buNone/>
            </a:pPr>
            <a:r>
              <a:rPr lang="en-US" sz="1300" dirty="0">
                <a:solidFill>
                  <a:srgbClr val="1F2933"/>
                </a:solidFill>
                <a:latin typeface="Calibri" pitchFamily="34" charset="0"/>
                <a:ea typeface="Calibri" pitchFamily="34" charset="-122"/>
                <a:cs typeface="Calibri" pitchFamily="34" charset="-120"/>
              </a:rPr>
              <a:t>Removed them, so the test can't contain questions the model already saw</a:t>
            </a:r>
            <a:endParaRPr lang="en-US" sz="1300" dirty="0"/>
          </a:p>
        </p:txBody>
      </p:sp>
      <p:sp>
        <p:nvSpPr>
          <p:cNvPr id="20" name="Shape 18"/>
          <p:cNvSpPr/>
          <p:nvPr/>
        </p:nvSpPr>
        <p:spPr>
          <a:xfrm>
            <a:off x="4325112" y="3977640"/>
            <a:ext cx="3520440" cy="2240280"/>
          </a:xfrm>
          <a:prstGeom prst="roundRect">
            <a:avLst>
              <a:gd name="adj" fmla="val 3265"/>
            </a:avLst>
          </a:prstGeom>
          <a:solidFill>
            <a:srgbClr val="EEF3FA"/>
          </a:solidFill>
          <a:ln w="12700">
            <a:solidFill>
              <a:srgbClr val="EEF3FA"/>
            </a:solidFill>
            <a:prstDash val="solid"/>
          </a:ln>
        </p:spPr>
      </p:sp>
      <p:sp>
        <p:nvSpPr>
          <p:cNvPr id="21" name="Text 19"/>
          <p:cNvSpPr txBox="1"/>
          <p:nvPr/>
        </p:nvSpPr>
        <p:spPr>
          <a:xfrm>
            <a:off x="4553712" y="4142232"/>
            <a:ext cx="3063240" cy="365760"/>
          </a:xfrm>
          <a:prstGeom prst="rect">
            <a:avLst/>
          </a:prstGeom>
          <a:noFill/>
          <a:ln/>
        </p:spPr>
        <p:txBody>
          <a:bodyPr wrap="square" lIns="0" tIns="0" rIns="0" bIns="0" rtlCol="0" anchor="ctr"/>
          <a:lstStyle/>
          <a:p>
            <a:pPr indent="0" marL="0">
              <a:buNone/>
            </a:pPr>
            <a:r>
              <a:rPr lang="en-US" sz="1600" b="1" dirty="0">
                <a:solidFill>
                  <a:srgbClr val="16213E"/>
                </a:solidFill>
                <a:latin typeface="Calibri" pitchFamily="34" charset="0"/>
                <a:ea typeface="Calibri" pitchFamily="34" charset="-122"/>
                <a:cs typeface="Calibri" pitchFamily="34" charset="-120"/>
              </a:rPr>
              <a:t>Hidden spaces in names</a:t>
            </a:r>
            <a:endParaRPr lang="en-US" sz="1600" dirty="0"/>
          </a:p>
        </p:txBody>
      </p:sp>
      <p:sp>
        <p:nvSpPr>
          <p:cNvPr id="22" name="Text 20"/>
          <p:cNvSpPr txBox="1"/>
          <p:nvPr/>
        </p:nvSpPr>
        <p:spPr>
          <a:xfrm>
            <a:off x="4553712" y="4507992"/>
            <a:ext cx="3063240" cy="274320"/>
          </a:xfrm>
          <a:prstGeom prst="rect">
            <a:avLst/>
          </a:prstGeom>
          <a:noFill/>
          <a:ln/>
        </p:spPr>
        <p:txBody>
          <a:bodyPr wrap="square" lIns="0" tIns="0" rIns="0" bIns="0" rtlCol="0" anchor="ctr"/>
          <a:lstStyle/>
          <a:p>
            <a:pPr indent="0" marL="0">
              <a:buNone/>
            </a:pPr>
            <a:r>
              <a:rPr lang="en-US" sz="1200" b="1" dirty="0">
                <a:solidFill>
                  <a:srgbClr val="EB6834"/>
                </a:solidFill>
                <a:latin typeface="Calibri" pitchFamily="34" charset="0"/>
                <a:ea typeface="Calibri" pitchFamily="34" charset="-122"/>
                <a:cs typeface="Calibri" pitchFamily="34" charset="-120"/>
              </a:rPr>
              <a:t>CIC-IDS2017</a:t>
            </a:r>
            <a:endParaRPr lang="en-US" sz="1200" dirty="0"/>
          </a:p>
        </p:txBody>
      </p:sp>
      <p:sp>
        <p:nvSpPr>
          <p:cNvPr id="23" name="Text 21"/>
          <p:cNvSpPr txBox="1"/>
          <p:nvPr/>
        </p:nvSpPr>
        <p:spPr>
          <a:xfrm>
            <a:off x="4553712" y="4846320"/>
            <a:ext cx="3063240" cy="1234440"/>
          </a:xfrm>
          <a:prstGeom prst="rect">
            <a:avLst/>
          </a:prstGeom>
          <a:noFill/>
          <a:ln/>
        </p:spPr>
        <p:txBody>
          <a:bodyPr wrap="square" lIns="0" tIns="0" rIns="0" bIns="0" rtlCol="0" anchor="t"/>
          <a:lstStyle/>
          <a:p>
            <a:pPr indent="0" marL="0">
              <a:spcAft>
                <a:spcPts val="600"/>
              </a:spcAft>
              <a:buNone/>
            </a:pPr>
            <a:r>
              <a:rPr lang="en-US" sz="1300" b="1" dirty="0">
                <a:solidFill>
                  <a:srgbClr val="1F2933"/>
                </a:solidFill>
                <a:latin typeface="Calibri" pitchFamily="34" charset="0"/>
                <a:ea typeface="Calibri" pitchFamily="34" charset="-122"/>
                <a:cs typeface="Calibri" pitchFamily="34" charset="-120"/>
              </a:rPr>
              <a:t>Found: </a:t>
            </a:r>
            <a:pPr indent="0" marL="0">
              <a:spcAft>
                <a:spcPts val="600"/>
              </a:spcAft>
              <a:buNone/>
            </a:pPr>
            <a:r>
              <a:rPr lang="en-US" sz="1300" dirty="0">
                <a:solidFill>
                  <a:srgbClr val="1F2933"/>
                </a:solidFill>
                <a:latin typeface="Calibri" pitchFamily="34" charset="0"/>
                <a:ea typeface="Calibri" pitchFamily="34" charset="-122"/>
                <a:cs typeface="Calibri" pitchFamily="34" charset="-120"/>
              </a:rPr>
              <a:t>The answer column was named " Label", with a space in front</a:t>
            </a:r>
            <a:endParaRPr lang="en-US" sz="1300" dirty="0"/>
          </a:p>
          <a:p>
            <a:pPr indent="0" marL="0">
              <a:spcAft>
                <a:spcPts val="600"/>
              </a:spcAft>
              <a:buNone/>
            </a:pPr>
            <a:r>
              <a:rPr lang="en-US" sz="1300" b="1" dirty="0">
                <a:solidFill>
                  <a:srgbClr val="0A7F2E"/>
                </a:solidFill>
                <a:latin typeface="Calibri" pitchFamily="34" charset="0"/>
                <a:ea typeface="Calibri" pitchFamily="34" charset="-122"/>
                <a:cs typeface="Calibri" pitchFamily="34" charset="-120"/>
              </a:rPr>
              <a:t>Fix: </a:t>
            </a:r>
            <a:pPr indent="0" marL="0">
              <a:spcAft>
                <a:spcPts val="600"/>
              </a:spcAft>
              <a:buNone/>
            </a:pPr>
            <a:r>
              <a:rPr lang="en-US" sz="1300" dirty="0">
                <a:solidFill>
                  <a:srgbClr val="1F2933"/>
                </a:solidFill>
                <a:latin typeface="Calibri" pitchFamily="34" charset="0"/>
                <a:ea typeface="Calibri" pitchFamily="34" charset="-122"/>
                <a:cs typeface="Calibri" pitchFamily="34" charset="-120"/>
              </a:rPr>
              <a:t>Cleaned all names, or the computer can't find the column</a:t>
            </a:r>
            <a:endParaRPr lang="en-US" sz="1300" dirty="0"/>
          </a:p>
        </p:txBody>
      </p:sp>
      <p:sp>
        <p:nvSpPr>
          <p:cNvPr id="24" name="Shape 22"/>
          <p:cNvSpPr/>
          <p:nvPr/>
        </p:nvSpPr>
        <p:spPr>
          <a:xfrm>
            <a:off x="8101584" y="3977640"/>
            <a:ext cx="3520440" cy="2240280"/>
          </a:xfrm>
          <a:prstGeom prst="roundRect">
            <a:avLst>
              <a:gd name="adj" fmla="val 3265"/>
            </a:avLst>
          </a:prstGeom>
          <a:solidFill>
            <a:srgbClr val="EEF3FA"/>
          </a:solidFill>
          <a:ln w="12700">
            <a:solidFill>
              <a:srgbClr val="EEF3FA"/>
            </a:solidFill>
            <a:prstDash val="solid"/>
          </a:ln>
        </p:spPr>
      </p:sp>
      <p:sp>
        <p:nvSpPr>
          <p:cNvPr id="25" name="Text 23"/>
          <p:cNvSpPr txBox="1"/>
          <p:nvPr/>
        </p:nvSpPr>
        <p:spPr>
          <a:xfrm>
            <a:off x="8330184" y="4142232"/>
            <a:ext cx="3063240" cy="365760"/>
          </a:xfrm>
          <a:prstGeom prst="rect">
            <a:avLst/>
          </a:prstGeom>
          <a:noFill/>
          <a:ln/>
        </p:spPr>
        <p:txBody>
          <a:bodyPr wrap="square" lIns="0" tIns="0" rIns="0" bIns="0" rtlCol="0" anchor="ctr"/>
          <a:lstStyle/>
          <a:p>
            <a:pPr indent="0" marL="0">
              <a:buNone/>
            </a:pPr>
            <a:r>
              <a:rPr lang="en-US" sz="1600" b="1" dirty="0">
                <a:solidFill>
                  <a:srgbClr val="16213E"/>
                </a:solidFill>
                <a:latin typeface="Calibri" pitchFamily="34" charset="0"/>
                <a:ea typeface="Calibri" pitchFamily="34" charset="-122"/>
                <a:cs typeface="Calibri" pitchFamily="34" charset="-120"/>
              </a:rPr>
              <a:t>Columns that never change</a:t>
            </a:r>
            <a:endParaRPr lang="en-US" sz="1600" dirty="0"/>
          </a:p>
        </p:txBody>
      </p:sp>
      <p:sp>
        <p:nvSpPr>
          <p:cNvPr id="26" name="Text 24"/>
          <p:cNvSpPr txBox="1"/>
          <p:nvPr/>
        </p:nvSpPr>
        <p:spPr>
          <a:xfrm>
            <a:off x="8330184" y="4507992"/>
            <a:ext cx="3063240" cy="274320"/>
          </a:xfrm>
          <a:prstGeom prst="rect">
            <a:avLst/>
          </a:prstGeom>
          <a:noFill/>
          <a:ln/>
        </p:spPr>
        <p:txBody>
          <a:bodyPr wrap="square" lIns="0" tIns="0" rIns="0" bIns="0" rtlCol="0" anchor="ctr"/>
          <a:lstStyle/>
          <a:p>
            <a:pPr indent="0" marL="0">
              <a:buNone/>
            </a:pPr>
            <a:r>
              <a:rPr lang="en-US" sz="1200" b="1" dirty="0">
                <a:solidFill>
                  <a:srgbClr val="EB6834"/>
                </a:solidFill>
                <a:latin typeface="Calibri" pitchFamily="34" charset="0"/>
                <a:ea typeface="Calibri" pitchFamily="34" charset="-122"/>
                <a:cs typeface="Calibri" pitchFamily="34" charset="-120"/>
              </a:rPr>
              <a:t>CIC-IDS2017</a:t>
            </a:r>
            <a:endParaRPr lang="en-US" sz="1200" dirty="0"/>
          </a:p>
        </p:txBody>
      </p:sp>
      <p:sp>
        <p:nvSpPr>
          <p:cNvPr id="27" name="Text 25"/>
          <p:cNvSpPr txBox="1"/>
          <p:nvPr/>
        </p:nvSpPr>
        <p:spPr>
          <a:xfrm>
            <a:off x="8330184" y="4846320"/>
            <a:ext cx="3063240" cy="1234440"/>
          </a:xfrm>
          <a:prstGeom prst="rect">
            <a:avLst/>
          </a:prstGeom>
          <a:noFill/>
          <a:ln/>
        </p:spPr>
        <p:txBody>
          <a:bodyPr wrap="square" lIns="0" tIns="0" rIns="0" bIns="0" rtlCol="0" anchor="t"/>
          <a:lstStyle/>
          <a:p>
            <a:pPr indent="0" marL="0">
              <a:spcAft>
                <a:spcPts val="600"/>
              </a:spcAft>
              <a:buNone/>
            </a:pPr>
            <a:r>
              <a:rPr lang="en-US" sz="1300" b="1" dirty="0">
                <a:solidFill>
                  <a:srgbClr val="1F2933"/>
                </a:solidFill>
                <a:latin typeface="Calibri" pitchFamily="34" charset="0"/>
                <a:ea typeface="Calibri" pitchFamily="34" charset="-122"/>
                <a:cs typeface="Calibri" pitchFamily="34" charset="-120"/>
              </a:rPr>
              <a:t>Found: </a:t>
            </a:r>
            <a:pPr indent="0" marL="0">
              <a:spcAft>
                <a:spcPts val="600"/>
              </a:spcAft>
              <a:buNone/>
            </a:pPr>
            <a:r>
              <a:rPr lang="en-US" sz="1300" dirty="0">
                <a:solidFill>
                  <a:srgbClr val="1F2933"/>
                </a:solidFill>
                <a:latin typeface="Calibri" pitchFamily="34" charset="0"/>
                <a:ea typeface="Calibri" pitchFamily="34" charset="-122"/>
                <a:cs typeface="Calibri" pitchFamily="34" charset="-120"/>
              </a:rPr>
              <a:t>8 columns had the same value in every row</a:t>
            </a:r>
            <a:endParaRPr lang="en-US" sz="1300" dirty="0"/>
          </a:p>
          <a:p>
            <a:pPr indent="0" marL="0">
              <a:spcAft>
                <a:spcPts val="600"/>
              </a:spcAft>
              <a:buNone/>
            </a:pPr>
            <a:r>
              <a:rPr lang="en-US" sz="1300" b="1" dirty="0">
                <a:solidFill>
                  <a:srgbClr val="0A7F2E"/>
                </a:solidFill>
                <a:latin typeface="Calibri" pitchFamily="34" charset="0"/>
                <a:ea typeface="Calibri" pitchFamily="34" charset="-122"/>
                <a:cs typeface="Calibri" pitchFamily="34" charset="-120"/>
              </a:rPr>
              <a:t>Fix: </a:t>
            </a:r>
            <a:pPr indent="0" marL="0">
              <a:spcAft>
                <a:spcPts val="600"/>
              </a:spcAft>
              <a:buNone/>
            </a:pPr>
            <a:r>
              <a:rPr lang="en-US" sz="1300" dirty="0">
                <a:solidFill>
                  <a:srgbClr val="1F2933"/>
                </a:solidFill>
                <a:latin typeface="Calibri" pitchFamily="34" charset="0"/>
                <a:ea typeface="Calibri" pitchFamily="34" charset="-122"/>
                <a:cs typeface="Calibri" pitchFamily="34" charset="-120"/>
              </a:rPr>
              <a:t>Removed them: a column that never changes tells us nothing</a:t>
            </a:r>
            <a:endParaRPr lang="en-US" sz="1300" dirty="0"/>
          </a:p>
        </p:txBody>
      </p:sp>
      <p:sp>
        <p:nvSpPr>
          <p:cNvPr id="28" name="Text 26"/>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000" b="1" dirty="0">
                <a:solidFill>
                  <a:srgbClr val="16213E"/>
                </a:solidFill>
                <a:latin typeface="Calibri" pitchFamily="34" charset="0"/>
                <a:ea typeface="Calibri" pitchFamily="34" charset="-122"/>
                <a:cs typeface="Calibri" pitchFamily="34" charset="-120"/>
              </a:rPr>
              <a:t>Our steps</a:t>
            </a:r>
            <a:endParaRPr lang="en-US" sz="3000" dirty="0"/>
          </a:p>
        </p:txBody>
      </p:sp>
      <p:sp>
        <p:nvSpPr>
          <p:cNvPr id="3" name="Shape 1"/>
          <p:cNvSpPr/>
          <p:nvPr/>
        </p:nvSpPr>
        <p:spPr>
          <a:xfrm>
            <a:off x="548640" y="1554480"/>
            <a:ext cx="2286000" cy="868680"/>
          </a:xfrm>
          <a:prstGeom prst="roundRect">
            <a:avLst>
              <a:gd name="adj" fmla="val 6316"/>
            </a:avLst>
          </a:prstGeom>
          <a:solidFill>
            <a:srgbClr val="EEF3FA"/>
          </a:solidFill>
          <a:ln w="9525">
            <a:solidFill>
              <a:srgbClr val="C9D3DF"/>
            </a:solidFill>
            <a:prstDash val="solid"/>
          </a:ln>
        </p:spPr>
      </p:sp>
      <p:sp>
        <p:nvSpPr>
          <p:cNvPr id="4" name="Text 2"/>
          <p:cNvSpPr txBox="1"/>
          <p:nvPr/>
        </p:nvSpPr>
        <p:spPr>
          <a:xfrm>
            <a:off x="548640" y="1554480"/>
            <a:ext cx="2286000" cy="868680"/>
          </a:xfrm>
          <a:prstGeom prst="rect">
            <a:avLst/>
          </a:prstGeom>
          <a:noFill/>
          <a:ln/>
        </p:spPr>
        <p:txBody>
          <a:bodyPr wrap="square" lIns="38100" tIns="38100" rIns="38100" bIns="38100" rtlCol="0" anchor="ctr"/>
          <a:lstStyle/>
          <a:p>
            <a:pPr algn="ctr" indent="0" marL="0">
              <a:buNone/>
            </a:pPr>
            <a:r>
              <a:rPr lang="en-US" sz="1400" dirty="0">
                <a:solidFill>
                  <a:srgbClr val="1F2933"/>
                </a:solidFill>
                <a:latin typeface="Calibri" pitchFamily="34" charset="0"/>
                <a:ea typeface="Calibri" pitchFamily="34" charset="-122"/>
                <a:cs typeface="Calibri" pitchFamily="34" charset="-120"/>
              </a:rPr>
              <a:t>Raw files</a:t>
            </a:r>
            <a:endParaRPr lang="en-US" sz="1400" dirty="0"/>
          </a:p>
        </p:txBody>
      </p:sp>
      <p:sp>
        <p:nvSpPr>
          <p:cNvPr id="5" name="Shape 3"/>
          <p:cNvSpPr/>
          <p:nvPr/>
        </p:nvSpPr>
        <p:spPr>
          <a:xfrm>
            <a:off x="3337560" y="1554480"/>
            <a:ext cx="2286000" cy="868680"/>
          </a:xfrm>
          <a:prstGeom prst="roundRect">
            <a:avLst>
              <a:gd name="adj" fmla="val 6316"/>
            </a:avLst>
          </a:prstGeom>
          <a:solidFill>
            <a:srgbClr val="EEF3FA"/>
          </a:solidFill>
          <a:ln w="9525">
            <a:solidFill>
              <a:srgbClr val="C9D3DF"/>
            </a:solidFill>
            <a:prstDash val="solid"/>
          </a:ln>
        </p:spPr>
      </p:sp>
      <p:sp>
        <p:nvSpPr>
          <p:cNvPr id="6" name="Text 4"/>
          <p:cNvSpPr txBox="1"/>
          <p:nvPr/>
        </p:nvSpPr>
        <p:spPr>
          <a:xfrm>
            <a:off x="3337560" y="1554480"/>
            <a:ext cx="2286000" cy="868680"/>
          </a:xfrm>
          <a:prstGeom prst="rect">
            <a:avLst/>
          </a:prstGeom>
          <a:noFill/>
          <a:ln/>
        </p:spPr>
        <p:txBody>
          <a:bodyPr wrap="square" lIns="38100" tIns="38100" rIns="38100" bIns="38100" rtlCol="0" anchor="ctr"/>
          <a:lstStyle/>
          <a:p>
            <a:pPr algn="ctr" indent="0" marL="0">
              <a:buNone/>
            </a:pPr>
            <a:r>
              <a:rPr lang="en-US" sz="1400" dirty="0">
                <a:solidFill>
                  <a:srgbClr val="1F2933"/>
                </a:solidFill>
                <a:latin typeface="Calibri" pitchFamily="34" charset="0"/>
                <a:ea typeface="Calibri" pitchFamily="34" charset="-122"/>
                <a:cs typeface="Calibri" pitchFamily="34" charset="-120"/>
              </a:rPr>
              <a:t>Clean and shrink</a:t>
            </a:r>
            <a:endParaRPr lang="en-US" sz="1400" dirty="0"/>
          </a:p>
        </p:txBody>
      </p:sp>
      <p:sp>
        <p:nvSpPr>
          <p:cNvPr id="7" name="Shape 5"/>
          <p:cNvSpPr/>
          <p:nvPr/>
        </p:nvSpPr>
        <p:spPr>
          <a:xfrm>
            <a:off x="6126480" y="1554480"/>
            <a:ext cx="2286000" cy="868680"/>
          </a:xfrm>
          <a:prstGeom prst="roundRect">
            <a:avLst>
              <a:gd name="adj" fmla="val 6316"/>
            </a:avLst>
          </a:prstGeom>
          <a:solidFill>
            <a:srgbClr val="EEF3FA"/>
          </a:solidFill>
          <a:ln w="9525">
            <a:solidFill>
              <a:srgbClr val="C9D3DF"/>
            </a:solidFill>
            <a:prstDash val="solid"/>
          </a:ln>
        </p:spPr>
      </p:sp>
      <p:sp>
        <p:nvSpPr>
          <p:cNvPr id="8" name="Text 6"/>
          <p:cNvSpPr txBox="1"/>
          <p:nvPr/>
        </p:nvSpPr>
        <p:spPr>
          <a:xfrm>
            <a:off x="6126480" y="1554480"/>
            <a:ext cx="2286000" cy="868680"/>
          </a:xfrm>
          <a:prstGeom prst="rect">
            <a:avLst/>
          </a:prstGeom>
          <a:noFill/>
          <a:ln/>
        </p:spPr>
        <p:txBody>
          <a:bodyPr wrap="square" lIns="38100" tIns="38100" rIns="38100" bIns="38100" rtlCol="0" anchor="ctr"/>
          <a:lstStyle/>
          <a:p>
            <a:pPr algn="ctr" indent="0" marL="0">
              <a:buNone/>
            </a:pPr>
            <a:r>
              <a:rPr lang="en-US" sz="1400" dirty="0">
                <a:solidFill>
                  <a:srgbClr val="1F2933"/>
                </a:solidFill>
                <a:latin typeface="Calibri" pitchFamily="34" charset="0"/>
                <a:ea typeface="Calibri" pitchFamily="34" charset="-122"/>
                <a:cs typeface="Calibri" pitchFamily="34" charset="-120"/>
              </a:rPr>
              <a:t>Pick the useful</a:t>
            </a:r>
            <a:endParaRPr lang="en-US" sz="1400" dirty="0"/>
          </a:p>
          <a:p>
            <a:pPr algn="ctr" indent="0" marL="0">
              <a:buNone/>
            </a:pPr>
            <a:r>
              <a:rPr lang="en-US" sz="1400" dirty="0">
                <a:solidFill>
                  <a:srgbClr val="1F2933"/>
                </a:solidFill>
                <a:latin typeface="Calibri" pitchFamily="34" charset="0"/>
                <a:ea typeface="Calibri" pitchFamily="34" charset="-122"/>
                <a:cs typeface="Calibri" pitchFamily="34" charset="-120"/>
              </a:rPr>
              <a:t>columns</a:t>
            </a:r>
            <a:endParaRPr lang="en-US" sz="1400" dirty="0"/>
          </a:p>
        </p:txBody>
      </p:sp>
      <p:sp>
        <p:nvSpPr>
          <p:cNvPr id="9" name="Shape 7"/>
          <p:cNvSpPr/>
          <p:nvPr/>
        </p:nvSpPr>
        <p:spPr>
          <a:xfrm>
            <a:off x="8915400" y="1554480"/>
            <a:ext cx="2286000" cy="868680"/>
          </a:xfrm>
          <a:prstGeom prst="roundRect">
            <a:avLst>
              <a:gd name="adj" fmla="val 6316"/>
            </a:avLst>
          </a:prstGeom>
          <a:solidFill>
            <a:srgbClr val="EEF3FA"/>
          </a:solidFill>
          <a:ln w="9525">
            <a:solidFill>
              <a:srgbClr val="C9D3DF"/>
            </a:solidFill>
            <a:prstDash val="solid"/>
          </a:ln>
        </p:spPr>
      </p:sp>
      <p:sp>
        <p:nvSpPr>
          <p:cNvPr id="10" name="Text 8"/>
          <p:cNvSpPr txBox="1"/>
          <p:nvPr/>
        </p:nvSpPr>
        <p:spPr>
          <a:xfrm>
            <a:off x="8915400" y="1554480"/>
            <a:ext cx="2286000" cy="868680"/>
          </a:xfrm>
          <a:prstGeom prst="rect">
            <a:avLst/>
          </a:prstGeom>
          <a:noFill/>
          <a:ln/>
        </p:spPr>
        <p:txBody>
          <a:bodyPr wrap="square" lIns="38100" tIns="38100" rIns="38100" bIns="38100" rtlCol="0" anchor="ctr"/>
          <a:lstStyle/>
          <a:p>
            <a:pPr algn="ctr" indent="0" marL="0">
              <a:buNone/>
            </a:pPr>
            <a:r>
              <a:rPr lang="en-US" sz="1400" dirty="0">
                <a:solidFill>
                  <a:srgbClr val="1F2933"/>
                </a:solidFill>
                <a:latin typeface="Calibri" pitchFamily="34" charset="0"/>
                <a:ea typeface="Calibri" pitchFamily="34" charset="-122"/>
                <a:cs typeface="Calibri" pitchFamily="34" charset="-120"/>
              </a:rPr>
              <a:t>Split: 70% to learn,</a:t>
            </a:r>
            <a:endParaRPr lang="en-US" sz="1400" dirty="0"/>
          </a:p>
          <a:p>
            <a:pPr algn="ctr" indent="0" marL="0">
              <a:buNone/>
            </a:pPr>
            <a:r>
              <a:rPr lang="en-US" sz="1400" dirty="0">
                <a:solidFill>
                  <a:srgbClr val="1F2933"/>
                </a:solidFill>
                <a:latin typeface="Calibri" pitchFamily="34" charset="0"/>
                <a:ea typeface="Calibri" pitchFamily="34" charset="-122"/>
                <a:cs typeface="Calibri" pitchFamily="34" charset="-120"/>
              </a:rPr>
              <a:t>30% to test</a:t>
            </a:r>
            <a:endParaRPr lang="en-US" sz="1400" dirty="0"/>
          </a:p>
        </p:txBody>
      </p:sp>
      <p:sp>
        <p:nvSpPr>
          <p:cNvPr id="11" name="Shape 9"/>
          <p:cNvSpPr/>
          <p:nvPr/>
        </p:nvSpPr>
        <p:spPr>
          <a:xfrm>
            <a:off x="2834640" y="1988820"/>
            <a:ext cx="502920" cy="914"/>
          </a:xfrm>
          <a:prstGeom prst="line">
            <a:avLst/>
          </a:prstGeom>
          <a:noFill/>
          <a:ln w="19050">
            <a:solidFill>
              <a:srgbClr val="7A8793"/>
            </a:solidFill>
            <a:prstDash val="solid"/>
            <a:tailEnd type="triangle"/>
          </a:ln>
        </p:spPr>
      </p:sp>
      <p:sp>
        <p:nvSpPr>
          <p:cNvPr id="12" name="Shape 10"/>
          <p:cNvSpPr/>
          <p:nvPr/>
        </p:nvSpPr>
        <p:spPr>
          <a:xfrm>
            <a:off x="5623560" y="1988820"/>
            <a:ext cx="502920" cy="914"/>
          </a:xfrm>
          <a:prstGeom prst="line">
            <a:avLst/>
          </a:prstGeom>
          <a:noFill/>
          <a:ln w="19050">
            <a:solidFill>
              <a:srgbClr val="7A8793"/>
            </a:solidFill>
            <a:prstDash val="solid"/>
            <a:tailEnd type="triangle"/>
          </a:ln>
        </p:spPr>
      </p:sp>
      <p:sp>
        <p:nvSpPr>
          <p:cNvPr id="13" name="Shape 11"/>
          <p:cNvSpPr/>
          <p:nvPr/>
        </p:nvSpPr>
        <p:spPr>
          <a:xfrm>
            <a:off x="8412480" y="1988820"/>
            <a:ext cx="502920" cy="914"/>
          </a:xfrm>
          <a:prstGeom prst="line">
            <a:avLst/>
          </a:prstGeom>
          <a:noFill/>
          <a:ln w="19050">
            <a:solidFill>
              <a:srgbClr val="7A8793"/>
            </a:solidFill>
            <a:prstDash val="solid"/>
            <a:tailEnd type="triangle"/>
          </a:ln>
        </p:spPr>
      </p:sp>
      <p:sp>
        <p:nvSpPr>
          <p:cNvPr id="14" name="Shape 12"/>
          <p:cNvSpPr/>
          <p:nvPr/>
        </p:nvSpPr>
        <p:spPr>
          <a:xfrm>
            <a:off x="548640" y="2971800"/>
            <a:ext cx="2286000" cy="868680"/>
          </a:xfrm>
          <a:prstGeom prst="roundRect">
            <a:avLst>
              <a:gd name="adj" fmla="val 6316"/>
            </a:avLst>
          </a:prstGeom>
          <a:solidFill>
            <a:srgbClr val="EEF3FA"/>
          </a:solidFill>
          <a:ln w="9525">
            <a:solidFill>
              <a:srgbClr val="C9D3DF"/>
            </a:solidFill>
            <a:prstDash val="solid"/>
          </a:ln>
        </p:spPr>
      </p:sp>
      <p:sp>
        <p:nvSpPr>
          <p:cNvPr id="15" name="Text 13"/>
          <p:cNvSpPr txBox="1"/>
          <p:nvPr/>
        </p:nvSpPr>
        <p:spPr>
          <a:xfrm>
            <a:off x="548640" y="2971800"/>
            <a:ext cx="2286000" cy="868680"/>
          </a:xfrm>
          <a:prstGeom prst="rect">
            <a:avLst/>
          </a:prstGeom>
          <a:noFill/>
          <a:ln/>
        </p:spPr>
        <p:txBody>
          <a:bodyPr wrap="square" lIns="38100" tIns="38100" rIns="38100" bIns="38100" rtlCol="0" anchor="ctr"/>
          <a:lstStyle/>
          <a:p>
            <a:pPr algn="ctr" indent="0" marL="0">
              <a:buNone/>
            </a:pPr>
            <a:r>
              <a:rPr lang="en-US" sz="1400" dirty="0">
                <a:solidFill>
                  <a:srgbClr val="1F2933"/>
                </a:solidFill>
                <a:latin typeface="Calibri" pitchFamily="34" charset="0"/>
                <a:ea typeface="Calibri" pitchFamily="34" charset="-122"/>
                <a:cs typeface="Calibri" pitchFamily="34" charset="-120"/>
              </a:rPr>
              <a:t>Explain the answers</a:t>
            </a:r>
            <a:endParaRPr lang="en-US" sz="1400" dirty="0"/>
          </a:p>
          <a:p>
            <a:pPr algn="ctr" indent="0" marL="0">
              <a:buNone/>
            </a:pPr>
            <a:r>
              <a:rPr lang="en-US" sz="1400" dirty="0">
                <a:solidFill>
                  <a:srgbClr val="1F2933"/>
                </a:solidFill>
                <a:latin typeface="Calibri" pitchFamily="34" charset="0"/>
                <a:ea typeface="Calibri" pitchFamily="34" charset="-122"/>
                <a:cs typeface="Calibri" pitchFamily="34" charset="-120"/>
              </a:rPr>
              <a:t>(SHAP)</a:t>
            </a:r>
            <a:endParaRPr lang="en-US" sz="1400" dirty="0"/>
          </a:p>
        </p:txBody>
      </p:sp>
      <p:sp>
        <p:nvSpPr>
          <p:cNvPr id="16" name="Shape 14"/>
          <p:cNvSpPr/>
          <p:nvPr/>
        </p:nvSpPr>
        <p:spPr>
          <a:xfrm>
            <a:off x="3337560" y="2971800"/>
            <a:ext cx="2286000" cy="868680"/>
          </a:xfrm>
          <a:prstGeom prst="roundRect">
            <a:avLst>
              <a:gd name="adj" fmla="val 6316"/>
            </a:avLst>
          </a:prstGeom>
          <a:solidFill>
            <a:srgbClr val="EEF3FA"/>
          </a:solidFill>
          <a:ln w="9525">
            <a:solidFill>
              <a:srgbClr val="C9D3DF"/>
            </a:solidFill>
            <a:prstDash val="solid"/>
          </a:ln>
        </p:spPr>
      </p:sp>
      <p:sp>
        <p:nvSpPr>
          <p:cNvPr id="17" name="Text 15"/>
          <p:cNvSpPr txBox="1"/>
          <p:nvPr/>
        </p:nvSpPr>
        <p:spPr>
          <a:xfrm>
            <a:off x="3337560" y="2971800"/>
            <a:ext cx="2286000" cy="868680"/>
          </a:xfrm>
          <a:prstGeom prst="rect">
            <a:avLst/>
          </a:prstGeom>
          <a:noFill/>
          <a:ln/>
        </p:spPr>
        <p:txBody>
          <a:bodyPr wrap="square" lIns="38100" tIns="38100" rIns="38100" bIns="38100" rtlCol="0" anchor="ctr"/>
          <a:lstStyle/>
          <a:p>
            <a:pPr algn="ctr" indent="0" marL="0">
              <a:buNone/>
            </a:pPr>
            <a:r>
              <a:rPr lang="en-US" sz="1400" dirty="0">
                <a:solidFill>
                  <a:srgbClr val="1F2933"/>
                </a:solidFill>
                <a:latin typeface="Calibri" pitchFamily="34" charset="0"/>
                <a:ea typeface="Calibri" pitchFamily="34" charset="-122"/>
                <a:cs typeface="Calibri" pitchFamily="34" charset="-120"/>
              </a:rPr>
              <a:t>Score on the</a:t>
            </a:r>
            <a:endParaRPr lang="en-US" sz="1400" dirty="0"/>
          </a:p>
          <a:p>
            <a:pPr algn="ctr" indent="0" marL="0">
              <a:buNone/>
            </a:pPr>
            <a:r>
              <a:rPr lang="en-US" sz="1400" dirty="0">
                <a:solidFill>
                  <a:srgbClr val="1F2933"/>
                </a:solidFill>
                <a:latin typeface="Calibri" pitchFamily="34" charset="0"/>
                <a:ea typeface="Calibri" pitchFamily="34" charset="-122"/>
                <a:cs typeface="Calibri" pitchFamily="34" charset="-120"/>
              </a:rPr>
              <a:t>test part</a:t>
            </a:r>
            <a:endParaRPr lang="en-US" sz="1400" dirty="0"/>
          </a:p>
        </p:txBody>
      </p:sp>
      <p:sp>
        <p:nvSpPr>
          <p:cNvPr id="18" name="Shape 16"/>
          <p:cNvSpPr/>
          <p:nvPr/>
        </p:nvSpPr>
        <p:spPr>
          <a:xfrm>
            <a:off x="6126480" y="2971800"/>
            <a:ext cx="2286000" cy="868680"/>
          </a:xfrm>
          <a:prstGeom prst="roundRect">
            <a:avLst>
              <a:gd name="adj" fmla="val 6316"/>
            </a:avLst>
          </a:prstGeom>
          <a:solidFill>
            <a:srgbClr val="EEF3FA"/>
          </a:solidFill>
          <a:ln w="9525">
            <a:solidFill>
              <a:srgbClr val="C9D3DF"/>
            </a:solidFill>
            <a:prstDash val="solid"/>
          </a:ln>
        </p:spPr>
      </p:sp>
      <p:sp>
        <p:nvSpPr>
          <p:cNvPr id="19" name="Text 17"/>
          <p:cNvSpPr txBox="1"/>
          <p:nvPr/>
        </p:nvSpPr>
        <p:spPr>
          <a:xfrm>
            <a:off x="6126480" y="2971800"/>
            <a:ext cx="2286000" cy="868680"/>
          </a:xfrm>
          <a:prstGeom prst="rect">
            <a:avLst/>
          </a:prstGeom>
          <a:noFill/>
          <a:ln/>
        </p:spPr>
        <p:txBody>
          <a:bodyPr wrap="square" lIns="38100" tIns="38100" rIns="38100" bIns="38100" rtlCol="0" anchor="ctr"/>
          <a:lstStyle/>
          <a:p>
            <a:pPr algn="ctr" indent="0" marL="0">
              <a:buNone/>
            </a:pPr>
            <a:r>
              <a:rPr lang="en-US" sz="1400" dirty="0">
                <a:solidFill>
                  <a:srgbClr val="1F2933"/>
                </a:solidFill>
                <a:latin typeface="Calibri" pitchFamily="34" charset="0"/>
                <a:ea typeface="Calibri" pitchFamily="34" charset="-122"/>
                <a:cs typeface="Calibri" pitchFamily="34" charset="-120"/>
              </a:rPr>
              <a:t>Train the models</a:t>
            </a:r>
            <a:endParaRPr lang="en-US" sz="1400" dirty="0"/>
          </a:p>
        </p:txBody>
      </p:sp>
      <p:sp>
        <p:nvSpPr>
          <p:cNvPr id="20" name="Shape 18"/>
          <p:cNvSpPr/>
          <p:nvPr/>
        </p:nvSpPr>
        <p:spPr>
          <a:xfrm>
            <a:off x="8915400" y="2971800"/>
            <a:ext cx="2286000" cy="868680"/>
          </a:xfrm>
          <a:prstGeom prst="roundRect">
            <a:avLst>
              <a:gd name="adj" fmla="val 6316"/>
            </a:avLst>
          </a:prstGeom>
          <a:solidFill>
            <a:srgbClr val="FDE7DD"/>
          </a:solidFill>
          <a:ln w="9525">
            <a:solidFill>
              <a:srgbClr val="C9D3DF"/>
            </a:solidFill>
            <a:prstDash val="solid"/>
          </a:ln>
        </p:spPr>
      </p:sp>
      <p:sp>
        <p:nvSpPr>
          <p:cNvPr id="21" name="Text 19"/>
          <p:cNvSpPr txBox="1"/>
          <p:nvPr/>
        </p:nvSpPr>
        <p:spPr>
          <a:xfrm>
            <a:off x="8915400" y="2971800"/>
            <a:ext cx="2286000" cy="868680"/>
          </a:xfrm>
          <a:prstGeom prst="rect">
            <a:avLst/>
          </a:prstGeom>
          <a:noFill/>
          <a:ln/>
        </p:spPr>
        <p:txBody>
          <a:bodyPr wrap="square" lIns="38100" tIns="38100" rIns="38100" bIns="38100" rtlCol="0" anchor="ctr"/>
          <a:lstStyle/>
          <a:p>
            <a:pPr algn="ctr" indent="0" marL="0">
              <a:buNone/>
            </a:pPr>
            <a:r>
              <a:rPr lang="en-US" sz="1400" b="1" dirty="0">
                <a:solidFill>
                  <a:srgbClr val="1F2933"/>
                </a:solidFill>
                <a:latin typeface="Calibri" pitchFamily="34" charset="0"/>
                <a:ea typeface="Calibri" pitchFamily="34" charset="-122"/>
                <a:cs typeface="Calibri" pitchFamily="34" charset="-120"/>
              </a:rPr>
              <a:t>Add practice attacks</a:t>
            </a:r>
            <a:endParaRPr lang="en-US" sz="1400" dirty="0"/>
          </a:p>
          <a:p>
            <a:pPr algn="ctr" indent="0" marL="0">
              <a:buNone/>
            </a:pPr>
            <a:r>
              <a:rPr lang="en-US" sz="1400" b="1" dirty="0">
                <a:solidFill>
                  <a:srgbClr val="1F2933"/>
                </a:solidFill>
                <a:latin typeface="Calibri" pitchFamily="34" charset="0"/>
                <a:ea typeface="Calibri" pitchFamily="34" charset="-122"/>
                <a:cs typeface="Calibri" pitchFamily="34" charset="-120"/>
              </a:rPr>
              <a:t>(learning part only)</a:t>
            </a:r>
            <a:endParaRPr lang="en-US" sz="1400" dirty="0"/>
          </a:p>
        </p:txBody>
      </p:sp>
      <p:sp>
        <p:nvSpPr>
          <p:cNvPr id="22" name="Shape 20"/>
          <p:cNvSpPr/>
          <p:nvPr/>
        </p:nvSpPr>
        <p:spPr>
          <a:xfrm>
            <a:off x="10058400" y="2423160"/>
            <a:ext cx="914" cy="548640"/>
          </a:xfrm>
          <a:prstGeom prst="line">
            <a:avLst/>
          </a:prstGeom>
          <a:noFill/>
          <a:ln w="19050">
            <a:solidFill>
              <a:srgbClr val="7A8793"/>
            </a:solidFill>
            <a:prstDash val="solid"/>
            <a:tailEnd type="triangle"/>
          </a:ln>
        </p:spPr>
      </p:sp>
      <p:sp>
        <p:nvSpPr>
          <p:cNvPr id="23" name="Shape 21"/>
          <p:cNvSpPr/>
          <p:nvPr/>
        </p:nvSpPr>
        <p:spPr>
          <a:xfrm flipH="1">
            <a:off x="8412480" y="3406140"/>
            <a:ext cx="502920" cy="914"/>
          </a:xfrm>
          <a:prstGeom prst="line">
            <a:avLst/>
          </a:prstGeom>
          <a:noFill/>
          <a:ln w="19050">
            <a:solidFill>
              <a:srgbClr val="7A8793"/>
            </a:solidFill>
            <a:prstDash val="solid"/>
            <a:tailEnd type="triangle"/>
          </a:ln>
        </p:spPr>
      </p:sp>
      <p:sp>
        <p:nvSpPr>
          <p:cNvPr id="24" name="Shape 22"/>
          <p:cNvSpPr/>
          <p:nvPr/>
        </p:nvSpPr>
        <p:spPr>
          <a:xfrm flipH="1">
            <a:off x="5623560" y="3406140"/>
            <a:ext cx="502920" cy="914"/>
          </a:xfrm>
          <a:prstGeom prst="line">
            <a:avLst/>
          </a:prstGeom>
          <a:noFill/>
          <a:ln w="19050">
            <a:solidFill>
              <a:srgbClr val="7A8793"/>
            </a:solidFill>
            <a:prstDash val="solid"/>
            <a:tailEnd type="triangle"/>
          </a:ln>
        </p:spPr>
      </p:sp>
      <p:sp>
        <p:nvSpPr>
          <p:cNvPr id="25" name="Shape 23"/>
          <p:cNvSpPr/>
          <p:nvPr/>
        </p:nvSpPr>
        <p:spPr>
          <a:xfrm flipH="1">
            <a:off x="2834640" y="3406140"/>
            <a:ext cx="502920" cy="914"/>
          </a:xfrm>
          <a:prstGeom prst="line">
            <a:avLst/>
          </a:prstGeom>
          <a:noFill/>
          <a:ln w="19050">
            <a:solidFill>
              <a:srgbClr val="7A8793"/>
            </a:solidFill>
            <a:prstDash val="solid"/>
            <a:tailEnd type="triangle"/>
          </a:ln>
        </p:spPr>
      </p:sp>
      <p:sp>
        <p:nvSpPr>
          <p:cNvPr id="26" name="Text 24"/>
          <p:cNvSpPr txBox="1"/>
          <p:nvPr/>
        </p:nvSpPr>
        <p:spPr>
          <a:xfrm>
            <a:off x="548640" y="4389120"/>
            <a:ext cx="11091672" cy="1645920"/>
          </a:xfrm>
          <a:prstGeom prst="rect">
            <a:avLst/>
          </a:prstGeom>
          <a:noFill/>
          <a:ln/>
        </p:spPr>
        <p:txBody>
          <a:bodyPr wrap="square" lIns="0" tIns="0" rIns="0" bIns="0" rtlCol="0" anchor="t"/>
          <a:lstStyle/>
          <a:p>
            <a:pPr marL="228600" indent="-228600">
              <a:spcAft>
                <a:spcPts val="800"/>
              </a:spcAft>
              <a:buSzPct val="100000"/>
              <a:buChar char="•"/>
            </a:pPr>
            <a:r>
              <a:rPr lang="en-US" sz="1600" b="1" dirty="0">
                <a:solidFill>
                  <a:srgbClr val="1F2933"/>
                </a:solidFill>
                <a:latin typeface="Calibri" pitchFamily="34" charset="0"/>
                <a:ea typeface="Calibri" pitchFamily="34" charset="-122"/>
                <a:cs typeface="Calibri" pitchFamily="34" charset="-120"/>
              </a:rPr>
              <a:t>Models: </a:t>
            </a:r>
            <a:pPr indent="0" marL="0">
              <a:spcAft>
                <a:spcPts val="800"/>
              </a:spcAft>
              <a:buNone/>
            </a:pPr>
            <a:r>
              <a:rPr lang="en-US" sz="1600" dirty="0">
                <a:solidFill>
                  <a:srgbClr val="1F2933"/>
                </a:solidFill>
                <a:latin typeface="Calibri" pitchFamily="34" charset="0"/>
                <a:ea typeface="Calibri" pitchFamily="34" charset="-122"/>
                <a:cs typeface="Calibri" pitchFamily="34" charset="-120"/>
              </a:rPr>
              <a:t>Decision Tree, Logistic Regression, MLP, Random Forest, XGBoost, and the study's average of two models</a:t>
            </a:r>
            <a:endParaRPr lang="en-US" sz="1600" dirty="0"/>
          </a:p>
          <a:p>
            <a:pPr marL="228600" indent="-228600">
              <a:spcAft>
                <a:spcPts val="800"/>
              </a:spcAft>
              <a:buSzPct val="100000"/>
              <a:buChar char="•"/>
            </a:pPr>
            <a:r>
              <a:rPr lang="en-US" sz="1600" b="1" dirty="0">
                <a:solidFill>
                  <a:srgbClr val="EB6834"/>
                </a:solidFill>
                <a:latin typeface="Calibri" pitchFamily="34" charset="0"/>
                <a:ea typeface="Calibri" pitchFamily="34" charset="-122"/>
                <a:cs typeface="Calibri" pitchFamily="34" charset="-120"/>
              </a:rPr>
              <a:t>One key difference: </a:t>
            </a:r>
            <a:pPr indent="0" marL="0">
              <a:spcAft>
                <a:spcPts val="800"/>
              </a:spcAft>
              <a:buNone/>
            </a:pPr>
            <a:r>
              <a:rPr lang="en-US" sz="1600" dirty="0">
                <a:solidFill>
                  <a:srgbClr val="1F2933"/>
                </a:solidFill>
                <a:latin typeface="Calibri" pitchFamily="34" charset="0"/>
                <a:ea typeface="Calibri" pitchFamily="34" charset="-122"/>
                <a:cs typeface="Calibri" pitchFamily="34" charset="-120"/>
              </a:rPr>
              <a:t>the study added practice attacks before splitting, so test data leaked into learning. We split first, and never touch the test part.</a:t>
            </a:r>
            <a:endParaRPr lang="en-US" sz="1600" dirty="0"/>
          </a:p>
        </p:txBody>
      </p:sp>
      <p:sp>
        <p:nvSpPr>
          <p:cNvPr id="27" name="Text 25"/>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000" b="1" dirty="0">
                <a:solidFill>
                  <a:srgbClr val="16213E"/>
                </a:solidFill>
                <a:latin typeface="Calibri" pitchFamily="34" charset="0"/>
                <a:ea typeface="Calibri" pitchFamily="34" charset="-122"/>
                <a:cs typeface="Calibri" pitchFamily="34" charset="-120"/>
              </a:rPr>
              <a:t>Detective work: a hidden step</a:t>
            </a:r>
            <a:endParaRPr lang="en-US" sz="3000" dirty="0"/>
          </a:p>
        </p:txBody>
      </p:sp>
      <p:sp>
        <p:nvSpPr>
          <p:cNvPr id="3" name="Text 1"/>
          <p:cNvSpPr txBox="1"/>
          <p:nvPr/>
        </p:nvSpPr>
        <p:spPr>
          <a:xfrm>
            <a:off x="548640" y="1463040"/>
            <a:ext cx="5120640" cy="201168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The study only says it shrank one dataset (CSE-CIC-IDS2018)</a:t>
            </a:r>
            <a:endParaRPr lang="en-US" sz="1700" dirty="0"/>
          </a:p>
          <a:p>
            <a:pPr marL="228600" indent="-2286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But its CIC-IDS2017 table has only 56,600 rows, out of 2.83 million</a:t>
            </a:r>
            <a:endParaRPr lang="en-US" sz="1700" dirty="0"/>
          </a:p>
          <a:p>
            <a:pPr marL="228600" indent="-2286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So we divided their numbers by the real numbers:</a:t>
            </a:r>
            <a:endParaRPr lang="en-US" sz="1700" dirty="0"/>
          </a:p>
        </p:txBody>
      </p:sp>
      <p:sp>
        <p:nvSpPr>
          <p:cNvPr id="4" name="Shape 2"/>
          <p:cNvSpPr/>
          <p:nvPr/>
        </p:nvSpPr>
        <p:spPr>
          <a:xfrm>
            <a:off x="548640" y="3566160"/>
            <a:ext cx="5120640" cy="1737360"/>
          </a:xfrm>
          <a:prstGeom prst="roundRect">
            <a:avLst>
              <a:gd name="adj" fmla="val 4211"/>
            </a:avLst>
          </a:prstGeom>
          <a:solidFill>
            <a:srgbClr val="FDE7DD"/>
          </a:solidFill>
          <a:ln w="12700">
            <a:solidFill>
              <a:srgbClr val="FDE7DD"/>
            </a:solidFill>
            <a:prstDash val="solid"/>
          </a:ln>
        </p:spPr>
      </p:sp>
      <p:sp>
        <p:nvSpPr>
          <p:cNvPr id="5" name="Text 3"/>
          <p:cNvSpPr txBox="1"/>
          <p:nvPr/>
        </p:nvSpPr>
        <p:spPr>
          <a:xfrm>
            <a:off x="822960" y="3657600"/>
            <a:ext cx="4572000" cy="914400"/>
          </a:xfrm>
          <a:prstGeom prst="rect">
            <a:avLst/>
          </a:prstGeom>
          <a:noFill/>
          <a:ln/>
        </p:spPr>
        <p:txBody>
          <a:bodyPr wrap="square" lIns="0" tIns="0" rIns="0" bIns="0" rtlCol="0" anchor="ctr"/>
          <a:lstStyle/>
          <a:p>
            <a:pPr indent="0" marL="0">
              <a:buNone/>
            </a:pPr>
            <a:r>
              <a:rPr lang="en-US" sz="4800" b="1" dirty="0">
                <a:solidFill>
                  <a:srgbClr val="EB6834"/>
                </a:solidFill>
                <a:latin typeface="Calibri" pitchFamily="34" charset="0"/>
                <a:ea typeface="Calibri" pitchFamily="34" charset="-122"/>
                <a:cs typeface="Calibri" pitchFamily="34" charset="-120"/>
              </a:rPr>
              <a:t>Exactly 2%</a:t>
            </a:r>
            <a:endParaRPr lang="en-US" sz="4800" dirty="0"/>
          </a:p>
        </p:txBody>
      </p:sp>
      <p:sp>
        <p:nvSpPr>
          <p:cNvPr id="6" name="Text 4"/>
          <p:cNvSpPr txBox="1"/>
          <p:nvPr/>
        </p:nvSpPr>
        <p:spPr>
          <a:xfrm>
            <a:off x="822960" y="4572000"/>
            <a:ext cx="4572000" cy="54864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for every attack type: they quietly kept just 2% of the data</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0" y="1463040"/>
          <a:ext cx="5212080" cy="914400"/>
        </p:xfrm>
        <a:graphic>
          <a:graphicData uri="http://schemas.openxmlformats.org/drawingml/2006/table">
            <a:tbl>
              <a:tblPr/>
              <a:tblGrid>
                <a:gridCol w="1645920"/>
                <a:gridCol w="1280160"/>
                <a:gridCol w="1188720"/>
                <a:gridCol w="1097280"/>
              </a:tblGrid>
              <a:tr h="384048">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Attack type</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A"/>
                    </a:solidFill>
                  </a:tcPr>
                </a:tc>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Real count</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A"/>
                    </a:solidFill>
                  </a:tcPr>
                </a:tc>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In the study</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A"/>
                    </a:solidFill>
                  </a:tcPr>
                </a:tc>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Share</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A"/>
                    </a:solidFill>
                  </a:tcPr>
                </a:tc>
              </a:tr>
              <a:tr h="384048">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PortScan</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158,930</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3,179</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2.00%</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DDoS</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128,027</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2,561</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2.00%</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FTP-Patator</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7,938</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159</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2.00%</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SSH-Patator</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5,897</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118</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2.00%</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Bot</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1,966</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39</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1.98%</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6400800" y="4023360"/>
            <a:ext cx="5212080" cy="731520"/>
          </a:xfrm>
          <a:prstGeom prst="rect">
            <a:avLst/>
          </a:prstGeom>
          <a:noFill/>
          <a:ln/>
        </p:spPr>
        <p:txBody>
          <a:bodyPr wrap="square" lIns="0" tIns="0" rIns="0" bIns="0" rtlCol="0" anchor="ctr"/>
          <a:lstStyle/>
          <a:p>
            <a:pPr indent="0" marL="0">
              <a:buNone/>
            </a:pPr>
            <a:r>
              <a:rPr lang="en-US" sz="1400" i="1" dirty="0">
                <a:solidFill>
                  <a:srgbClr val="5B6770"/>
                </a:solidFill>
                <a:latin typeface="Calibri" pitchFamily="34" charset="0"/>
                <a:ea typeface="Calibri" pitchFamily="34" charset="-122"/>
                <a:cs typeface="Calibri" pitchFamily="34" charset="-120"/>
              </a:rPr>
              <a:t>This check also showed we were missing one day of data (Wednesday). We added it back.</a:t>
            </a:r>
            <a:endParaRPr lang="en-US" sz="1400" dirty="0"/>
          </a:p>
        </p:txBody>
      </p:sp>
      <p:sp>
        <p:nvSpPr>
          <p:cNvPr id="9" name="Text 6"/>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000" b="1" dirty="0">
                <a:solidFill>
                  <a:srgbClr val="16213E"/>
                </a:solidFill>
                <a:latin typeface="Calibri" pitchFamily="34" charset="0"/>
                <a:ea typeface="Calibri" pitchFamily="34" charset="-122"/>
                <a:cs typeface="Calibri" pitchFamily="34" charset="-120"/>
              </a:rPr>
              <a:t>Did we get the same numbers?</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315200" cy="914400"/>
        </p:xfrm>
        <a:graphic>
          <a:graphicData uri="http://schemas.openxmlformats.org/drawingml/2006/table">
            <a:tbl>
              <a:tblPr/>
              <a:tblGrid>
                <a:gridCol w="2011680"/>
                <a:gridCol w="1325880"/>
                <a:gridCol w="1325880"/>
                <a:gridCol w="1325880"/>
                <a:gridCol w="1325880"/>
              </a:tblGrid>
              <a:tr h="457200">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Dataset</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A"/>
                    </a:solidFill>
                  </a:tcPr>
                </a:tc>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Their accuracy</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A"/>
                    </a:solidFill>
                  </a:tcPr>
                </a:tc>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Our accuracy</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A"/>
                    </a:solidFill>
                  </a:tcPr>
                </a:tc>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Their false alarms</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A"/>
                    </a:solidFill>
                  </a:tcPr>
                </a:tc>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Our false alarms</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A"/>
                    </a:solidFill>
                  </a:tcPr>
                </a:tc>
              </a:tr>
              <a:tr h="45720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NSL-KDD</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99.24</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99.60</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0.62</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b="1" dirty="0">
                          <a:solidFill>
                            <a:srgbClr val="0A7F2E"/>
                          </a:solidFill>
                          <a:latin typeface="Calibri" pitchFamily="34" charset="0"/>
                          <a:ea typeface="Calibri" pitchFamily="34" charset="-122"/>
                          <a:cs typeface="Calibri" pitchFamily="34" charset="-120"/>
                        </a:rPr>
                        <a:t>0.33</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CSE-CIC-IDS2018</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98.92</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98.59</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0.52</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b="1" dirty="0">
                          <a:solidFill>
                            <a:srgbClr val="0A7F2E"/>
                          </a:solidFill>
                          <a:latin typeface="Calibri" pitchFamily="34" charset="0"/>
                          <a:ea typeface="Calibri" pitchFamily="34" charset="-122"/>
                          <a:cs typeface="Calibri" pitchFamily="34" charset="-120"/>
                        </a:rPr>
                        <a:t>0.38</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CIC-IDS2017</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99.91</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99.86</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0.12</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b="1" dirty="0">
                          <a:solidFill>
                            <a:srgbClr val="0A7F2E"/>
                          </a:solidFill>
                          <a:latin typeface="Calibri" pitchFamily="34" charset="0"/>
                          <a:ea typeface="Calibri" pitchFamily="34" charset="-122"/>
                          <a:cs typeface="Calibri" pitchFamily="34" charset="-120"/>
                        </a:rPr>
                        <a:t>0.10</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UNSW-NB15</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97.11</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b="1" dirty="0">
                          <a:solidFill>
                            <a:srgbClr val="EB6834"/>
                          </a:solidFill>
                          <a:latin typeface="Calibri" pitchFamily="34" charset="0"/>
                          <a:ea typeface="Calibri" pitchFamily="34" charset="-122"/>
                          <a:cs typeface="Calibri" pitchFamily="34" charset="-120"/>
                        </a:rPr>
                        <a:t>91.33</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5.29</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b="1" dirty="0">
                          <a:solidFill>
                            <a:srgbClr val="EB6834"/>
                          </a:solidFill>
                          <a:latin typeface="Calibri" pitchFamily="34" charset="0"/>
                          <a:ea typeface="Calibri" pitchFamily="34" charset="-122"/>
                          <a:cs typeface="Calibri" pitchFamily="34" charset="-120"/>
                        </a:rPr>
                        <a:t>8.94</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bl>
          </a:graphicData>
        </a:graphic>
      </p:graphicFrame>
      <p:sp>
        <p:nvSpPr>
          <p:cNvPr id="4" name="Shape 1"/>
          <p:cNvSpPr/>
          <p:nvPr/>
        </p:nvSpPr>
        <p:spPr>
          <a:xfrm>
            <a:off x="8321040" y="1463040"/>
            <a:ext cx="3291840" cy="2011680"/>
          </a:xfrm>
          <a:prstGeom prst="roundRect">
            <a:avLst>
              <a:gd name="adj" fmla="val 3636"/>
            </a:avLst>
          </a:prstGeom>
          <a:solidFill>
            <a:srgbClr val="EEF3FA"/>
          </a:solidFill>
          <a:ln w="12700">
            <a:solidFill>
              <a:srgbClr val="EEF3FA"/>
            </a:solidFill>
            <a:prstDash val="solid"/>
          </a:ln>
        </p:spPr>
      </p:sp>
      <p:sp>
        <p:nvSpPr>
          <p:cNvPr id="5" name="Text 2"/>
          <p:cNvSpPr txBox="1"/>
          <p:nvPr/>
        </p:nvSpPr>
        <p:spPr>
          <a:xfrm>
            <a:off x="8549640" y="1554480"/>
            <a:ext cx="2834640" cy="731520"/>
          </a:xfrm>
          <a:prstGeom prst="rect">
            <a:avLst/>
          </a:prstGeom>
          <a:noFill/>
          <a:ln/>
        </p:spPr>
        <p:txBody>
          <a:bodyPr wrap="square" lIns="0" tIns="0" rIns="0" bIns="0" rtlCol="0" anchor="ctr"/>
          <a:lstStyle/>
          <a:p>
            <a:pPr indent="0" marL="0">
              <a:buNone/>
            </a:pPr>
            <a:r>
              <a:rPr lang="en-US" sz="4000" b="1" dirty="0">
                <a:solidFill>
                  <a:srgbClr val="16213E"/>
                </a:solidFill>
                <a:latin typeface="Calibri" pitchFamily="34" charset="0"/>
                <a:ea typeface="Calibri" pitchFamily="34" charset="-122"/>
                <a:cs typeface="Calibri" pitchFamily="34" charset="-120"/>
              </a:rPr>
              <a:t>3 of 4</a:t>
            </a:r>
            <a:endParaRPr lang="en-US" sz="4000" dirty="0"/>
          </a:p>
        </p:txBody>
      </p:sp>
      <p:sp>
        <p:nvSpPr>
          <p:cNvPr id="6" name="Text 3"/>
          <p:cNvSpPr txBox="1"/>
          <p:nvPr/>
        </p:nvSpPr>
        <p:spPr>
          <a:xfrm>
            <a:off x="8549640" y="2286000"/>
            <a:ext cx="2834640" cy="10972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datasets came out almost the same (within 0.36%), with fewer false alarms</a:t>
            </a:r>
            <a:endParaRPr lang="en-US" sz="1400" dirty="0"/>
          </a:p>
        </p:txBody>
      </p:sp>
      <p:sp>
        <p:nvSpPr>
          <p:cNvPr id="7" name="Shape 4"/>
          <p:cNvSpPr/>
          <p:nvPr/>
        </p:nvSpPr>
        <p:spPr>
          <a:xfrm>
            <a:off x="8321040" y="3657600"/>
            <a:ext cx="3291840" cy="1828800"/>
          </a:xfrm>
          <a:prstGeom prst="roundRect">
            <a:avLst>
              <a:gd name="adj" fmla="val 4000"/>
            </a:avLst>
          </a:prstGeom>
          <a:solidFill>
            <a:srgbClr val="EEF3FA"/>
          </a:solidFill>
          <a:ln w="12700">
            <a:solidFill>
              <a:srgbClr val="EEF3FA"/>
            </a:solidFill>
            <a:prstDash val="solid"/>
          </a:ln>
        </p:spPr>
      </p:sp>
      <p:sp>
        <p:nvSpPr>
          <p:cNvPr id="8" name="Text 5"/>
          <p:cNvSpPr txBox="1"/>
          <p:nvPr/>
        </p:nvSpPr>
        <p:spPr>
          <a:xfrm>
            <a:off x="8549640" y="3794760"/>
            <a:ext cx="2834640" cy="15544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The order of the models also matched: tree-based models on top, and the study's model first or almost first</a:t>
            </a:r>
            <a:endParaRPr lang="en-US" sz="1400" dirty="0"/>
          </a:p>
        </p:txBody>
      </p:sp>
      <p:sp>
        <p:nvSpPr>
          <p:cNvPr id="9" name="Text 6"/>
          <p:cNvSpPr txBox="1"/>
          <p:nvPr/>
        </p:nvSpPr>
        <p:spPr>
          <a:xfrm>
            <a:off x="548640" y="4480560"/>
            <a:ext cx="7315200" cy="365760"/>
          </a:xfrm>
          <a:prstGeom prst="rect">
            <a:avLst/>
          </a:prstGeom>
          <a:noFill/>
          <a:ln/>
        </p:spPr>
        <p:txBody>
          <a:bodyPr wrap="square" lIns="0" tIns="0" rIns="0" bIns="0" rtlCol="0" anchor="ctr"/>
          <a:lstStyle/>
          <a:p>
            <a:pPr indent="0" marL="0">
              <a:buNone/>
            </a:pPr>
            <a:r>
              <a:rPr lang="en-US" sz="1200" dirty="0">
                <a:solidFill>
                  <a:srgbClr val="5B6770"/>
                </a:solidFill>
                <a:latin typeface="Calibri" pitchFamily="34" charset="0"/>
                <a:ea typeface="Calibri" pitchFamily="34" charset="-122"/>
                <a:cs typeface="Calibri" pitchFamily="34" charset="-120"/>
              </a:rPr>
              <a:t>All numbers are percentages. False alarm = normal traffic wrongly called an attack.</a:t>
            </a:r>
            <a:endParaRPr lang="en-US" sz="1200" dirty="0"/>
          </a:p>
        </p:txBody>
      </p:sp>
      <p:sp>
        <p:nvSpPr>
          <p:cNvPr id="10" name="Text 7"/>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000" b="1" dirty="0">
                <a:solidFill>
                  <a:srgbClr val="16213E"/>
                </a:solidFill>
                <a:latin typeface="Calibri" pitchFamily="34" charset="0"/>
                <a:ea typeface="Calibri" pitchFamily="34" charset="-122"/>
                <a:cs typeface="Calibri" pitchFamily="34" charset="-120"/>
              </a:rPr>
              <a:t>The one big difference: UNSW-NB15</a:t>
            </a:r>
            <a:endParaRPr lang="en-US" sz="3000" dirty="0"/>
          </a:p>
        </p:txBody>
      </p:sp>
      <p:graphicFrame>
        <p:nvGraphicFramePr>
          <p:cNvPr id="3" name="Chart 0" descr=""/>
          <p:cNvGraphicFramePr/>
          <p:nvPr/>
        </p:nvGraphicFramePr>
        <p:xfrm>
          <a:off x="548640" y="1371600"/>
          <a:ext cx="603504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949440" y="1554480"/>
            <a:ext cx="4663440" cy="42976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40% of this dataset is copies of other rows</a:t>
            </a:r>
            <a:endParaRPr lang="en-US" sz="1600" dirty="0"/>
          </a:p>
          <a:p>
            <a:pPr marL="228600" indent="-2286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If copies stay in, the same row can be in the learning part and the test part, like seeing the exam questions in advance</a:t>
            </a:r>
            <a:endParaRPr lang="en-US" sz="1600" dirty="0"/>
          </a:p>
          <a:p>
            <a:pPr marL="228600" indent="-2286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Keeping the copies closes </a:t>
            </a:r>
            <a:pPr indent="0" marL="0">
              <a:spcAft>
                <a:spcPts val="800"/>
              </a:spcAft>
              <a:buNone/>
            </a:pPr>
            <a:r>
              <a:rPr lang="en-US" sz="1600" b="1" dirty="0">
                <a:solidFill>
                  <a:srgbClr val="EB6834"/>
                </a:solidFill>
                <a:latin typeface="Calibri" pitchFamily="34" charset="0"/>
                <a:ea typeface="Calibri" pitchFamily="34" charset="-122"/>
                <a:cs typeface="Calibri" pitchFamily="34" charset="-120"/>
              </a:rPr>
              <a:t>2.7 of the 5.8-point gap</a:t>
            </a:r>
            <a:endParaRPr lang="en-US" sz="1600" dirty="0"/>
          </a:p>
          <a:p>
            <a:pPr marL="228600" indent="-2286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The rest likely comes from the study's order of steps and its smaller, unexplained sample</a:t>
            </a:r>
            <a:endParaRPr lang="en-US" sz="1600" dirty="0"/>
          </a:p>
        </p:txBody>
      </p:sp>
      <p:sp>
        <p:nvSpPr>
          <p:cNvPr id="5" name="Text 2"/>
          <p:cNvSpPr txBox="1"/>
          <p:nvPr/>
        </p:nvSpPr>
        <p:spPr>
          <a:xfrm>
            <a:off x="548640" y="5897880"/>
            <a:ext cx="6035040" cy="320040"/>
          </a:xfrm>
          <a:prstGeom prst="rect">
            <a:avLst/>
          </a:prstGeom>
          <a:noFill/>
          <a:ln/>
        </p:spPr>
        <p:txBody>
          <a:bodyPr wrap="square" lIns="0" tIns="0" rIns="0" bIns="0" rtlCol="0" anchor="ctr"/>
          <a:lstStyle/>
          <a:p>
            <a:pPr indent="0" marL="0">
              <a:buNone/>
            </a:pPr>
            <a:r>
              <a:rPr lang="en-US" sz="1100" dirty="0">
                <a:solidFill>
                  <a:srgbClr val="5B6770"/>
                </a:solidFill>
                <a:latin typeface="Calibri" pitchFamily="34" charset="0"/>
                <a:ea typeface="Calibri" pitchFamily="34" charset="-122"/>
                <a:cs typeface="Calibri" pitchFamily="34" charset="-120"/>
              </a:rPr>
              <a:t>Note: the chart starts at 85% so the difference is easy to see.</a:t>
            </a:r>
            <a:endParaRPr lang="en-US" sz="1100" dirty="0"/>
          </a:p>
        </p:txBody>
      </p:sp>
      <p:sp>
        <p:nvSpPr>
          <p:cNvPr id="6" name="Text 3"/>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000" b="1" dirty="0">
                <a:solidFill>
                  <a:srgbClr val="16213E"/>
                </a:solidFill>
                <a:latin typeface="Calibri" pitchFamily="34" charset="0"/>
                <a:ea typeface="Calibri" pitchFamily="34" charset="-122"/>
                <a:cs typeface="Calibri" pitchFamily="34" charset="-120"/>
              </a:rPr>
              <a:t>Problems we found in the study</a:t>
            </a:r>
            <a:endParaRPr lang="en-US" sz="3000" dirty="0"/>
          </a:p>
        </p:txBody>
      </p:sp>
      <p:sp>
        <p:nvSpPr>
          <p:cNvPr id="3" name="Text 1"/>
          <p:cNvSpPr txBox="1"/>
          <p:nvPr/>
        </p:nvSpPr>
        <p:spPr>
          <a:xfrm>
            <a:off x="548640" y="960120"/>
            <a:ext cx="11091672" cy="365760"/>
          </a:xfrm>
          <a:prstGeom prst="rect">
            <a:avLst/>
          </a:prstGeom>
          <a:noFill/>
          <a:ln/>
        </p:spPr>
        <p:txBody>
          <a:bodyPr wrap="square" lIns="0" tIns="0" rIns="0" bIns="0" rtlCol="0" anchor="ctr"/>
          <a:lstStyle/>
          <a:p>
            <a:pPr indent="0" marL="0">
              <a:buNone/>
            </a:pPr>
            <a:r>
              <a:rPr lang="en-US" sz="1500" dirty="0">
                <a:solidFill>
                  <a:srgbClr val="5B6770"/>
                </a:solidFill>
                <a:latin typeface="Calibri" pitchFamily="34" charset="0"/>
                <a:ea typeface="Calibri" pitchFamily="34" charset="-122"/>
                <a:cs typeface="Calibri" pitchFamily="34" charset="-120"/>
              </a:rPr>
              <a:t>You can check each one in the paper. Next, one slide for each.</a:t>
            </a:r>
            <a:endParaRPr lang="en-US" sz="1500" dirty="0"/>
          </a:p>
        </p:txBody>
      </p:sp>
      <p:sp>
        <p:nvSpPr>
          <p:cNvPr id="4" name="Shape 2"/>
          <p:cNvSpPr/>
          <p:nvPr/>
        </p:nvSpPr>
        <p:spPr>
          <a:xfrm>
            <a:off x="548640" y="1645920"/>
            <a:ext cx="457200" cy="457200"/>
          </a:xfrm>
          <a:prstGeom prst="ellipse">
            <a:avLst/>
          </a:prstGeom>
          <a:solidFill>
            <a:srgbClr val="EB6834"/>
          </a:solidFill>
          <a:ln w="12700">
            <a:solidFill>
              <a:srgbClr val="EB6834"/>
            </a:solidFill>
            <a:prstDash val="solid"/>
          </a:ln>
        </p:spPr>
      </p:sp>
      <p:sp>
        <p:nvSpPr>
          <p:cNvPr id="5" name="Text 3"/>
          <p:cNvSpPr txBox="1"/>
          <p:nvPr/>
        </p:nvSpPr>
        <p:spPr>
          <a:xfrm>
            <a:off x="548640" y="1645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234440" y="1600200"/>
            <a:ext cx="10332720" cy="347472"/>
          </a:xfrm>
          <a:prstGeom prst="rect">
            <a:avLst/>
          </a:prstGeom>
          <a:noFill/>
          <a:ln/>
        </p:spPr>
        <p:txBody>
          <a:bodyPr wrap="square" lIns="0" tIns="0" rIns="0" bIns="0" rtlCol="0" anchor="ctr"/>
          <a:lstStyle/>
          <a:p>
            <a:pPr indent="0" marL="0">
              <a:buNone/>
            </a:pPr>
            <a:r>
              <a:rPr lang="en-US" sz="1800" b="1" dirty="0">
                <a:solidFill>
                  <a:srgbClr val="16213E"/>
                </a:solidFill>
                <a:latin typeface="Calibri" pitchFamily="34" charset="0"/>
                <a:ea typeface="Calibri" pitchFamily="34" charset="-122"/>
                <a:cs typeface="Calibri" pitchFamily="34" charset="-120"/>
              </a:rPr>
              <a:t>They balanced the data before splitting it</a:t>
            </a:r>
            <a:endParaRPr lang="en-US" sz="1800" dirty="0"/>
          </a:p>
        </p:txBody>
      </p:sp>
      <p:sp>
        <p:nvSpPr>
          <p:cNvPr id="7" name="Text 5"/>
          <p:cNvSpPr txBox="1"/>
          <p:nvPr/>
        </p:nvSpPr>
        <p:spPr>
          <a:xfrm>
            <a:off x="1234440" y="1965960"/>
            <a:ext cx="10332720" cy="36576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So test data leaked into what the model learned from</a:t>
            </a:r>
            <a:endParaRPr lang="en-US" sz="1400" dirty="0"/>
          </a:p>
        </p:txBody>
      </p:sp>
      <p:sp>
        <p:nvSpPr>
          <p:cNvPr id="8" name="Shape 6"/>
          <p:cNvSpPr/>
          <p:nvPr/>
        </p:nvSpPr>
        <p:spPr>
          <a:xfrm>
            <a:off x="548640" y="2560320"/>
            <a:ext cx="457200" cy="457200"/>
          </a:xfrm>
          <a:prstGeom prst="ellipse">
            <a:avLst/>
          </a:prstGeom>
          <a:solidFill>
            <a:srgbClr val="EB6834"/>
          </a:solidFill>
          <a:ln w="12700">
            <a:solidFill>
              <a:srgbClr val="EB6834"/>
            </a:solidFill>
            <a:prstDash val="solid"/>
          </a:ln>
        </p:spPr>
      </p:sp>
      <p:sp>
        <p:nvSpPr>
          <p:cNvPr id="9" name="Text 7"/>
          <p:cNvSpPr txBox="1"/>
          <p:nvPr/>
        </p:nvSpPr>
        <p:spPr>
          <a:xfrm>
            <a:off x="548640" y="2560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234440" y="2514600"/>
            <a:ext cx="10332720" cy="347472"/>
          </a:xfrm>
          <a:prstGeom prst="rect">
            <a:avLst/>
          </a:prstGeom>
          <a:noFill/>
          <a:ln/>
        </p:spPr>
        <p:txBody>
          <a:bodyPr wrap="square" lIns="0" tIns="0" rIns="0" bIns="0" rtlCol="0" anchor="ctr"/>
          <a:lstStyle/>
          <a:p>
            <a:pPr indent="0" marL="0">
              <a:buNone/>
            </a:pPr>
            <a:r>
              <a:rPr lang="en-US" sz="1800" b="1" dirty="0">
                <a:solidFill>
                  <a:srgbClr val="16213E"/>
                </a:solidFill>
                <a:latin typeface="Calibri" pitchFamily="34" charset="0"/>
                <a:ea typeface="Calibri" pitchFamily="34" charset="-122"/>
                <a:cs typeface="Calibri" pitchFamily="34" charset="-120"/>
              </a:rPr>
              <a:t>Picking columns may have peeked at the test</a:t>
            </a:r>
            <a:endParaRPr lang="en-US" sz="1800" dirty="0"/>
          </a:p>
        </p:txBody>
      </p:sp>
      <p:sp>
        <p:nvSpPr>
          <p:cNvPr id="11" name="Text 9"/>
          <p:cNvSpPr txBox="1"/>
          <p:nvPr/>
        </p:nvSpPr>
        <p:spPr>
          <a:xfrm>
            <a:off x="1234440" y="2880360"/>
            <a:ext cx="10332720" cy="36576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The paper never says which data it used to pick the columns</a:t>
            </a:r>
            <a:endParaRPr lang="en-US" sz="1400" dirty="0"/>
          </a:p>
        </p:txBody>
      </p:sp>
      <p:sp>
        <p:nvSpPr>
          <p:cNvPr id="12" name="Shape 10"/>
          <p:cNvSpPr/>
          <p:nvPr/>
        </p:nvSpPr>
        <p:spPr>
          <a:xfrm>
            <a:off x="548640" y="3474720"/>
            <a:ext cx="457200" cy="457200"/>
          </a:xfrm>
          <a:prstGeom prst="ellipse">
            <a:avLst/>
          </a:prstGeom>
          <a:solidFill>
            <a:srgbClr val="EB6834"/>
          </a:solidFill>
          <a:ln w="12700">
            <a:solidFill>
              <a:srgbClr val="EB6834"/>
            </a:solidFill>
            <a:prstDash val="solid"/>
          </a:ln>
        </p:spPr>
      </p:sp>
      <p:sp>
        <p:nvSpPr>
          <p:cNvPr id="13" name="Text 11"/>
          <p:cNvSpPr txBox="1"/>
          <p:nvPr/>
        </p:nvSpPr>
        <p:spPr>
          <a:xfrm>
            <a:off x="548640" y="3474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234440" y="3429000"/>
            <a:ext cx="10332720" cy="347472"/>
          </a:xfrm>
          <a:prstGeom prst="rect">
            <a:avLst/>
          </a:prstGeom>
          <a:noFill/>
          <a:ln/>
        </p:spPr>
        <p:txBody>
          <a:bodyPr wrap="square" lIns="0" tIns="0" rIns="0" bIns="0" rtlCol="0" anchor="ctr"/>
          <a:lstStyle/>
          <a:p>
            <a:pPr indent="0" marL="0">
              <a:buNone/>
            </a:pPr>
            <a:r>
              <a:rPr lang="en-US" sz="1800" b="1" dirty="0">
                <a:solidFill>
                  <a:srgbClr val="16213E"/>
                </a:solidFill>
                <a:latin typeface="Calibri" pitchFamily="34" charset="0"/>
                <a:ea typeface="Calibri" pitchFamily="34" charset="-122"/>
                <a:cs typeface="Calibri" pitchFamily="34" charset="-120"/>
              </a:rPr>
              <a:t>NSL-KDD: the official test was not used</a:t>
            </a:r>
            <a:endParaRPr lang="en-US" sz="1800" dirty="0"/>
          </a:p>
        </p:txBody>
      </p:sp>
      <p:sp>
        <p:nvSpPr>
          <p:cNvPr id="15" name="Text 13"/>
          <p:cNvSpPr txBox="1"/>
          <p:nvPr/>
        </p:nvSpPr>
        <p:spPr>
          <a:xfrm>
            <a:off x="1234440" y="3794760"/>
            <a:ext cx="10332720" cy="36576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The official test has new attack types the model never saw</a:t>
            </a:r>
            <a:endParaRPr lang="en-US" sz="1400" dirty="0"/>
          </a:p>
        </p:txBody>
      </p:sp>
      <p:sp>
        <p:nvSpPr>
          <p:cNvPr id="16" name="Shape 14"/>
          <p:cNvSpPr/>
          <p:nvPr/>
        </p:nvSpPr>
        <p:spPr>
          <a:xfrm>
            <a:off x="548640" y="4389120"/>
            <a:ext cx="457200" cy="457200"/>
          </a:xfrm>
          <a:prstGeom prst="ellipse">
            <a:avLst/>
          </a:prstGeom>
          <a:solidFill>
            <a:srgbClr val="EB6834"/>
          </a:solidFill>
          <a:ln w="12700">
            <a:solidFill>
              <a:srgbClr val="EB6834"/>
            </a:solidFill>
            <a:prstDash val="solid"/>
          </a:ln>
        </p:spPr>
      </p:sp>
      <p:sp>
        <p:nvSpPr>
          <p:cNvPr id="17" name="Text 15"/>
          <p:cNvSpPr txBox="1"/>
          <p:nvPr/>
        </p:nvSpPr>
        <p:spPr>
          <a:xfrm>
            <a:off x="548640" y="4389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1234440" y="4343400"/>
            <a:ext cx="10332720" cy="347472"/>
          </a:xfrm>
          <a:prstGeom prst="rect">
            <a:avLst/>
          </a:prstGeom>
          <a:noFill/>
          <a:ln/>
        </p:spPr>
        <p:txBody>
          <a:bodyPr wrap="square" lIns="0" tIns="0" rIns="0" bIns="0" rtlCol="0" anchor="ctr"/>
          <a:lstStyle/>
          <a:p>
            <a:pPr indent="0" marL="0">
              <a:buNone/>
            </a:pPr>
            <a:r>
              <a:rPr lang="en-US" sz="1800" b="1" dirty="0">
                <a:solidFill>
                  <a:srgbClr val="16213E"/>
                </a:solidFill>
                <a:latin typeface="Calibri" pitchFamily="34" charset="0"/>
                <a:ea typeface="Calibri" pitchFamily="34" charset="-122"/>
                <a:cs typeface="Calibri" pitchFamily="34" charset="-120"/>
              </a:rPr>
              <a:t>The paper describes two different setups</a:t>
            </a:r>
            <a:endParaRPr lang="en-US" sz="1800" dirty="0"/>
          </a:p>
        </p:txBody>
      </p:sp>
      <p:sp>
        <p:nvSpPr>
          <p:cNvPr id="19" name="Text 17"/>
          <p:cNvSpPr txBox="1"/>
          <p:nvPr/>
        </p:nvSpPr>
        <p:spPr>
          <a:xfrm>
            <a:off x="1234440" y="4709160"/>
            <a:ext cx="10332720" cy="36576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The text and the step-by-step description disagree</a:t>
            </a:r>
            <a:endParaRPr lang="en-US" sz="1400" dirty="0"/>
          </a:p>
        </p:txBody>
      </p:sp>
      <p:sp>
        <p:nvSpPr>
          <p:cNvPr id="20" name="Shape 18"/>
          <p:cNvSpPr/>
          <p:nvPr/>
        </p:nvSpPr>
        <p:spPr>
          <a:xfrm>
            <a:off x="548640" y="5303520"/>
            <a:ext cx="457200" cy="457200"/>
          </a:xfrm>
          <a:prstGeom prst="ellipse">
            <a:avLst/>
          </a:prstGeom>
          <a:solidFill>
            <a:srgbClr val="EB6834"/>
          </a:solidFill>
          <a:ln w="12700">
            <a:solidFill>
              <a:srgbClr val="EB6834"/>
            </a:solidFill>
            <a:prstDash val="solid"/>
          </a:ln>
        </p:spPr>
      </p:sp>
      <p:sp>
        <p:nvSpPr>
          <p:cNvPr id="21" name="Text 19"/>
          <p:cNvSpPr txBox="1"/>
          <p:nvPr/>
        </p:nvSpPr>
        <p:spPr>
          <a:xfrm>
            <a:off x="548640" y="5303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txBox="1"/>
          <p:nvPr/>
        </p:nvSpPr>
        <p:spPr>
          <a:xfrm>
            <a:off x="1234440" y="5257800"/>
            <a:ext cx="10332720" cy="347472"/>
          </a:xfrm>
          <a:prstGeom prst="rect">
            <a:avLst/>
          </a:prstGeom>
          <a:noFill/>
          <a:ln/>
        </p:spPr>
        <p:txBody>
          <a:bodyPr wrap="square" lIns="0" tIns="0" rIns="0" bIns="0" rtlCol="0" anchor="ctr"/>
          <a:lstStyle/>
          <a:p>
            <a:pPr indent="0" marL="0">
              <a:buNone/>
            </a:pPr>
            <a:r>
              <a:rPr lang="en-US" sz="1800" b="1" dirty="0">
                <a:solidFill>
                  <a:srgbClr val="16213E"/>
                </a:solidFill>
                <a:latin typeface="Calibri" pitchFamily="34" charset="0"/>
                <a:ea typeface="Calibri" pitchFamily="34" charset="-122"/>
                <a:cs typeface="Calibri" pitchFamily="34" charset="-120"/>
              </a:rPr>
              <a:t>The data isn't really APT data</a:t>
            </a:r>
            <a:endParaRPr lang="en-US" sz="1800" dirty="0"/>
          </a:p>
        </p:txBody>
      </p:sp>
      <p:sp>
        <p:nvSpPr>
          <p:cNvPr id="23" name="Text 21"/>
          <p:cNvSpPr txBox="1"/>
          <p:nvPr/>
        </p:nvSpPr>
        <p:spPr>
          <a:xfrm>
            <a:off x="1234440" y="5623560"/>
            <a:ext cx="10332720" cy="36576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Mostly loud, common attacks, not quiet hidden hackers</a:t>
            </a:r>
            <a:endParaRPr lang="en-US" sz="1400" dirty="0"/>
          </a:p>
        </p:txBody>
      </p:sp>
      <p:sp>
        <p:nvSpPr>
          <p:cNvPr id="24" name="Text 22"/>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000" b="1" dirty="0">
                <a:solidFill>
                  <a:srgbClr val="16213E"/>
                </a:solidFill>
                <a:latin typeface="Calibri" pitchFamily="34" charset="0"/>
                <a:ea typeface="Calibri" pitchFamily="34" charset="-122"/>
                <a:cs typeface="Calibri" pitchFamily="34" charset="-120"/>
              </a:rPr>
              <a:t>Balancing before splitting</a:t>
            </a:r>
            <a:endParaRPr lang="en-US" sz="3000" dirty="0"/>
          </a:p>
        </p:txBody>
      </p:sp>
      <p:sp>
        <p:nvSpPr>
          <p:cNvPr id="3" name="Text 1"/>
          <p:cNvSpPr txBox="1"/>
          <p:nvPr/>
        </p:nvSpPr>
        <p:spPr>
          <a:xfrm>
            <a:off x="548640" y="960120"/>
            <a:ext cx="11091672" cy="365760"/>
          </a:xfrm>
          <a:prstGeom prst="rect">
            <a:avLst/>
          </a:prstGeom>
          <a:noFill/>
          <a:ln/>
        </p:spPr>
        <p:txBody>
          <a:bodyPr wrap="square" lIns="0" tIns="0" rIns="0" bIns="0" rtlCol="0" anchor="ctr"/>
          <a:lstStyle/>
          <a:p>
            <a:pPr indent="0" marL="0">
              <a:buNone/>
            </a:pPr>
            <a:r>
              <a:rPr lang="en-US" sz="1500" dirty="0">
                <a:solidFill>
                  <a:srgbClr val="5B6770"/>
                </a:solidFill>
                <a:latin typeface="Calibri" pitchFamily="34" charset="0"/>
                <a:ea typeface="Calibri" pitchFamily="34" charset="-122"/>
                <a:cs typeface="Calibri" pitchFamily="34" charset="-120"/>
              </a:rPr>
              <a:t>Problem 1 of 5</a:t>
            </a:r>
            <a:endParaRPr lang="en-US" sz="1500" dirty="0"/>
          </a:p>
        </p:txBody>
      </p:sp>
      <p:sp>
        <p:nvSpPr>
          <p:cNvPr id="4" name="Text 2"/>
          <p:cNvSpPr txBox="1"/>
          <p:nvPr/>
        </p:nvSpPr>
        <p:spPr>
          <a:xfrm>
            <a:off x="548640" y="1508760"/>
            <a:ext cx="5669280" cy="274320"/>
          </a:xfrm>
          <a:prstGeom prst="rect">
            <a:avLst/>
          </a:prstGeom>
          <a:noFill/>
          <a:ln/>
        </p:spPr>
        <p:txBody>
          <a:bodyPr wrap="square" lIns="0" tIns="0" rIns="0" bIns="0" rtlCol="0" anchor="ctr"/>
          <a:lstStyle/>
          <a:p>
            <a:pPr indent="0" marL="0">
              <a:buNone/>
            </a:pPr>
            <a:r>
              <a:rPr lang="en-US" sz="1200" b="1" spc="100" kern="0" dirty="0">
                <a:solidFill>
                  <a:srgbClr val="16213E"/>
                </a:solidFill>
                <a:latin typeface="Calibri" pitchFamily="34" charset="0"/>
                <a:ea typeface="Calibri" pitchFamily="34" charset="-122"/>
                <a:cs typeface="Calibri" pitchFamily="34" charset="-120"/>
              </a:rPr>
              <a:t>WHAT THE STUDY DID</a:t>
            </a:r>
            <a:endParaRPr lang="en-US" sz="1200" dirty="0"/>
          </a:p>
        </p:txBody>
      </p:sp>
      <p:sp>
        <p:nvSpPr>
          <p:cNvPr id="5" name="Text 3"/>
          <p:cNvSpPr txBox="1"/>
          <p:nvPr/>
        </p:nvSpPr>
        <p:spPr>
          <a:xfrm>
            <a:off x="548640" y="1801368"/>
            <a:ext cx="5669280" cy="11887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They added made-up attack examples to the whole dataset first. Only then did they split it into a learning part (70%) and a test part (30%).</a:t>
            </a:r>
            <a:endParaRPr lang="en-US" sz="1500" dirty="0"/>
          </a:p>
        </p:txBody>
      </p:sp>
      <p:sp>
        <p:nvSpPr>
          <p:cNvPr id="6" name="Text 4"/>
          <p:cNvSpPr txBox="1"/>
          <p:nvPr/>
        </p:nvSpPr>
        <p:spPr>
          <a:xfrm>
            <a:off x="548640" y="3081528"/>
            <a:ext cx="5669280" cy="274320"/>
          </a:xfrm>
          <a:prstGeom prst="rect">
            <a:avLst/>
          </a:prstGeom>
          <a:noFill/>
          <a:ln/>
        </p:spPr>
        <p:txBody>
          <a:bodyPr wrap="square" lIns="0" tIns="0" rIns="0" bIns="0" rtlCol="0" anchor="ctr"/>
          <a:lstStyle/>
          <a:p>
            <a:pPr indent="0" marL="0">
              <a:buNone/>
            </a:pPr>
            <a:r>
              <a:rPr lang="en-US" sz="1200" b="1" spc="100" kern="0" dirty="0">
                <a:solidFill>
                  <a:srgbClr val="EB6834"/>
                </a:solidFill>
                <a:latin typeface="Calibri" pitchFamily="34" charset="0"/>
                <a:ea typeface="Calibri" pitchFamily="34" charset="-122"/>
                <a:cs typeface="Calibri" pitchFamily="34" charset="-120"/>
              </a:rPr>
              <a:t>WHY IT'S A PROBLEM</a:t>
            </a:r>
            <a:endParaRPr lang="en-US" sz="1200" dirty="0"/>
          </a:p>
        </p:txBody>
      </p:sp>
      <p:sp>
        <p:nvSpPr>
          <p:cNvPr id="7" name="Text 5"/>
          <p:cNvSpPr txBox="1"/>
          <p:nvPr/>
        </p:nvSpPr>
        <p:spPr>
          <a:xfrm>
            <a:off x="548640" y="3374136"/>
            <a:ext cx="5669280" cy="11887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The made-up examples are blends of real rows, including rows that later end up in the test. It's like practising with questions made from the real exam: scores look better than they really are.</a:t>
            </a:r>
            <a:endParaRPr lang="en-US" sz="1500" dirty="0"/>
          </a:p>
        </p:txBody>
      </p:sp>
      <p:sp>
        <p:nvSpPr>
          <p:cNvPr id="8" name="Text 6"/>
          <p:cNvSpPr txBox="1"/>
          <p:nvPr/>
        </p:nvSpPr>
        <p:spPr>
          <a:xfrm>
            <a:off x="548640" y="4654296"/>
            <a:ext cx="5669280" cy="274320"/>
          </a:xfrm>
          <a:prstGeom prst="rect">
            <a:avLst/>
          </a:prstGeom>
          <a:noFill/>
          <a:ln/>
        </p:spPr>
        <p:txBody>
          <a:bodyPr wrap="square" lIns="0" tIns="0" rIns="0" bIns="0" rtlCol="0" anchor="ctr"/>
          <a:lstStyle/>
          <a:p>
            <a:pPr indent="0" marL="0">
              <a:buNone/>
            </a:pPr>
            <a:r>
              <a:rPr lang="en-US" sz="1200" b="1" spc="100" kern="0" dirty="0">
                <a:solidFill>
                  <a:srgbClr val="0A7F2E"/>
                </a:solidFill>
                <a:latin typeface="Calibri" pitchFamily="34" charset="0"/>
                <a:ea typeface="Calibri" pitchFamily="34" charset="-122"/>
                <a:cs typeface="Calibri" pitchFamily="34" charset="-120"/>
              </a:rPr>
              <a:t>WHAT WE DO</a:t>
            </a:r>
            <a:endParaRPr lang="en-US" sz="1200" dirty="0"/>
          </a:p>
        </p:txBody>
      </p:sp>
      <p:sp>
        <p:nvSpPr>
          <p:cNvPr id="9" name="Text 7"/>
          <p:cNvSpPr txBox="1"/>
          <p:nvPr/>
        </p:nvSpPr>
        <p:spPr>
          <a:xfrm>
            <a:off x="548640" y="4946904"/>
            <a:ext cx="5669280" cy="11887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We split first. We add practice examples to the learning part only, and never touch the test part.</a:t>
            </a:r>
            <a:endParaRPr lang="en-US" sz="1500" dirty="0"/>
          </a:p>
        </p:txBody>
      </p:sp>
      <p:sp>
        <p:nvSpPr>
          <p:cNvPr id="10" name="Text 8"/>
          <p:cNvSpPr txBox="1"/>
          <p:nvPr/>
        </p:nvSpPr>
        <p:spPr>
          <a:xfrm>
            <a:off x="6675120" y="1325880"/>
            <a:ext cx="4965192" cy="320040"/>
          </a:xfrm>
          <a:prstGeom prst="rect">
            <a:avLst/>
          </a:prstGeom>
          <a:noFill/>
          <a:ln/>
        </p:spPr>
        <p:txBody>
          <a:bodyPr wrap="square" lIns="0" tIns="0" rIns="0" bIns="0"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The study</a:t>
            </a:r>
            <a:endParaRPr lang="en-US" sz="1500" dirty="0"/>
          </a:p>
        </p:txBody>
      </p:sp>
      <p:sp>
        <p:nvSpPr>
          <p:cNvPr id="11" name="Shape 9"/>
          <p:cNvSpPr/>
          <p:nvPr/>
        </p:nvSpPr>
        <p:spPr>
          <a:xfrm>
            <a:off x="6675120" y="1737360"/>
            <a:ext cx="1417320" cy="822960"/>
          </a:xfrm>
          <a:prstGeom prst="roundRect">
            <a:avLst>
              <a:gd name="adj" fmla="val 6667"/>
            </a:avLst>
          </a:prstGeom>
          <a:solidFill>
            <a:srgbClr val="FFFFFF"/>
          </a:solidFill>
          <a:ln w="9525">
            <a:solidFill>
              <a:srgbClr val="C9D3DF"/>
            </a:solidFill>
            <a:prstDash val="solid"/>
          </a:ln>
        </p:spPr>
      </p:sp>
      <p:sp>
        <p:nvSpPr>
          <p:cNvPr id="12" name="Text 10"/>
          <p:cNvSpPr txBox="1"/>
          <p:nvPr/>
        </p:nvSpPr>
        <p:spPr>
          <a:xfrm>
            <a:off x="6675120" y="1737360"/>
            <a:ext cx="1417320" cy="822960"/>
          </a:xfrm>
          <a:prstGeom prst="rect">
            <a:avLst/>
          </a:prstGeom>
          <a:noFill/>
          <a:ln/>
        </p:spPr>
        <p:txBody>
          <a:bodyPr wrap="square" lIns="38100" tIns="38100" rIns="38100" bIns="38100" rtlCol="0" anchor="ctr"/>
          <a:lstStyle/>
          <a:p>
            <a:pPr algn="ctr" indent="0" marL="0">
              <a:buNone/>
            </a:pPr>
            <a:r>
              <a:rPr lang="en-US" sz="1200" dirty="0">
                <a:solidFill>
                  <a:srgbClr val="1F2933"/>
                </a:solidFill>
                <a:latin typeface="Calibri" pitchFamily="34" charset="0"/>
                <a:ea typeface="Calibri" pitchFamily="34" charset="-122"/>
                <a:cs typeface="Calibri" pitchFamily="34" charset="-120"/>
              </a:rPr>
              <a:t>All data</a:t>
            </a:r>
            <a:endParaRPr lang="en-US" sz="1200" dirty="0"/>
          </a:p>
        </p:txBody>
      </p:sp>
      <p:sp>
        <p:nvSpPr>
          <p:cNvPr id="13" name="Shape 11"/>
          <p:cNvSpPr/>
          <p:nvPr/>
        </p:nvSpPr>
        <p:spPr>
          <a:xfrm>
            <a:off x="8449056" y="1737360"/>
            <a:ext cx="1417320" cy="822960"/>
          </a:xfrm>
          <a:prstGeom prst="roundRect">
            <a:avLst>
              <a:gd name="adj" fmla="val 6667"/>
            </a:avLst>
          </a:prstGeom>
          <a:solidFill>
            <a:srgbClr val="FDE7DD"/>
          </a:solidFill>
          <a:ln w="9525">
            <a:solidFill>
              <a:srgbClr val="C9D3DF"/>
            </a:solidFill>
            <a:prstDash val="solid"/>
          </a:ln>
        </p:spPr>
      </p:sp>
      <p:sp>
        <p:nvSpPr>
          <p:cNvPr id="14" name="Text 12"/>
          <p:cNvSpPr txBox="1"/>
          <p:nvPr/>
        </p:nvSpPr>
        <p:spPr>
          <a:xfrm>
            <a:off x="8449056" y="1737360"/>
            <a:ext cx="1417320" cy="822960"/>
          </a:xfrm>
          <a:prstGeom prst="rect">
            <a:avLst/>
          </a:prstGeom>
          <a:noFill/>
          <a:ln/>
        </p:spPr>
        <p:txBody>
          <a:bodyPr wrap="square" lIns="38100" tIns="38100" rIns="38100" bIns="38100" rtlCol="0" anchor="ctr"/>
          <a:lstStyle/>
          <a:p>
            <a:pPr algn="ctr" indent="0" marL="0">
              <a:buNone/>
            </a:pPr>
            <a:r>
              <a:rPr lang="en-US" sz="1200" dirty="0">
                <a:solidFill>
                  <a:srgbClr val="1F2933"/>
                </a:solidFill>
                <a:latin typeface="Calibri" pitchFamily="34" charset="0"/>
                <a:ea typeface="Calibri" pitchFamily="34" charset="-122"/>
                <a:cs typeface="Calibri" pitchFamily="34" charset="-120"/>
              </a:rPr>
              <a:t>Add practice attacks</a:t>
            </a:r>
            <a:endParaRPr lang="en-US" sz="1200" dirty="0"/>
          </a:p>
        </p:txBody>
      </p:sp>
      <p:sp>
        <p:nvSpPr>
          <p:cNvPr id="15" name="Shape 13"/>
          <p:cNvSpPr/>
          <p:nvPr/>
        </p:nvSpPr>
        <p:spPr>
          <a:xfrm>
            <a:off x="10222992" y="1737360"/>
            <a:ext cx="1417320" cy="822960"/>
          </a:xfrm>
          <a:prstGeom prst="roundRect">
            <a:avLst>
              <a:gd name="adj" fmla="val 6667"/>
            </a:avLst>
          </a:prstGeom>
          <a:solidFill>
            <a:srgbClr val="FFFFFF"/>
          </a:solidFill>
          <a:ln w="9525">
            <a:solidFill>
              <a:srgbClr val="C9D3DF"/>
            </a:solidFill>
            <a:prstDash val="solid"/>
          </a:ln>
        </p:spPr>
      </p:sp>
      <p:sp>
        <p:nvSpPr>
          <p:cNvPr id="16" name="Text 14"/>
          <p:cNvSpPr txBox="1"/>
          <p:nvPr/>
        </p:nvSpPr>
        <p:spPr>
          <a:xfrm>
            <a:off x="10222992" y="1737360"/>
            <a:ext cx="1417320" cy="822960"/>
          </a:xfrm>
          <a:prstGeom prst="rect">
            <a:avLst/>
          </a:prstGeom>
          <a:noFill/>
          <a:ln/>
        </p:spPr>
        <p:txBody>
          <a:bodyPr wrap="square" lIns="38100" tIns="38100" rIns="38100" bIns="38100" rtlCol="0" anchor="ctr"/>
          <a:lstStyle/>
          <a:p>
            <a:pPr algn="ctr" indent="0" marL="0">
              <a:buNone/>
            </a:pPr>
            <a:r>
              <a:rPr lang="en-US" sz="1200" dirty="0">
                <a:solidFill>
                  <a:srgbClr val="1F2933"/>
                </a:solidFill>
                <a:latin typeface="Calibri" pitchFamily="34" charset="0"/>
                <a:ea typeface="Calibri" pitchFamily="34" charset="-122"/>
                <a:cs typeface="Calibri" pitchFamily="34" charset="-120"/>
              </a:rPr>
              <a:t>Split 70/30</a:t>
            </a:r>
            <a:endParaRPr lang="en-US" sz="1200" dirty="0"/>
          </a:p>
        </p:txBody>
      </p:sp>
      <p:sp>
        <p:nvSpPr>
          <p:cNvPr id="17" name="Shape 15"/>
          <p:cNvSpPr/>
          <p:nvPr/>
        </p:nvSpPr>
        <p:spPr>
          <a:xfrm>
            <a:off x="8092440" y="2148840"/>
            <a:ext cx="356616" cy="914"/>
          </a:xfrm>
          <a:prstGeom prst="line">
            <a:avLst/>
          </a:prstGeom>
          <a:noFill/>
          <a:ln w="19050">
            <a:solidFill>
              <a:srgbClr val="7A8793"/>
            </a:solidFill>
            <a:prstDash val="solid"/>
            <a:tailEnd type="triangle"/>
          </a:ln>
        </p:spPr>
      </p:sp>
      <p:sp>
        <p:nvSpPr>
          <p:cNvPr id="18" name="Shape 16"/>
          <p:cNvSpPr/>
          <p:nvPr/>
        </p:nvSpPr>
        <p:spPr>
          <a:xfrm>
            <a:off x="9866376" y="2148840"/>
            <a:ext cx="356616" cy="914"/>
          </a:xfrm>
          <a:prstGeom prst="line">
            <a:avLst/>
          </a:prstGeom>
          <a:noFill/>
          <a:ln w="19050">
            <a:solidFill>
              <a:srgbClr val="7A8793"/>
            </a:solidFill>
            <a:prstDash val="solid"/>
            <a:tailEnd type="triangle"/>
          </a:ln>
        </p:spPr>
      </p:sp>
      <p:sp>
        <p:nvSpPr>
          <p:cNvPr id="19" name="Text 17"/>
          <p:cNvSpPr txBox="1"/>
          <p:nvPr/>
        </p:nvSpPr>
        <p:spPr>
          <a:xfrm>
            <a:off x="6675120" y="3429000"/>
            <a:ext cx="4965192" cy="320040"/>
          </a:xfrm>
          <a:prstGeom prst="rect">
            <a:avLst/>
          </a:prstGeom>
          <a:noFill/>
          <a:ln/>
        </p:spPr>
        <p:txBody>
          <a:bodyPr wrap="square" lIns="0" tIns="0" rIns="0" bIns="0"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Us</a:t>
            </a:r>
            <a:endParaRPr lang="en-US" sz="1500" dirty="0"/>
          </a:p>
        </p:txBody>
      </p:sp>
      <p:sp>
        <p:nvSpPr>
          <p:cNvPr id="20" name="Shape 18"/>
          <p:cNvSpPr/>
          <p:nvPr/>
        </p:nvSpPr>
        <p:spPr>
          <a:xfrm>
            <a:off x="6675120" y="3840480"/>
            <a:ext cx="1417320" cy="822960"/>
          </a:xfrm>
          <a:prstGeom prst="roundRect">
            <a:avLst>
              <a:gd name="adj" fmla="val 6667"/>
            </a:avLst>
          </a:prstGeom>
          <a:solidFill>
            <a:srgbClr val="FFFFFF"/>
          </a:solidFill>
          <a:ln w="9525">
            <a:solidFill>
              <a:srgbClr val="C9D3DF"/>
            </a:solidFill>
            <a:prstDash val="solid"/>
          </a:ln>
        </p:spPr>
      </p:sp>
      <p:sp>
        <p:nvSpPr>
          <p:cNvPr id="21" name="Text 19"/>
          <p:cNvSpPr txBox="1"/>
          <p:nvPr/>
        </p:nvSpPr>
        <p:spPr>
          <a:xfrm>
            <a:off x="6675120" y="3840480"/>
            <a:ext cx="1417320" cy="822960"/>
          </a:xfrm>
          <a:prstGeom prst="rect">
            <a:avLst/>
          </a:prstGeom>
          <a:noFill/>
          <a:ln/>
        </p:spPr>
        <p:txBody>
          <a:bodyPr wrap="square" lIns="38100" tIns="38100" rIns="38100" bIns="38100" rtlCol="0" anchor="ctr"/>
          <a:lstStyle/>
          <a:p>
            <a:pPr algn="ctr" indent="0" marL="0">
              <a:buNone/>
            </a:pPr>
            <a:r>
              <a:rPr lang="en-US" sz="1200" dirty="0">
                <a:solidFill>
                  <a:srgbClr val="1F2933"/>
                </a:solidFill>
                <a:latin typeface="Calibri" pitchFamily="34" charset="0"/>
                <a:ea typeface="Calibri" pitchFamily="34" charset="-122"/>
                <a:cs typeface="Calibri" pitchFamily="34" charset="-120"/>
              </a:rPr>
              <a:t>All data</a:t>
            </a:r>
            <a:endParaRPr lang="en-US" sz="1200" dirty="0"/>
          </a:p>
        </p:txBody>
      </p:sp>
      <p:sp>
        <p:nvSpPr>
          <p:cNvPr id="22" name="Shape 20"/>
          <p:cNvSpPr/>
          <p:nvPr/>
        </p:nvSpPr>
        <p:spPr>
          <a:xfrm>
            <a:off x="8449056" y="3840480"/>
            <a:ext cx="1417320" cy="822960"/>
          </a:xfrm>
          <a:prstGeom prst="roundRect">
            <a:avLst>
              <a:gd name="adj" fmla="val 6667"/>
            </a:avLst>
          </a:prstGeom>
          <a:solidFill>
            <a:srgbClr val="EEF3FA"/>
          </a:solidFill>
          <a:ln w="9525">
            <a:solidFill>
              <a:srgbClr val="C9D3DF"/>
            </a:solidFill>
            <a:prstDash val="solid"/>
          </a:ln>
        </p:spPr>
      </p:sp>
      <p:sp>
        <p:nvSpPr>
          <p:cNvPr id="23" name="Text 21"/>
          <p:cNvSpPr txBox="1"/>
          <p:nvPr/>
        </p:nvSpPr>
        <p:spPr>
          <a:xfrm>
            <a:off x="8449056" y="3840480"/>
            <a:ext cx="1417320" cy="822960"/>
          </a:xfrm>
          <a:prstGeom prst="rect">
            <a:avLst/>
          </a:prstGeom>
          <a:noFill/>
          <a:ln/>
        </p:spPr>
        <p:txBody>
          <a:bodyPr wrap="square" lIns="38100" tIns="38100" rIns="38100" bIns="38100" rtlCol="0" anchor="ctr"/>
          <a:lstStyle/>
          <a:p>
            <a:pPr algn="ctr" indent="0" marL="0">
              <a:buNone/>
            </a:pPr>
            <a:r>
              <a:rPr lang="en-US" sz="1200" dirty="0">
                <a:solidFill>
                  <a:srgbClr val="1F2933"/>
                </a:solidFill>
                <a:latin typeface="Calibri" pitchFamily="34" charset="0"/>
                <a:ea typeface="Calibri" pitchFamily="34" charset="-122"/>
                <a:cs typeface="Calibri" pitchFamily="34" charset="-120"/>
              </a:rPr>
              <a:t>Split 70/30</a:t>
            </a:r>
            <a:endParaRPr lang="en-US" sz="1200" dirty="0"/>
          </a:p>
        </p:txBody>
      </p:sp>
      <p:sp>
        <p:nvSpPr>
          <p:cNvPr id="24" name="Shape 22"/>
          <p:cNvSpPr/>
          <p:nvPr/>
        </p:nvSpPr>
        <p:spPr>
          <a:xfrm>
            <a:off x="10222992" y="3840480"/>
            <a:ext cx="1417320" cy="822960"/>
          </a:xfrm>
          <a:prstGeom prst="roundRect">
            <a:avLst>
              <a:gd name="adj" fmla="val 6667"/>
            </a:avLst>
          </a:prstGeom>
          <a:solidFill>
            <a:srgbClr val="FFFFFF"/>
          </a:solidFill>
          <a:ln w="9525">
            <a:solidFill>
              <a:srgbClr val="C9D3DF"/>
            </a:solidFill>
            <a:prstDash val="solid"/>
          </a:ln>
        </p:spPr>
      </p:sp>
      <p:sp>
        <p:nvSpPr>
          <p:cNvPr id="25" name="Text 23"/>
          <p:cNvSpPr txBox="1"/>
          <p:nvPr/>
        </p:nvSpPr>
        <p:spPr>
          <a:xfrm>
            <a:off x="10222992" y="3840480"/>
            <a:ext cx="1417320" cy="822960"/>
          </a:xfrm>
          <a:prstGeom prst="rect">
            <a:avLst/>
          </a:prstGeom>
          <a:noFill/>
          <a:ln/>
        </p:spPr>
        <p:txBody>
          <a:bodyPr wrap="square" lIns="38100" tIns="38100" rIns="38100" bIns="38100" rtlCol="0" anchor="ctr"/>
          <a:lstStyle/>
          <a:p>
            <a:pPr algn="ctr" indent="0" marL="0">
              <a:buNone/>
            </a:pPr>
            <a:r>
              <a:rPr lang="en-US" sz="1200" dirty="0">
                <a:solidFill>
                  <a:srgbClr val="1F2933"/>
                </a:solidFill>
                <a:latin typeface="Calibri" pitchFamily="34" charset="0"/>
                <a:ea typeface="Calibri" pitchFamily="34" charset="-122"/>
                <a:cs typeface="Calibri" pitchFamily="34" charset="-120"/>
              </a:rPr>
              <a:t>Add practice attacks (learning part only)</a:t>
            </a:r>
            <a:endParaRPr lang="en-US" sz="1200" dirty="0"/>
          </a:p>
        </p:txBody>
      </p:sp>
      <p:sp>
        <p:nvSpPr>
          <p:cNvPr id="26" name="Shape 24"/>
          <p:cNvSpPr/>
          <p:nvPr/>
        </p:nvSpPr>
        <p:spPr>
          <a:xfrm>
            <a:off x="8092440" y="4251960"/>
            <a:ext cx="356616" cy="914"/>
          </a:xfrm>
          <a:prstGeom prst="line">
            <a:avLst/>
          </a:prstGeom>
          <a:noFill/>
          <a:ln w="19050">
            <a:solidFill>
              <a:srgbClr val="7A8793"/>
            </a:solidFill>
            <a:prstDash val="solid"/>
            <a:tailEnd type="triangle"/>
          </a:ln>
        </p:spPr>
      </p:sp>
      <p:sp>
        <p:nvSpPr>
          <p:cNvPr id="27" name="Shape 25"/>
          <p:cNvSpPr/>
          <p:nvPr/>
        </p:nvSpPr>
        <p:spPr>
          <a:xfrm>
            <a:off x="9866376" y="4251960"/>
            <a:ext cx="356616" cy="914"/>
          </a:xfrm>
          <a:prstGeom prst="line">
            <a:avLst/>
          </a:prstGeom>
          <a:noFill/>
          <a:ln w="19050">
            <a:solidFill>
              <a:srgbClr val="7A8793"/>
            </a:solidFill>
            <a:prstDash val="solid"/>
            <a:tailEnd type="triangle"/>
          </a:ln>
        </p:spPr>
      </p:sp>
      <p:sp>
        <p:nvSpPr>
          <p:cNvPr id="28" name="Text 26"/>
          <p:cNvSpPr txBox="1"/>
          <p:nvPr/>
        </p:nvSpPr>
        <p:spPr>
          <a:xfrm>
            <a:off x="6675120" y="2651760"/>
            <a:ext cx="4965192" cy="320040"/>
          </a:xfrm>
          <a:prstGeom prst="rect">
            <a:avLst/>
          </a:prstGeom>
          <a:noFill/>
          <a:ln/>
        </p:spPr>
        <p:txBody>
          <a:bodyPr wrap="square" lIns="0" tIns="0" rIns="0" bIns="0" rtlCol="0" anchor="ctr"/>
          <a:lstStyle/>
          <a:p>
            <a:pPr indent="0" marL="0">
              <a:buNone/>
            </a:pPr>
            <a:r>
              <a:rPr lang="en-US" sz="1200" i="1" dirty="0">
                <a:solidFill>
                  <a:srgbClr val="EB6834"/>
                </a:solidFill>
                <a:latin typeface="Calibri" pitchFamily="34" charset="0"/>
                <a:ea typeface="Calibri" pitchFamily="34" charset="-122"/>
                <a:cs typeface="Calibri" pitchFamily="34" charset="-120"/>
              </a:rPr>
              <a:t>Test data leaks into learning</a:t>
            </a:r>
            <a:endParaRPr lang="en-US" sz="1200" dirty="0"/>
          </a:p>
        </p:txBody>
      </p:sp>
      <p:sp>
        <p:nvSpPr>
          <p:cNvPr id="29" name="Text 27"/>
          <p:cNvSpPr txBox="1"/>
          <p:nvPr/>
        </p:nvSpPr>
        <p:spPr>
          <a:xfrm>
            <a:off x="6675120" y="4754880"/>
            <a:ext cx="4965192" cy="320040"/>
          </a:xfrm>
          <a:prstGeom prst="rect">
            <a:avLst/>
          </a:prstGeom>
          <a:noFill/>
          <a:ln/>
        </p:spPr>
        <p:txBody>
          <a:bodyPr wrap="square" lIns="0" tIns="0" rIns="0" bIns="0" rtlCol="0" anchor="ctr"/>
          <a:lstStyle/>
          <a:p>
            <a:pPr indent="0" marL="0">
              <a:buNone/>
            </a:pPr>
            <a:r>
              <a:rPr lang="en-US" sz="1200" i="1" dirty="0">
                <a:solidFill>
                  <a:srgbClr val="0A7F2E"/>
                </a:solidFill>
                <a:latin typeface="Calibri" pitchFamily="34" charset="0"/>
                <a:ea typeface="Calibri" pitchFamily="34" charset="-122"/>
                <a:cs typeface="Calibri" pitchFamily="34" charset="-120"/>
              </a:rPr>
              <a:t>The test stays clean</a:t>
            </a:r>
            <a:endParaRPr lang="en-US" sz="1200" dirty="0"/>
          </a:p>
        </p:txBody>
      </p:sp>
      <p:sp>
        <p:nvSpPr>
          <p:cNvPr id="30" name="Text 28"/>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000" b="1" dirty="0">
                <a:solidFill>
                  <a:srgbClr val="16213E"/>
                </a:solidFill>
                <a:latin typeface="Calibri" pitchFamily="34" charset="0"/>
                <a:ea typeface="Calibri" pitchFamily="34" charset="-122"/>
                <a:cs typeface="Calibri" pitchFamily="34" charset="-120"/>
              </a:rPr>
              <a:t>Picking columns may peek at the test</a:t>
            </a:r>
            <a:endParaRPr lang="en-US" sz="3000" dirty="0"/>
          </a:p>
        </p:txBody>
      </p:sp>
      <p:sp>
        <p:nvSpPr>
          <p:cNvPr id="3" name="Text 1"/>
          <p:cNvSpPr txBox="1"/>
          <p:nvPr/>
        </p:nvSpPr>
        <p:spPr>
          <a:xfrm>
            <a:off x="548640" y="960120"/>
            <a:ext cx="11091672" cy="365760"/>
          </a:xfrm>
          <a:prstGeom prst="rect">
            <a:avLst/>
          </a:prstGeom>
          <a:noFill/>
          <a:ln/>
        </p:spPr>
        <p:txBody>
          <a:bodyPr wrap="square" lIns="0" tIns="0" rIns="0" bIns="0" rtlCol="0" anchor="ctr"/>
          <a:lstStyle/>
          <a:p>
            <a:pPr indent="0" marL="0">
              <a:buNone/>
            </a:pPr>
            <a:r>
              <a:rPr lang="en-US" sz="1500" dirty="0">
                <a:solidFill>
                  <a:srgbClr val="5B6770"/>
                </a:solidFill>
                <a:latin typeface="Calibri" pitchFamily="34" charset="0"/>
                <a:ea typeface="Calibri" pitchFamily="34" charset="-122"/>
                <a:cs typeface="Calibri" pitchFamily="34" charset="-120"/>
              </a:rPr>
              <a:t>Problem 2 of 5</a:t>
            </a:r>
            <a:endParaRPr lang="en-US" sz="1500" dirty="0"/>
          </a:p>
        </p:txBody>
      </p:sp>
      <p:sp>
        <p:nvSpPr>
          <p:cNvPr id="4" name="Text 2"/>
          <p:cNvSpPr txBox="1"/>
          <p:nvPr/>
        </p:nvSpPr>
        <p:spPr>
          <a:xfrm>
            <a:off x="548640" y="1508760"/>
            <a:ext cx="5669280" cy="274320"/>
          </a:xfrm>
          <a:prstGeom prst="rect">
            <a:avLst/>
          </a:prstGeom>
          <a:noFill/>
          <a:ln/>
        </p:spPr>
        <p:txBody>
          <a:bodyPr wrap="square" lIns="0" tIns="0" rIns="0" bIns="0" rtlCol="0" anchor="ctr"/>
          <a:lstStyle/>
          <a:p>
            <a:pPr indent="0" marL="0">
              <a:buNone/>
            </a:pPr>
            <a:r>
              <a:rPr lang="en-US" sz="1200" b="1" spc="100" kern="0" dirty="0">
                <a:solidFill>
                  <a:srgbClr val="16213E"/>
                </a:solidFill>
                <a:latin typeface="Calibri" pitchFamily="34" charset="0"/>
                <a:ea typeface="Calibri" pitchFamily="34" charset="-122"/>
                <a:cs typeface="Calibri" pitchFamily="34" charset="-120"/>
              </a:rPr>
              <a:t>WHAT THE STUDY DID</a:t>
            </a:r>
            <a:endParaRPr lang="en-US" sz="1200" dirty="0"/>
          </a:p>
        </p:txBody>
      </p:sp>
      <p:sp>
        <p:nvSpPr>
          <p:cNvPr id="5" name="Text 3"/>
          <p:cNvSpPr txBox="1"/>
          <p:nvPr/>
        </p:nvSpPr>
        <p:spPr>
          <a:xfrm>
            <a:off x="548640" y="1801368"/>
            <a:ext cx="5669280" cy="11887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They chose the 30 most useful columns by looking at the answers (normal or attack). The paper never says whether they used only the learning part to do this.</a:t>
            </a:r>
            <a:endParaRPr lang="en-US" sz="1500" dirty="0"/>
          </a:p>
        </p:txBody>
      </p:sp>
      <p:sp>
        <p:nvSpPr>
          <p:cNvPr id="6" name="Text 4"/>
          <p:cNvSpPr txBox="1"/>
          <p:nvPr/>
        </p:nvSpPr>
        <p:spPr>
          <a:xfrm>
            <a:off x="548640" y="3081528"/>
            <a:ext cx="5669280" cy="274320"/>
          </a:xfrm>
          <a:prstGeom prst="rect">
            <a:avLst/>
          </a:prstGeom>
          <a:noFill/>
          <a:ln/>
        </p:spPr>
        <p:txBody>
          <a:bodyPr wrap="square" lIns="0" tIns="0" rIns="0" bIns="0" rtlCol="0" anchor="ctr"/>
          <a:lstStyle/>
          <a:p>
            <a:pPr indent="0" marL="0">
              <a:buNone/>
            </a:pPr>
            <a:r>
              <a:rPr lang="en-US" sz="1200" b="1" spc="100" kern="0" dirty="0">
                <a:solidFill>
                  <a:srgbClr val="EB6834"/>
                </a:solidFill>
                <a:latin typeface="Calibri" pitchFamily="34" charset="0"/>
                <a:ea typeface="Calibri" pitchFamily="34" charset="-122"/>
                <a:cs typeface="Calibri" pitchFamily="34" charset="-120"/>
              </a:rPr>
              <a:t>WHY IT'S A PROBLEM</a:t>
            </a:r>
            <a:endParaRPr lang="en-US" sz="1200" dirty="0"/>
          </a:p>
        </p:txBody>
      </p:sp>
      <p:sp>
        <p:nvSpPr>
          <p:cNvPr id="7" name="Text 5"/>
          <p:cNvSpPr txBox="1"/>
          <p:nvPr/>
        </p:nvSpPr>
        <p:spPr>
          <a:xfrm>
            <a:off x="548640" y="3374136"/>
            <a:ext cx="5669280" cy="11887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If the test part helps choose the columns, the columns get picked to do well on that very test. It's a quieter kind of peeking.</a:t>
            </a:r>
            <a:endParaRPr lang="en-US" sz="1500" dirty="0"/>
          </a:p>
        </p:txBody>
      </p:sp>
      <p:sp>
        <p:nvSpPr>
          <p:cNvPr id="8" name="Text 6"/>
          <p:cNvSpPr txBox="1"/>
          <p:nvPr/>
        </p:nvSpPr>
        <p:spPr>
          <a:xfrm>
            <a:off x="548640" y="4654296"/>
            <a:ext cx="5669280" cy="274320"/>
          </a:xfrm>
          <a:prstGeom prst="rect">
            <a:avLst/>
          </a:prstGeom>
          <a:noFill/>
          <a:ln/>
        </p:spPr>
        <p:txBody>
          <a:bodyPr wrap="square" lIns="0" tIns="0" rIns="0" bIns="0" rtlCol="0" anchor="ctr"/>
          <a:lstStyle/>
          <a:p>
            <a:pPr indent="0" marL="0">
              <a:buNone/>
            </a:pPr>
            <a:r>
              <a:rPr lang="en-US" sz="1200" b="1" spc="100" kern="0" dirty="0">
                <a:solidFill>
                  <a:srgbClr val="0A7F2E"/>
                </a:solidFill>
                <a:latin typeface="Calibri" pitchFamily="34" charset="0"/>
                <a:ea typeface="Calibri" pitchFamily="34" charset="-122"/>
                <a:cs typeface="Calibri" pitchFamily="34" charset="-120"/>
              </a:rPr>
              <a:t>WHAT WE DO</a:t>
            </a:r>
            <a:endParaRPr lang="en-US" sz="1200" dirty="0"/>
          </a:p>
        </p:txBody>
      </p:sp>
      <p:sp>
        <p:nvSpPr>
          <p:cNvPr id="9" name="Text 7"/>
          <p:cNvSpPr txBox="1"/>
          <p:nvPr/>
        </p:nvSpPr>
        <p:spPr>
          <a:xfrm>
            <a:off x="548640" y="4946904"/>
            <a:ext cx="5669280" cy="11887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Our own version has the same problem, and we say so openly. Next, we will pick columns using the learning part only.</a:t>
            </a:r>
            <a:endParaRPr lang="en-US" sz="1500" dirty="0"/>
          </a:p>
        </p:txBody>
      </p:sp>
      <p:sp>
        <p:nvSpPr>
          <p:cNvPr id="10" name="Shape 8"/>
          <p:cNvSpPr/>
          <p:nvPr/>
        </p:nvSpPr>
        <p:spPr>
          <a:xfrm>
            <a:off x="6675120" y="1508760"/>
            <a:ext cx="4965192" cy="4297680"/>
          </a:xfrm>
          <a:prstGeom prst="roundRect">
            <a:avLst>
              <a:gd name="adj" fmla="val 1702"/>
            </a:avLst>
          </a:prstGeom>
          <a:solidFill>
            <a:srgbClr val="EEF3FA"/>
          </a:solidFill>
          <a:ln w="12700">
            <a:solidFill>
              <a:srgbClr val="EEF3FA"/>
            </a:solidFill>
            <a:prstDash val="solid"/>
          </a:ln>
        </p:spPr>
      </p:sp>
      <p:sp>
        <p:nvSpPr>
          <p:cNvPr id="11" name="Text 9"/>
          <p:cNvSpPr txBox="1"/>
          <p:nvPr/>
        </p:nvSpPr>
        <p:spPr>
          <a:xfrm>
            <a:off x="6675120" y="1737360"/>
            <a:ext cx="4965192" cy="1463040"/>
          </a:xfrm>
          <a:prstGeom prst="rect">
            <a:avLst/>
          </a:prstGeom>
          <a:noFill/>
          <a:ln/>
        </p:spPr>
        <p:txBody>
          <a:bodyPr wrap="square" lIns="0" tIns="0" rIns="0" bIns="0" rtlCol="0" anchor="ctr"/>
          <a:lstStyle/>
          <a:p>
            <a:pPr algn="ctr" indent="0" marL="0">
              <a:buNone/>
            </a:pPr>
            <a:r>
              <a:rPr lang="en-US" sz="9600" b="1" dirty="0">
                <a:solidFill>
                  <a:srgbClr val="EB6834"/>
                </a:solidFill>
                <a:latin typeface="Calibri" pitchFamily="34" charset="0"/>
                <a:ea typeface="Calibri" pitchFamily="34" charset="-122"/>
                <a:cs typeface="Calibri" pitchFamily="34" charset="-120"/>
              </a:rPr>
              <a:t>?</a:t>
            </a:r>
            <a:endParaRPr lang="en-US" sz="9600" dirty="0"/>
          </a:p>
        </p:txBody>
      </p:sp>
      <p:sp>
        <p:nvSpPr>
          <p:cNvPr id="12" name="Text 10"/>
          <p:cNvSpPr txBox="1"/>
          <p:nvPr/>
        </p:nvSpPr>
        <p:spPr>
          <a:xfrm>
            <a:off x="7040880" y="3291840"/>
            <a:ext cx="4233672" cy="457200"/>
          </a:xfrm>
          <a:prstGeom prst="rect">
            <a:avLst/>
          </a:prstGeom>
          <a:noFill/>
          <a:ln/>
        </p:spPr>
        <p:txBody>
          <a:bodyPr wrap="square" lIns="0" tIns="0" rIns="0" bIns="0" rtlCol="0" anchor="ctr"/>
          <a:lstStyle/>
          <a:p>
            <a:pPr algn="ctr" indent="0" marL="0">
              <a:buNone/>
            </a:pPr>
            <a:r>
              <a:rPr lang="en-US" sz="2000" b="1" dirty="0">
                <a:solidFill>
                  <a:srgbClr val="16213E"/>
                </a:solidFill>
                <a:latin typeface="Calibri" pitchFamily="34" charset="0"/>
                <a:ea typeface="Calibri" pitchFamily="34" charset="-122"/>
                <a:cs typeface="Calibri" pitchFamily="34" charset="-120"/>
              </a:rPr>
              <a:t>Which data did they use?</a:t>
            </a:r>
            <a:endParaRPr lang="en-US" sz="2000" dirty="0"/>
          </a:p>
        </p:txBody>
      </p:sp>
      <p:sp>
        <p:nvSpPr>
          <p:cNvPr id="13" name="Text 11"/>
          <p:cNvSpPr txBox="1"/>
          <p:nvPr/>
        </p:nvSpPr>
        <p:spPr>
          <a:xfrm>
            <a:off x="7040880" y="3840480"/>
            <a:ext cx="4233672" cy="1737360"/>
          </a:xfrm>
          <a:prstGeom prst="rect">
            <a:avLst/>
          </a:prstGeom>
          <a:noFill/>
          <a:ln/>
        </p:spPr>
        <p:txBody>
          <a:bodyPr wrap="square" lIns="0" tIns="0" rIns="0" bIns="0" rtlCol="0" anchor="t"/>
          <a:lstStyle/>
          <a:p>
            <a:pPr algn="ctr" indent="0" marL="0">
              <a:buNone/>
            </a:pPr>
            <a:r>
              <a:rPr lang="en-US" sz="1500" dirty="0">
                <a:solidFill>
                  <a:srgbClr val="1F2933"/>
                </a:solidFill>
                <a:latin typeface="Calibri" pitchFamily="34" charset="0"/>
                <a:ea typeface="Calibri" pitchFamily="34" charset="-122"/>
                <a:cs typeface="Calibri" pitchFamily="34" charset="-120"/>
              </a:rPr>
              <a:t>The paper doesn't say. If the test answers helped pick the columns, the test is no longer a fair surprise.</a:t>
            </a:r>
            <a:endParaRPr lang="en-US" sz="1500" dirty="0"/>
          </a:p>
        </p:txBody>
      </p:sp>
      <p:sp>
        <p:nvSpPr>
          <p:cNvPr id="14" name="Text 12"/>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000" b="1" dirty="0">
                <a:solidFill>
                  <a:srgbClr val="16213E"/>
                </a:solidFill>
                <a:latin typeface="Calibri" pitchFamily="34" charset="0"/>
                <a:ea typeface="Calibri" pitchFamily="34" charset="-122"/>
                <a:cs typeface="Calibri" pitchFamily="34" charset="-120"/>
              </a:rPr>
              <a:t>NSL-KDD: the official test was not used</a:t>
            </a:r>
            <a:endParaRPr lang="en-US" sz="3000" dirty="0"/>
          </a:p>
        </p:txBody>
      </p:sp>
      <p:sp>
        <p:nvSpPr>
          <p:cNvPr id="3" name="Text 1"/>
          <p:cNvSpPr txBox="1"/>
          <p:nvPr/>
        </p:nvSpPr>
        <p:spPr>
          <a:xfrm>
            <a:off x="548640" y="960120"/>
            <a:ext cx="11091672" cy="365760"/>
          </a:xfrm>
          <a:prstGeom prst="rect">
            <a:avLst/>
          </a:prstGeom>
          <a:noFill/>
          <a:ln/>
        </p:spPr>
        <p:txBody>
          <a:bodyPr wrap="square" lIns="0" tIns="0" rIns="0" bIns="0" rtlCol="0" anchor="ctr"/>
          <a:lstStyle/>
          <a:p>
            <a:pPr indent="0" marL="0">
              <a:buNone/>
            </a:pPr>
            <a:r>
              <a:rPr lang="en-US" sz="1500" dirty="0">
                <a:solidFill>
                  <a:srgbClr val="5B6770"/>
                </a:solidFill>
                <a:latin typeface="Calibri" pitchFamily="34" charset="0"/>
                <a:ea typeface="Calibri" pitchFamily="34" charset="-122"/>
                <a:cs typeface="Calibri" pitchFamily="34" charset="-120"/>
              </a:rPr>
              <a:t>Problem 3 of 5</a:t>
            </a:r>
            <a:endParaRPr lang="en-US" sz="1500" dirty="0"/>
          </a:p>
        </p:txBody>
      </p:sp>
      <p:sp>
        <p:nvSpPr>
          <p:cNvPr id="4" name="Text 2"/>
          <p:cNvSpPr txBox="1"/>
          <p:nvPr/>
        </p:nvSpPr>
        <p:spPr>
          <a:xfrm>
            <a:off x="548640" y="1508760"/>
            <a:ext cx="5669280" cy="274320"/>
          </a:xfrm>
          <a:prstGeom prst="rect">
            <a:avLst/>
          </a:prstGeom>
          <a:noFill/>
          <a:ln/>
        </p:spPr>
        <p:txBody>
          <a:bodyPr wrap="square" lIns="0" tIns="0" rIns="0" bIns="0" rtlCol="0" anchor="ctr"/>
          <a:lstStyle/>
          <a:p>
            <a:pPr indent="0" marL="0">
              <a:buNone/>
            </a:pPr>
            <a:r>
              <a:rPr lang="en-US" sz="1200" b="1" spc="100" kern="0" dirty="0">
                <a:solidFill>
                  <a:srgbClr val="16213E"/>
                </a:solidFill>
                <a:latin typeface="Calibri" pitchFamily="34" charset="0"/>
                <a:ea typeface="Calibri" pitchFamily="34" charset="-122"/>
                <a:cs typeface="Calibri" pitchFamily="34" charset="-120"/>
              </a:rPr>
              <a:t>WHAT THE STUDY DID</a:t>
            </a:r>
            <a:endParaRPr lang="en-US" sz="1200" dirty="0"/>
          </a:p>
        </p:txBody>
      </p:sp>
      <p:sp>
        <p:nvSpPr>
          <p:cNvPr id="5" name="Text 3"/>
          <p:cNvSpPr txBox="1"/>
          <p:nvPr/>
        </p:nvSpPr>
        <p:spPr>
          <a:xfrm>
            <a:off x="548640" y="1801368"/>
            <a:ext cx="5669280" cy="11887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NSL-KDD comes with its own official test file. The study didn't use it. It shuffled the data and split it randomly instead.</a:t>
            </a:r>
            <a:endParaRPr lang="en-US" sz="1500" dirty="0"/>
          </a:p>
        </p:txBody>
      </p:sp>
      <p:sp>
        <p:nvSpPr>
          <p:cNvPr id="6" name="Text 4"/>
          <p:cNvSpPr txBox="1"/>
          <p:nvPr/>
        </p:nvSpPr>
        <p:spPr>
          <a:xfrm>
            <a:off x="548640" y="3081528"/>
            <a:ext cx="5669280" cy="274320"/>
          </a:xfrm>
          <a:prstGeom prst="rect">
            <a:avLst/>
          </a:prstGeom>
          <a:noFill/>
          <a:ln/>
        </p:spPr>
        <p:txBody>
          <a:bodyPr wrap="square" lIns="0" tIns="0" rIns="0" bIns="0" rtlCol="0" anchor="ctr"/>
          <a:lstStyle/>
          <a:p>
            <a:pPr indent="0" marL="0">
              <a:buNone/>
            </a:pPr>
            <a:r>
              <a:rPr lang="en-US" sz="1200" b="1" spc="100" kern="0" dirty="0">
                <a:solidFill>
                  <a:srgbClr val="EB6834"/>
                </a:solidFill>
                <a:latin typeface="Calibri" pitchFamily="34" charset="0"/>
                <a:ea typeface="Calibri" pitchFamily="34" charset="-122"/>
                <a:cs typeface="Calibri" pitchFamily="34" charset="-120"/>
              </a:rPr>
              <a:t>WHY IT'S A PROBLEM</a:t>
            </a:r>
            <a:endParaRPr lang="en-US" sz="1200" dirty="0"/>
          </a:p>
        </p:txBody>
      </p:sp>
      <p:sp>
        <p:nvSpPr>
          <p:cNvPr id="7" name="Text 5"/>
          <p:cNvSpPr txBox="1"/>
          <p:nvPr/>
        </p:nvSpPr>
        <p:spPr>
          <a:xfrm>
            <a:off x="548640" y="3374136"/>
            <a:ext cx="5669280" cy="11887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The official test has new kinds of attacks, on purpose, just like hackers using new tricks. A random split puts every attack type in both parts, so the model is only tested on attacks it has already seen.</a:t>
            </a:r>
            <a:endParaRPr lang="en-US" sz="1500" dirty="0"/>
          </a:p>
        </p:txBody>
      </p:sp>
      <p:sp>
        <p:nvSpPr>
          <p:cNvPr id="8" name="Text 6"/>
          <p:cNvSpPr txBox="1"/>
          <p:nvPr/>
        </p:nvSpPr>
        <p:spPr>
          <a:xfrm>
            <a:off x="548640" y="4654296"/>
            <a:ext cx="5669280" cy="274320"/>
          </a:xfrm>
          <a:prstGeom prst="rect">
            <a:avLst/>
          </a:prstGeom>
          <a:noFill/>
          <a:ln/>
        </p:spPr>
        <p:txBody>
          <a:bodyPr wrap="square" lIns="0" tIns="0" rIns="0" bIns="0" rtlCol="0" anchor="ctr"/>
          <a:lstStyle/>
          <a:p>
            <a:pPr indent="0" marL="0">
              <a:buNone/>
            </a:pPr>
            <a:r>
              <a:rPr lang="en-US" sz="1200" b="1" spc="100" kern="0" dirty="0">
                <a:solidFill>
                  <a:srgbClr val="0A7F2E"/>
                </a:solidFill>
                <a:latin typeface="Calibri" pitchFamily="34" charset="0"/>
                <a:ea typeface="Calibri" pitchFamily="34" charset="-122"/>
                <a:cs typeface="Calibri" pitchFamily="34" charset="-120"/>
              </a:rPr>
              <a:t>WHAT WE DO</a:t>
            </a:r>
            <a:endParaRPr lang="en-US" sz="1200" dirty="0"/>
          </a:p>
        </p:txBody>
      </p:sp>
      <p:sp>
        <p:nvSpPr>
          <p:cNvPr id="9" name="Text 7"/>
          <p:cNvSpPr txBox="1"/>
          <p:nvPr/>
        </p:nvSpPr>
        <p:spPr>
          <a:xfrm>
            <a:off x="548640" y="4946904"/>
            <a:ext cx="5669280" cy="11887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Our version did the same random split, so our 99.60% is too high as well. Next, we will learn only from the official learning file and test on the official test files.</a:t>
            </a:r>
            <a:endParaRPr lang="en-US" sz="1500" dirty="0"/>
          </a:p>
        </p:txBody>
      </p:sp>
      <p:sp>
        <p:nvSpPr>
          <p:cNvPr id="10" name="Text 8"/>
          <p:cNvSpPr txBox="1"/>
          <p:nvPr/>
        </p:nvSpPr>
        <p:spPr>
          <a:xfrm>
            <a:off x="6675120" y="1508760"/>
            <a:ext cx="4965192" cy="365760"/>
          </a:xfrm>
          <a:prstGeom prst="rect">
            <a:avLst/>
          </a:prstGeom>
          <a:noFill/>
          <a:ln/>
        </p:spPr>
        <p:txBody>
          <a:bodyPr wrap="square" lIns="0" tIns="0" rIns="0" bIns="0"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Attack types that appear only in the test</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75120" y="1920240"/>
          <a:ext cx="4965192" cy="914400"/>
        </p:xfrm>
        <a:graphic>
          <a:graphicData uri="http://schemas.openxmlformats.org/drawingml/2006/table">
            <a:tbl>
              <a:tblPr/>
              <a:tblGrid>
                <a:gridCol w="1856232"/>
                <a:gridCol w="1554480"/>
                <a:gridCol w="1554480"/>
              </a:tblGrid>
              <a:tr h="365760">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Attack</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A"/>
                    </a:solidFill>
                  </a:tcPr>
                </a:tc>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In learning file</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A"/>
                    </a:solidFill>
                  </a:tcPr>
                </a:tc>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In test file</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A"/>
                    </a:solidFill>
                  </a:tcPr>
                </a:tc>
              </a:tr>
              <a:tr h="36576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mscan</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996</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36576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apache2</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737</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36576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processtable</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685</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36576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snmpguess</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331</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36576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saint</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319</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36576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mailbomb</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293</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bl>
          </a:graphicData>
        </a:graphic>
      </p:graphicFrame>
      <p:sp>
        <p:nvSpPr>
          <p:cNvPr id="12" name="Shape 9"/>
          <p:cNvSpPr/>
          <p:nvPr/>
        </p:nvSpPr>
        <p:spPr>
          <a:xfrm>
            <a:off x="6675120" y="4663440"/>
            <a:ext cx="4965192" cy="1188720"/>
          </a:xfrm>
          <a:prstGeom prst="roundRect">
            <a:avLst>
              <a:gd name="adj" fmla="val 6154"/>
            </a:avLst>
          </a:prstGeom>
          <a:solidFill>
            <a:srgbClr val="FDE7DD"/>
          </a:solidFill>
          <a:ln w="12700">
            <a:solidFill>
              <a:srgbClr val="FDE7DD"/>
            </a:solidFill>
            <a:prstDash val="solid"/>
          </a:ln>
        </p:spPr>
      </p:sp>
      <p:sp>
        <p:nvSpPr>
          <p:cNvPr id="13" name="Text 10"/>
          <p:cNvSpPr txBox="1"/>
          <p:nvPr/>
        </p:nvSpPr>
        <p:spPr>
          <a:xfrm>
            <a:off x="6949440" y="4754880"/>
            <a:ext cx="4416552" cy="1005840"/>
          </a:xfrm>
          <a:prstGeom prst="rect">
            <a:avLst/>
          </a:prstGeom>
          <a:noFill/>
          <a:ln/>
        </p:spPr>
        <p:txBody>
          <a:bodyPr wrap="square" lIns="0" tIns="0" rIns="0" bIns="0" rtlCol="0" anchor="ctr"/>
          <a:lstStyle/>
          <a:p>
            <a:pPr indent="0" marL="0">
              <a:buNone/>
            </a:pPr>
            <a:r>
              <a:rPr lang="en-US" sz="1500" b="1" dirty="0">
                <a:solidFill>
                  <a:srgbClr val="EB6834"/>
                </a:solidFill>
                <a:latin typeface="Calibri" pitchFamily="34" charset="0"/>
                <a:ea typeface="Calibri" pitchFamily="34" charset="-122"/>
                <a:cs typeface="Calibri" pitchFamily="34" charset="-120"/>
              </a:rPr>
              <a:t>17 attack types</a:t>
            </a:r>
            <a:pPr indent="0" marL="0">
              <a:buNone/>
            </a:pPr>
            <a:r>
              <a:rPr lang="en-US" sz="1500" dirty="0">
                <a:solidFill>
                  <a:srgbClr val="1F2933"/>
                </a:solidFill>
                <a:latin typeface="Calibri" pitchFamily="34" charset="0"/>
                <a:ea typeface="Calibri" pitchFamily="34" charset="-122"/>
                <a:cs typeface="Calibri" pitchFamily="34" charset="-120"/>
              </a:rPr>
              <a:t> and 3,750 test rows (16.6%) are brand new at test time</a:t>
            </a:r>
            <a:endParaRPr lang="en-US" sz="1500" dirty="0"/>
          </a:p>
        </p:txBody>
      </p:sp>
      <p:sp>
        <p:nvSpPr>
          <p:cNvPr id="14" name="Text 11"/>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000" b="1" dirty="0">
                <a:solidFill>
                  <a:srgbClr val="16213E"/>
                </a:solidFill>
                <a:latin typeface="Calibri" pitchFamily="34" charset="0"/>
                <a:ea typeface="Calibri" pitchFamily="34" charset="-122"/>
                <a:cs typeface="Calibri" pitchFamily="34" charset="-120"/>
              </a:rPr>
              <a:t>The paper describes two different setups</a:t>
            </a:r>
            <a:endParaRPr lang="en-US" sz="3000" dirty="0"/>
          </a:p>
        </p:txBody>
      </p:sp>
      <p:sp>
        <p:nvSpPr>
          <p:cNvPr id="3" name="Text 1"/>
          <p:cNvSpPr txBox="1"/>
          <p:nvPr/>
        </p:nvSpPr>
        <p:spPr>
          <a:xfrm>
            <a:off x="548640" y="960120"/>
            <a:ext cx="11091672" cy="365760"/>
          </a:xfrm>
          <a:prstGeom prst="rect">
            <a:avLst/>
          </a:prstGeom>
          <a:noFill/>
          <a:ln/>
        </p:spPr>
        <p:txBody>
          <a:bodyPr wrap="square" lIns="0" tIns="0" rIns="0" bIns="0" rtlCol="0" anchor="ctr"/>
          <a:lstStyle/>
          <a:p>
            <a:pPr indent="0" marL="0">
              <a:buNone/>
            </a:pPr>
            <a:r>
              <a:rPr lang="en-US" sz="1500" dirty="0">
                <a:solidFill>
                  <a:srgbClr val="5B6770"/>
                </a:solidFill>
                <a:latin typeface="Calibri" pitchFamily="34" charset="0"/>
                <a:ea typeface="Calibri" pitchFamily="34" charset="-122"/>
                <a:cs typeface="Calibri" pitchFamily="34" charset="-120"/>
              </a:rPr>
              <a:t>Problem 4 of 5</a:t>
            </a:r>
            <a:endParaRPr lang="en-US" sz="1500" dirty="0"/>
          </a:p>
        </p:txBody>
      </p:sp>
      <p:sp>
        <p:nvSpPr>
          <p:cNvPr id="4" name="Text 2"/>
          <p:cNvSpPr txBox="1"/>
          <p:nvPr/>
        </p:nvSpPr>
        <p:spPr>
          <a:xfrm>
            <a:off x="548640" y="1508760"/>
            <a:ext cx="5669280" cy="274320"/>
          </a:xfrm>
          <a:prstGeom prst="rect">
            <a:avLst/>
          </a:prstGeom>
          <a:noFill/>
          <a:ln/>
        </p:spPr>
        <p:txBody>
          <a:bodyPr wrap="square" lIns="0" tIns="0" rIns="0" bIns="0" rtlCol="0" anchor="ctr"/>
          <a:lstStyle/>
          <a:p>
            <a:pPr indent="0" marL="0">
              <a:buNone/>
            </a:pPr>
            <a:r>
              <a:rPr lang="en-US" sz="1200" b="1" spc="100" kern="0" dirty="0">
                <a:solidFill>
                  <a:srgbClr val="16213E"/>
                </a:solidFill>
                <a:latin typeface="Calibri" pitchFamily="34" charset="0"/>
                <a:ea typeface="Calibri" pitchFamily="34" charset="-122"/>
                <a:cs typeface="Calibri" pitchFamily="34" charset="-120"/>
              </a:rPr>
              <a:t>WHAT THE STUDY DID</a:t>
            </a:r>
            <a:endParaRPr lang="en-US" sz="1200" dirty="0"/>
          </a:p>
        </p:txBody>
      </p:sp>
      <p:sp>
        <p:nvSpPr>
          <p:cNvPr id="5" name="Text 3"/>
          <p:cNvSpPr txBox="1"/>
          <p:nvPr/>
        </p:nvSpPr>
        <p:spPr>
          <a:xfrm>
            <a:off x="548640" y="1801368"/>
            <a:ext cx="5669280" cy="11887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The text says 70% of the data was used for learning. The step-by-step description (Algorithm 1) says 80%, and lists unusual settings.</a:t>
            </a:r>
            <a:endParaRPr lang="en-US" sz="1500" dirty="0"/>
          </a:p>
        </p:txBody>
      </p:sp>
      <p:sp>
        <p:nvSpPr>
          <p:cNvPr id="6" name="Text 4"/>
          <p:cNvSpPr txBox="1"/>
          <p:nvPr/>
        </p:nvSpPr>
        <p:spPr>
          <a:xfrm>
            <a:off x="548640" y="3081528"/>
            <a:ext cx="5669280" cy="274320"/>
          </a:xfrm>
          <a:prstGeom prst="rect">
            <a:avLst/>
          </a:prstGeom>
          <a:noFill/>
          <a:ln/>
        </p:spPr>
        <p:txBody>
          <a:bodyPr wrap="square" lIns="0" tIns="0" rIns="0" bIns="0" rtlCol="0" anchor="ctr"/>
          <a:lstStyle/>
          <a:p>
            <a:pPr indent="0" marL="0">
              <a:buNone/>
            </a:pPr>
            <a:r>
              <a:rPr lang="en-US" sz="1200" b="1" spc="100" kern="0" dirty="0">
                <a:solidFill>
                  <a:srgbClr val="EB6834"/>
                </a:solidFill>
                <a:latin typeface="Calibri" pitchFamily="34" charset="0"/>
                <a:ea typeface="Calibri" pitchFamily="34" charset="-122"/>
                <a:cs typeface="Calibri" pitchFamily="34" charset="-120"/>
              </a:rPr>
              <a:t>WHY IT'S A PROBLEM</a:t>
            </a:r>
            <a:endParaRPr lang="en-US" sz="1200" dirty="0"/>
          </a:p>
        </p:txBody>
      </p:sp>
      <p:sp>
        <p:nvSpPr>
          <p:cNvPr id="7" name="Text 5"/>
          <p:cNvSpPr txBox="1"/>
          <p:nvPr/>
        </p:nvSpPr>
        <p:spPr>
          <a:xfrm>
            <a:off x="548640" y="3374136"/>
            <a:ext cx="5669280" cy="11887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We can't tell which setup made their numbers. That makes it impossible to copy their work exactly.</a:t>
            </a:r>
            <a:endParaRPr lang="en-US" sz="1500" dirty="0"/>
          </a:p>
        </p:txBody>
      </p:sp>
      <p:sp>
        <p:nvSpPr>
          <p:cNvPr id="8" name="Text 6"/>
          <p:cNvSpPr txBox="1"/>
          <p:nvPr/>
        </p:nvSpPr>
        <p:spPr>
          <a:xfrm>
            <a:off x="548640" y="4654296"/>
            <a:ext cx="5669280" cy="274320"/>
          </a:xfrm>
          <a:prstGeom prst="rect">
            <a:avLst/>
          </a:prstGeom>
          <a:noFill/>
          <a:ln/>
        </p:spPr>
        <p:txBody>
          <a:bodyPr wrap="square" lIns="0" tIns="0" rIns="0" bIns="0" rtlCol="0" anchor="ctr"/>
          <a:lstStyle/>
          <a:p>
            <a:pPr indent="0" marL="0">
              <a:buNone/>
            </a:pPr>
            <a:r>
              <a:rPr lang="en-US" sz="1200" b="1" spc="100" kern="0" dirty="0">
                <a:solidFill>
                  <a:srgbClr val="0A7F2E"/>
                </a:solidFill>
                <a:latin typeface="Calibri" pitchFamily="34" charset="0"/>
                <a:ea typeface="Calibri" pitchFamily="34" charset="-122"/>
                <a:cs typeface="Calibri" pitchFamily="34" charset="-120"/>
              </a:rPr>
              <a:t>WHAT WE DO</a:t>
            </a:r>
            <a:endParaRPr lang="en-US" sz="1200" dirty="0"/>
          </a:p>
        </p:txBody>
      </p:sp>
      <p:sp>
        <p:nvSpPr>
          <p:cNvPr id="9" name="Text 7"/>
          <p:cNvSpPr txBox="1"/>
          <p:nvPr/>
        </p:nvSpPr>
        <p:spPr>
          <a:xfrm>
            <a:off x="548640" y="4946904"/>
            <a:ext cx="5669280" cy="11887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We use the 70/30 split from the text with standard settings, and we write down every choice we make.</a:t>
            </a:r>
            <a:endParaRPr lang="en-US" sz="1500" dirty="0"/>
          </a:p>
        </p:txBody>
      </p:sp>
      <p:sp>
        <p:nvSpPr>
          <p:cNvPr id="10" name="Text 8"/>
          <p:cNvSpPr txBox="1"/>
          <p:nvPr/>
        </p:nvSpPr>
        <p:spPr>
          <a:xfrm>
            <a:off x="6675120" y="1508760"/>
            <a:ext cx="4965192" cy="365760"/>
          </a:xfrm>
          <a:prstGeom prst="rect">
            <a:avLst/>
          </a:prstGeom>
          <a:noFill/>
          <a:ln/>
        </p:spPr>
        <p:txBody>
          <a:bodyPr wrap="square" lIns="0" tIns="0" rIns="0" bIns="0" rtlCol="0" anchor="ctr"/>
          <a:lstStyle/>
          <a:p>
            <a:pPr indent="0" marL="0">
              <a:buNone/>
            </a:pPr>
            <a:r>
              <a:rPr lang="en-US" sz="1500" b="1" dirty="0">
                <a:solidFill>
                  <a:srgbClr val="16213E"/>
                </a:solidFill>
                <a:latin typeface="Calibri" pitchFamily="34" charset="0"/>
                <a:ea typeface="Calibri" pitchFamily="34" charset="-122"/>
                <a:cs typeface="Calibri" pitchFamily="34" charset="-120"/>
              </a:rPr>
              <a:t>Two descriptions of one experiment</a:t>
            </a:r>
            <a:endParaRPr 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75120" y="1920240"/>
          <a:ext cx="4965192" cy="914400"/>
        </p:xfrm>
        <a:graphic>
          <a:graphicData uri="http://schemas.openxmlformats.org/drawingml/2006/table">
            <a:tbl>
              <a:tblPr/>
              <a:tblGrid>
                <a:gridCol w="1764792"/>
                <a:gridCol w="1371600"/>
                <a:gridCol w="1828800"/>
              </a:tblGrid>
              <a:tr h="411480">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Setting</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A"/>
                    </a:solidFill>
                  </a:tcPr>
                </a:tc>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Text says</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A"/>
                    </a:solidFill>
                  </a:tcPr>
                </a:tc>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Algorithm 1 says</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A"/>
                    </a:solidFill>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Learn / test split</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70 / 30</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b="1" dirty="0">
                          <a:solidFill>
                            <a:srgbClr val="EB6834"/>
                          </a:solidFill>
                          <a:latin typeface="Calibri" pitchFamily="34" charset="0"/>
                          <a:ea typeface="Calibri" pitchFamily="34" charset="-122"/>
                          <a:cs typeface="Calibri" pitchFamily="34" charset="-120"/>
                        </a:rPr>
                        <a:t>80 / 20</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Learning speed</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b="1" dirty="0">
                          <a:solidFill>
                            <a:srgbClr val="EB6834"/>
                          </a:solidFill>
                          <a:latin typeface="Calibri" pitchFamily="34" charset="0"/>
                          <a:ea typeface="Calibri" pitchFamily="34" charset="-122"/>
                          <a:cs typeface="Calibri" pitchFamily="34" charset="-120"/>
                        </a:rPr>
                        <a:t>1.0 (very high)</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Tree depth</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b="1" dirty="0">
                          <a:solidFill>
                            <a:srgbClr val="EB6834"/>
                          </a:solidFill>
                          <a:latin typeface="Calibri" pitchFamily="34" charset="0"/>
                          <a:ea typeface="Calibri" pitchFamily="34" charset="-122"/>
                          <a:cs typeface="Calibri" pitchFamily="34" charset="-120"/>
                        </a:rPr>
                        <a:t>4 (very shallow)</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Number of trees</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bl>
          </a:graphicData>
        </a:graphic>
      </p:graphicFrame>
      <p:sp>
        <p:nvSpPr>
          <p:cNvPr id="12" name="Text 9"/>
          <p:cNvSpPr txBox="1"/>
          <p:nvPr/>
        </p:nvSpPr>
        <p:spPr>
          <a:xfrm>
            <a:off x="6675120" y="4114800"/>
            <a:ext cx="4965192" cy="320040"/>
          </a:xfrm>
          <a:prstGeom prst="rect">
            <a:avLst/>
          </a:prstGeom>
          <a:noFill/>
          <a:ln/>
        </p:spPr>
        <p:txBody>
          <a:bodyPr wrap="square" lIns="0" tIns="0" rIns="0" bIns="0" rtlCol="0" anchor="ctr"/>
          <a:lstStyle/>
          <a:p>
            <a:pPr indent="0" marL="0">
              <a:buNone/>
            </a:pPr>
            <a:r>
              <a:rPr lang="en-US" sz="1200" dirty="0">
                <a:solidFill>
                  <a:srgbClr val="5B6770"/>
                </a:solidFill>
                <a:latin typeface="Calibri" pitchFamily="34" charset="0"/>
                <a:ea typeface="Calibri" pitchFamily="34" charset="-122"/>
                <a:cs typeface="Calibri" pitchFamily="34" charset="-120"/>
              </a:rPr>
              <a:t>"—" means the text doesn't mention it.</a:t>
            </a:r>
            <a:endParaRPr lang="en-US" sz="1200" dirty="0"/>
          </a:p>
        </p:txBody>
      </p:sp>
      <p:sp>
        <p:nvSpPr>
          <p:cNvPr id="13" name="Text 10"/>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000" b="1" dirty="0">
                <a:solidFill>
                  <a:srgbClr val="16213E"/>
                </a:solidFill>
                <a:latin typeface="Calibri" pitchFamily="34" charset="0"/>
                <a:ea typeface="Calibri" pitchFamily="34" charset="-122"/>
                <a:cs typeface="Calibri" pitchFamily="34" charset="-120"/>
              </a:rPr>
              <a:t>The data isn't really APT data</a:t>
            </a:r>
            <a:endParaRPr lang="en-US" sz="3000" dirty="0"/>
          </a:p>
        </p:txBody>
      </p:sp>
      <p:sp>
        <p:nvSpPr>
          <p:cNvPr id="3" name="Text 1"/>
          <p:cNvSpPr txBox="1"/>
          <p:nvPr/>
        </p:nvSpPr>
        <p:spPr>
          <a:xfrm>
            <a:off x="548640" y="960120"/>
            <a:ext cx="11091672" cy="365760"/>
          </a:xfrm>
          <a:prstGeom prst="rect">
            <a:avLst/>
          </a:prstGeom>
          <a:noFill/>
          <a:ln/>
        </p:spPr>
        <p:txBody>
          <a:bodyPr wrap="square" lIns="0" tIns="0" rIns="0" bIns="0" rtlCol="0" anchor="ctr"/>
          <a:lstStyle/>
          <a:p>
            <a:pPr indent="0" marL="0">
              <a:buNone/>
            </a:pPr>
            <a:r>
              <a:rPr lang="en-US" sz="1500" dirty="0">
                <a:solidFill>
                  <a:srgbClr val="5B6770"/>
                </a:solidFill>
                <a:latin typeface="Calibri" pitchFamily="34" charset="0"/>
                <a:ea typeface="Calibri" pitchFamily="34" charset="-122"/>
                <a:cs typeface="Calibri" pitchFamily="34" charset="-120"/>
              </a:rPr>
              <a:t>Problem 5 of 5</a:t>
            </a:r>
            <a:endParaRPr lang="en-US" sz="1500" dirty="0"/>
          </a:p>
        </p:txBody>
      </p:sp>
      <p:sp>
        <p:nvSpPr>
          <p:cNvPr id="4" name="Text 2"/>
          <p:cNvSpPr txBox="1"/>
          <p:nvPr/>
        </p:nvSpPr>
        <p:spPr>
          <a:xfrm>
            <a:off x="548640" y="1508760"/>
            <a:ext cx="5669280" cy="274320"/>
          </a:xfrm>
          <a:prstGeom prst="rect">
            <a:avLst/>
          </a:prstGeom>
          <a:noFill/>
          <a:ln/>
        </p:spPr>
        <p:txBody>
          <a:bodyPr wrap="square" lIns="0" tIns="0" rIns="0" bIns="0" rtlCol="0" anchor="ctr"/>
          <a:lstStyle/>
          <a:p>
            <a:pPr indent="0" marL="0">
              <a:buNone/>
            </a:pPr>
            <a:r>
              <a:rPr lang="en-US" sz="1200" b="1" spc="100" kern="0" dirty="0">
                <a:solidFill>
                  <a:srgbClr val="16213E"/>
                </a:solidFill>
                <a:latin typeface="Calibri" pitchFamily="34" charset="0"/>
                <a:ea typeface="Calibri" pitchFamily="34" charset="-122"/>
                <a:cs typeface="Calibri" pitchFamily="34" charset="-120"/>
              </a:rPr>
              <a:t>WHAT THE STUDY DID</a:t>
            </a:r>
            <a:endParaRPr lang="en-US" sz="1200" dirty="0"/>
          </a:p>
        </p:txBody>
      </p:sp>
      <p:sp>
        <p:nvSpPr>
          <p:cNvPr id="5" name="Text 3"/>
          <p:cNvSpPr txBox="1"/>
          <p:nvPr/>
        </p:nvSpPr>
        <p:spPr>
          <a:xfrm>
            <a:off x="548640" y="1801368"/>
            <a:ext cx="5669280" cy="11887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The study is about catching APTs, but all four datasets contain common attacks: floods of traffic, password guessing, port scans. All of them are called "APT".</a:t>
            </a:r>
            <a:endParaRPr lang="en-US" sz="1500" dirty="0"/>
          </a:p>
        </p:txBody>
      </p:sp>
      <p:sp>
        <p:nvSpPr>
          <p:cNvPr id="6" name="Text 4"/>
          <p:cNvSpPr txBox="1"/>
          <p:nvPr/>
        </p:nvSpPr>
        <p:spPr>
          <a:xfrm>
            <a:off x="548640" y="3081528"/>
            <a:ext cx="5669280" cy="274320"/>
          </a:xfrm>
          <a:prstGeom prst="rect">
            <a:avLst/>
          </a:prstGeom>
          <a:noFill/>
          <a:ln/>
        </p:spPr>
        <p:txBody>
          <a:bodyPr wrap="square" lIns="0" tIns="0" rIns="0" bIns="0" rtlCol="0" anchor="ctr"/>
          <a:lstStyle/>
          <a:p>
            <a:pPr indent="0" marL="0">
              <a:buNone/>
            </a:pPr>
            <a:r>
              <a:rPr lang="en-US" sz="1200" b="1" spc="100" kern="0" dirty="0">
                <a:solidFill>
                  <a:srgbClr val="EB6834"/>
                </a:solidFill>
                <a:latin typeface="Calibri" pitchFamily="34" charset="0"/>
                <a:ea typeface="Calibri" pitchFamily="34" charset="-122"/>
                <a:cs typeface="Calibri" pitchFamily="34" charset="-120"/>
              </a:rPr>
              <a:t>WHY IT'S A PROBLEM</a:t>
            </a:r>
            <a:endParaRPr lang="en-US" sz="1200" dirty="0"/>
          </a:p>
        </p:txBody>
      </p:sp>
      <p:sp>
        <p:nvSpPr>
          <p:cNvPr id="7" name="Text 5"/>
          <p:cNvSpPr txBox="1"/>
          <p:nvPr/>
        </p:nvSpPr>
        <p:spPr>
          <a:xfrm>
            <a:off x="548640" y="3374136"/>
            <a:ext cx="5669280" cy="11887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A real APT is quiet and slow. A flood is loud: it's the easiest attack to spot. Scoring 99% on floods doesn't show you can catch a hidden hacker.</a:t>
            </a:r>
            <a:endParaRPr lang="en-US" sz="1500" dirty="0"/>
          </a:p>
        </p:txBody>
      </p:sp>
      <p:sp>
        <p:nvSpPr>
          <p:cNvPr id="8" name="Text 6"/>
          <p:cNvSpPr txBox="1"/>
          <p:nvPr/>
        </p:nvSpPr>
        <p:spPr>
          <a:xfrm>
            <a:off x="548640" y="4654296"/>
            <a:ext cx="5669280" cy="274320"/>
          </a:xfrm>
          <a:prstGeom prst="rect">
            <a:avLst/>
          </a:prstGeom>
          <a:noFill/>
          <a:ln/>
        </p:spPr>
        <p:txBody>
          <a:bodyPr wrap="square" lIns="0" tIns="0" rIns="0" bIns="0" rtlCol="0" anchor="ctr"/>
          <a:lstStyle/>
          <a:p>
            <a:pPr indent="0" marL="0">
              <a:buNone/>
            </a:pPr>
            <a:r>
              <a:rPr lang="en-US" sz="1200" b="1" spc="100" kern="0" dirty="0">
                <a:solidFill>
                  <a:srgbClr val="0A7F2E"/>
                </a:solidFill>
                <a:latin typeface="Calibri" pitchFamily="34" charset="0"/>
                <a:ea typeface="Calibri" pitchFamily="34" charset="-122"/>
                <a:cs typeface="Calibri" pitchFamily="34" charset="-120"/>
              </a:rPr>
              <a:t>WHAT WE DO</a:t>
            </a:r>
            <a:endParaRPr lang="en-US" sz="1200" dirty="0"/>
          </a:p>
        </p:txBody>
      </p:sp>
      <p:sp>
        <p:nvSpPr>
          <p:cNvPr id="9" name="Text 7"/>
          <p:cNvSpPr txBox="1"/>
          <p:nvPr/>
        </p:nvSpPr>
        <p:spPr>
          <a:xfrm>
            <a:off x="548640" y="4946904"/>
            <a:ext cx="5669280" cy="11887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We call our results "attack detection". Next, we will look at the quiet attack types on their own, and may try a real APT dataset (DAPT2020).</a:t>
            </a:r>
            <a:endParaRPr lang="en-US" sz="1500" dirty="0"/>
          </a:p>
        </p:txBody>
      </p:sp>
      <p:sp>
        <p:nvSpPr>
          <p:cNvPr id="10" name="Shape 8"/>
          <p:cNvSpPr/>
          <p:nvPr/>
        </p:nvSpPr>
        <p:spPr>
          <a:xfrm>
            <a:off x="6675120" y="1508760"/>
            <a:ext cx="4965192" cy="2011680"/>
          </a:xfrm>
          <a:prstGeom prst="roundRect">
            <a:avLst>
              <a:gd name="adj" fmla="val 3636"/>
            </a:avLst>
          </a:prstGeom>
          <a:solidFill>
            <a:srgbClr val="FDE7DD"/>
          </a:solidFill>
          <a:ln w="12700">
            <a:solidFill>
              <a:srgbClr val="FDE7DD"/>
            </a:solidFill>
            <a:prstDash val="solid"/>
          </a:ln>
        </p:spPr>
      </p:sp>
      <p:sp>
        <p:nvSpPr>
          <p:cNvPr id="11" name="Text 9"/>
          <p:cNvSpPr txBox="1"/>
          <p:nvPr/>
        </p:nvSpPr>
        <p:spPr>
          <a:xfrm>
            <a:off x="6949440" y="1600200"/>
            <a:ext cx="1828800" cy="914400"/>
          </a:xfrm>
          <a:prstGeom prst="rect">
            <a:avLst/>
          </a:prstGeom>
          <a:noFill/>
          <a:ln/>
        </p:spPr>
        <p:txBody>
          <a:bodyPr wrap="square" lIns="0" tIns="0" rIns="0" bIns="0" rtlCol="0" anchor="ctr"/>
          <a:lstStyle/>
          <a:p>
            <a:pPr indent="0" marL="0">
              <a:buNone/>
            </a:pPr>
            <a:r>
              <a:rPr lang="en-US" sz="4800" b="1" dirty="0">
                <a:solidFill>
                  <a:srgbClr val="EB6834"/>
                </a:solidFill>
                <a:latin typeface="Calibri" pitchFamily="34" charset="0"/>
                <a:ea typeface="Calibri" pitchFamily="34" charset="-122"/>
                <a:cs typeface="Calibri" pitchFamily="34" charset="-120"/>
              </a:rPr>
              <a:t>70%</a:t>
            </a:r>
            <a:endParaRPr lang="en-US" sz="4800" dirty="0"/>
          </a:p>
        </p:txBody>
      </p:sp>
      <p:sp>
        <p:nvSpPr>
          <p:cNvPr id="12" name="Text 10"/>
          <p:cNvSpPr txBox="1"/>
          <p:nvPr/>
        </p:nvSpPr>
        <p:spPr>
          <a:xfrm>
            <a:off x="6949440" y="2514600"/>
            <a:ext cx="4416552" cy="82296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of the attacks in CSE-CIC-IDS2018 are floods (DoS and DDoS)</a:t>
            </a:r>
            <a:endParaRPr lang="en-US" sz="1500" dirty="0"/>
          </a:p>
        </p:txBody>
      </p:sp>
      <p:sp>
        <p:nvSpPr>
          <p:cNvPr id="13" name="Shape 11"/>
          <p:cNvSpPr/>
          <p:nvPr/>
        </p:nvSpPr>
        <p:spPr>
          <a:xfrm>
            <a:off x="6675120" y="3749040"/>
            <a:ext cx="4965192" cy="2011680"/>
          </a:xfrm>
          <a:prstGeom prst="roundRect">
            <a:avLst>
              <a:gd name="adj" fmla="val 3636"/>
            </a:avLst>
          </a:prstGeom>
          <a:solidFill>
            <a:srgbClr val="EEF3FA"/>
          </a:solidFill>
          <a:ln w="12700">
            <a:solidFill>
              <a:srgbClr val="EEF3FA"/>
            </a:solidFill>
            <a:prstDash val="solid"/>
          </a:ln>
        </p:spPr>
      </p:sp>
      <p:sp>
        <p:nvSpPr>
          <p:cNvPr id="14" name="Text 12"/>
          <p:cNvSpPr txBox="1"/>
          <p:nvPr/>
        </p:nvSpPr>
        <p:spPr>
          <a:xfrm>
            <a:off x="6949440" y="3840480"/>
            <a:ext cx="1828800" cy="914400"/>
          </a:xfrm>
          <a:prstGeom prst="rect">
            <a:avLst/>
          </a:prstGeom>
          <a:noFill/>
          <a:ln/>
        </p:spPr>
        <p:txBody>
          <a:bodyPr wrap="square" lIns="0" tIns="0" rIns="0" bIns="0" rtlCol="0" anchor="ctr"/>
          <a:lstStyle/>
          <a:p>
            <a:pPr indent="0" marL="0">
              <a:buNone/>
            </a:pPr>
            <a:r>
              <a:rPr lang="en-US" sz="4800" b="1" dirty="0">
                <a:solidFill>
                  <a:srgbClr val="16213E"/>
                </a:solidFill>
                <a:latin typeface="Calibri" pitchFamily="34" charset="0"/>
                <a:ea typeface="Calibri" pitchFamily="34" charset="-122"/>
                <a:cs typeface="Calibri" pitchFamily="34" charset="-120"/>
              </a:rPr>
              <a:t>6%</a:t>
            </a:r>
            <a:endParaRPr lang="en-US" sz="4800" dirty="0"/>
          </a:p>
        </p:txBody>
      </p:sp>
      <p:sp>
        <p:nvSpPr>
          <p:cNvPr id="15" name="Text 13"/>
          <p:cNvSpPr txBox="1"/>
          <p:nvPr/>
        </p:nvSpPr>
        <p:spPr>
          <a:xfrm>
            <a:off x="6949440" y="4754880"/>
            <a:ext cx="4416552" cy="82296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are "Infiltration", the closest thing to a real hidden hacker</a:t>
            </a:r>
            <a:endParaRPr lang="en-US" sz="1500" dirty="0"/>
          </a:p>
        </p:txBody>
      </p:sp>
      <p:sp>
        <p:nvSpPr>
          <p:cNvPr id="16" name="Text 14"/>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000" b="1" dirty="0">
                <a:solidFill>
                  <a:srgbClr val="16213E"/>
                </a:solidFill>
                <a:latin typeface="Calibri" pitchFamily="34" charset="0"/>
                <a:ea typeface="Calibri" pitchFamily="34" charset="-122"/>
                <a:cs typeface="Calibri" pitchFamily="34" charset="-120"/>
              </a:rPr>
              <a:t>Our new ideas</a:t>
            </a:r>
            <a:endParaRPr lang="en-US" sz="3000" dirty="0"/>
          </a:p>
        </p:txBody>
      </p:sp>
      <p:sp>
        <p:nvSpPr>
          <p:cNvPr id="3" name="Text 1"/>
          <p:cNvSpPr txBox="1"/>
          <p:nvPr/>
        </p:nvSpPr>
        <p:spPr>
          <a:xfrm>
            <a:off x="548640" y="1371600"/>
            <a:ext cx="5303520" cy="411480"/>
          </a:xfrm>
          <a:prstGeom prst="rect">
            <a:avLst/>
          </a:prstGeom>
          <a:noFill/>
          <a:ln/>
        </p:spPr>
        <p:txBody>
          <a:bodyPr wrap="square" lIns="0" tIns="0" rIns="0" bIns="0" rtlCol="0" anchor="ctr"/>
          <a:lstStyle/>
          <a:p>
            <a:pPr indent="0" marL="0">
              <a:buNone/>
            </a:pPr>
            <a:r>
              <a:rPr lang="en-US" sz="2000" b="1" dirty="0">
                <a:solidFill>
                  <a:srgbClr val="16213E"/>
                </a:solidFill>
                <a:latin typeface="Calibri" pitchFamily="34" charset="0"/>
                <a:ea typeface="Calibri" pitchFamily="34" charset="-122"/>
                <a:cs typeface="Calibri" pitchFamily="34" charset="-120"/>
              </a:rPr>
              <a:t>Idea 1: a smarter team (stacking)</a:t>
            </a:r>
            <a:endParaRPr lang="en-US" sz="2000" dirty="0"/>
          </a:p>
        </p:txBody>
      </p:sp>
      <p:sp>
        <p:nvSpPr>
          <p:cNvPr id="4" name="Shape 2"/>
          <p:cNvSpPr/>
          <p:nvPr/>
        </p:nvSpPr>
        <p:spPr>
          <a:xfrm>
            <a:off x="548640" y="1965960"/>
            <a:ext cx="1828800" cy="594360"/>
          </a:xfrm>
          <a:prstGeom prst="roundRect">
            <a:avLst>
              <a:gd name="adj" fmla="val 9231"/>
            </a:avLst>
          </a:prstGeom>
          <a:solidFill>
            <a:srgbClr val="EEF3FA"/>
          </a:solidFill>
          <a:ln w="9525">
            <a:solidFill>
              <a:srgbClr val="C9D3DF"/>
            </a:solidFill>
            <a:prstDash val="solid"/>
          </a:ln>
        </p:spPr>
      </p:sp>
      <p:sp>
        <p:nvSpPr>
          <p:cNvPr id="5" name="Text 3"/>
          <p:cNvSpPr txBox="1"/>
          <p:nvPr/>
        </p:nvSpPr>
        <p:spPr>
          <a:xfrm>
            <a:off x="548640" y="1965960"/>
            <a:ext cx="1828800" cy="594360"/>
          </a:xfrm>
          <a:prstGeom prst="rect">
            <a:avLst/>
          </a:prstGeom>
          <a:noFill/>
          <a:ln/>
        </p:spPr>
        <p:txBody>
          <a:bodyPr wrap="square" lIns="38100" tIns="38100" rIns="38100" bIns="3810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Random Forest</a:t>
            </a:r>
            <a:endParaRPr lang="en-US" sz="1300" dirty="0"/>
          </a:p>
        </p:txBody>
      </p:sp>
      <p:sp>
        <p:nvSpPr>
          <p:cNvPr id="6" name="Shape 4"/>
          <p:cNvSpPr/>
          <p:nvPr/>
        </p:nvSpPr>
        <p:spPr>
          <a:xfrm>
            <a:off x="548640" y="2743200"/>
            <a:ext cx="1828800" cy="594360"/>
          </a:xfrm>
          <a:prstGeom prst="roundRect">
            <a:avLst>
              <a:gd name="adj" fmla="val 9231"/>
            </a:avLst>
          </a:prstGeom>
          <a:solidFill>
            <a:srgbClr val="EEF3FA"/>
          </a:solidFill>
          <a:ln w="9525">
            <a:solidFill>
              <a:srgbClr val="C9D3DF"/>
            </a:solidFill>
            <a:prstDash val="solid"/>
          </a:ln>
        </p:spPr>
      </p:sp>
      <p:sp>
        <p:nvSpPr>
          <p:cNvPr id="7" name="Text 5"/>
          <p:cNvSpPr txBox="1"/>
          <p:nvPr/>
        </p:nvSpPr>
        <p:spPr>
          <a:xfrm>
            <a:off x="548640" y="2743200"/>
            <a:ext cx="1828800" cy="594360"/>
          </a:xfrm>
          <a:prstGeom prst="rect">
            <a:avLst/>
          </a:prstGeom>
          <a:noFill/>
          <a:ln/>
        </p:spPr>
        <p:txBody>
          <a:bodyPr wrap="square" lIns="38100" tIns="38100" rIns="38100" bIns="3810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XGBoost</a:t>
            </a:r>
            <a:endParaRPr lang="en-US" sz="1300" dirty="0"/>
          </a:p>
        </p:txBody>
      </p:sp>
      <p:sp>
        <p:nvSpPr>
          <p:cNvPr id="8" name="Shape 6"/>
          <p:cNvSpPr/>
          <p:nvPr/>
        </p:nvSpPr>
        <p:spPr>
          <a:xfrm>
            <a:off x="548640" y="3520440"/>
            <a:ext cx="1828800" cy="594360"/>
          </a:xfrm>
          <a:prstGeom prst="roundRect">
            <a:avLst>
              <a:gd name="adj" fmla="val 9231"/>
            </a:avLst>
          </a:prstGeom>
          <a:solidFill>
            <a:srgbClr val="EEF3FA"/>
          </a:solidFill>
          <a:ln w="9525">
            <a:solidFill>
              <a:srgbClr val="C9D3DF"/>
            </a:solidFill>
            <a:prstDash val="solid"/>
          </a:ln>
        </p:spPr>
      </p:sp>
      <p:sp>
        <p:nvSpPr>
          <p:cNvPr id="9" name="Text 7"/>
          <p:cNvSpPr txBox="1"/>
          <p:nvPr/>
        </p:nvSpPr>
        <p:spPr>
          <a:xfrm>
            <a:off x="548640" y="3520440"/>
            <a:ext cx="1828800" cy="594360"/>
          </a:xfrm>
          <a:prstGeom prst="rect">
            <a:avLst/>
          </a:prstGeom>
          <a:noFill/>
          <a:ln/>
        </p:spPr>
        <p:txBody>
          <a:bodyPr wrap="square" lIns="38100" tIns="38100" rIns="38100" bIns="3810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LSTM</a:t>
            </a:r>
            <a:endParaRPr lang="en-US" sz="1300" dirty="0"/>
          </a:p>
        </p:txBody>
      </p:sp>
      <p:sp>
        <p:nvSpPr>
          <p:cNvPr id="10" name="Shape 8"/>
          <p:cNvSpPr/>
          <p:nvPr/>
        </p:nvSpPr>
        <p:spPr>
          <a:xfrm>
            <a:off x="3108960" y="2560320"/>
            <a:ext cx="2103120" cy="731520"/>
          </a:xfrm>
          <a:prstGeom prst="roundRect">
            <a:avLst>
              <a:gd name="adj" fmla="val 7500"/>
            </a:avLst>
          </a:prstGeom>
          <a:solidFill>
            <a:srgbClr val="FDE7DD"/>
          </a:solidFill>
          <a:ln w="9525">
            <a:solidFill>
              <a:srgbClr val="C9D3DF"/>
            </a:solidFill>
            <a:prstDash val="solid"/>
          </a:ln>
        </p:spPr>
      </p:sp>
      <p:sp>
        <p:nvSpPr>
          <p:cNvPr id="11" name="Text 9"/>
          <p:cNvSpPr txBox="1"/>
          <p:nvPr/>
        </p:nvSpPr>
        <p:spPr>
          <a:xfrm>
            <a:off x="3108960" y="2560320"/>
            <a:ext cx="2103120" cy="731520"/>
          </a:xfrm>
          <a:prstGeom prst="rect">
            <a:avLst/>
          </a:prstGeom>
          <a:no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A judge that learns</a:t>
            </a:r>
            <a:endParaRPr lang="en-US" sz="1300" dirty="0"/>
          </a:p>
          <a:p>
            <a:pPr algn="ctr" indent="0" marL="0">
              <a:buNone/>
            </a:pPr>
            <a:r>
              <a:rPr lang="en-US" sz="1300" b="1" dirty="0">
                <a:solidFill>
                  <a:srgbClr val="1F2933"/>
                </a:solidFill>
                <a:latin typeface="Calibri" pitchFamily="34" charset="0"/>
                <a:ea typeface="Calibri" pitchFamily="34" charset="-122"/>
                <a:cs typeface="Calibri" pitchFamily="34" charset="-120"/>
              </a:rPr>
              <a:t>whom to trust</a:t>
            </a:r>
            <a:endParaRPr lang="en-US" sz="1300" dirty="0"/>
          </a:p>
        </p:txBody>
      </p:sp>
      <p:sp>
        <p:nvSpPr>
          <p:cNvPr id="12" name="Shape 10"/>
          <p:cNvSpPr/>
          <p:nvPr/>
        </p:nvSpPr>
        <p:spPr>
          <a:xfrm>
            <a:off x="2377440" y="2263140"/>
            <a:ext cx="731520" cy="662940"/>
          </a:xfrm>
          <a:prstGeom prst="line">
            <a:avLst/>
          </a:prstGeom>
          <a:noFill/>
          <a:ln w="19050">
            <a:solidFill>
              <a:srgbClr val="7A8793"/>
            </a:solidFill>
            <a:prstDash val="solid"/>
            <a:tailEnd type="triangle"/>
          </a:ln>
        </p:spPr>
      </p:sp>
      <p:sp>
        <p:nvSpPr>
          <p:cNvPr id="13" name="Shape 11"/>
          <p:cNvSpPr/>
          <p:nvPr/>
        </p:nvSpPr>
        <p:spPr>
          <a:xfrm flipV="1">
            <a:off x="2377440" y="2926080"/>
            <a:ext cx="731520" cy="114300"/>
          </a:xfrm>
          <a:prstGeom prst="line">
            <a:avLst/>
          </a:prstGeom>
          <a:noFill/>
          <a:ln w="19050">
            <a:solidFill>
              <a:srgbClr val="7A8793"/>
            </a:solidFill>
            <a:prstDash val="solid"/>
            <a:tailEnd type="triangle"/>
          </a:ln>
        </p:spPr>
      </p:sp>
      <p:sp>
        <p:nvSpPr>
          <p:cNvPr id="14" name="Shape 12"/>
          <p:cNvSpPr/>
          <p:nvPr/>
        </p:nvSpPr>
        <p:spPr>
          <a:xfrm flipV="1">
            <a:off x="2377440" y="2926080"/>
            <a:ext cx="731520" cy="891540"/>
          </a:xfrm>
          <a:prstGeom prst="line">
            <a:avLst/>
          </a:prstGeom>
          <a:noFill/>
          <a:ln w="19050">
            <a:solidFill>
              <a:srgbClr val="7A8793"/>
            </a:solidFill>
            <a:prstDash val="solid"/>
            <a:tailEnd type="triangle"/>
          </a:ln>
        </p:spPr>
      </p:sp>
      <p:sp>
        <p:nvSpPr>
          <p:cNvPr id="15" name="Text 13"/>
          <p:cNvSpPr txBox="1"/>
          <p:nvPr/>
        </p:nvSpPr>
        <p:spPr>
          <a:xfrm>
            <a:off x="548640" y="4434840"/>
            <a:ext cx="5303520" cy="128016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The study just averages two models. We let a "judge" model learn how much to trust each one, and added an LSTM, as the authors suggested.</a:t>
            </a:r>
            <a:endParaRPr lang="en-US" sz="1500" dirty="0"/>
          </a:p>
        </p:txBody>
      </p:sp>
      <p:sp>
        <p:nvSpPr>
          <p:cNvPr id="16" name="Text 14"/>
          <p:cNvSpPr txBox="1"/>
          <p:nvPr/>
        </p:nvSpPr>
        <p:spPr>
          <a:xfrm>
            <a:off x="6492240" y="1371600"/>
            <a:ext cx="5120640" cy="411480"/>
          </a:xfrm>
          <a:prstGeom prst="rect">
            <a:avLst/>
          </a:prstGeom>
          <a:noFill/>
          <a:ln/>
        </p:spPr>
        <p:txBody>
          <a:bodyPr wrap="square" lIns="0" tIns="0" rIns="0" bIns="0" rtlCol="0" anchor="ctr"/>
          <a:lstStyle/>
          <a:p>
            <a:pPr indent="0" marL="0">
              <a:buNone/>
            </a:pPr>
            <a:r>
              <a:rPr lang="en-US" sz="2000" b="1" dirty="0">
                <a:solidFill>
                  <a:srgbClr val="16213E"/>
                </a:solidFill>
                <a:latin typeface="Calibri" pitchFamily="34" charset="0"/>
                <a:ea typeface="Calibri" pitchFamily="34" charset="-122"/>
                <a:cs typeface="Calibri" pitchFamily="34" charset="-120"/>
              </a:rPr>
              <a:t>Idea 2: FT-Transformer</a:t>
            </a:r>
            <a:endParaRPr lang="en-US" sz="2000" dirty="0"/>
          </a:p>
        </p:txBody>
      </p:sp>
      <p:sp>
        <p:nvSpPr>
          <p:cNvPr id="17" name="Shape 15"/>
          <p:cNvSpPr/>
          <p:nvPr/>
        </p:nvSpPr>
        <p:spPr>
          <a:xfrm>
            <a:off x="6492240" y="2011680"/>
            <a:ext cx="2011680" cy="731520"/>
          </a:xfrm>
          <a:prstGeom prst="roundRect">
            <a:avLst>
              <a:gd name="adj" fmla="val 7500"/>
            </a:avLst>
          </a:prstGeom>
          <a:solidFill>
            <a:srgbClr val="EEF3FA"/>
          </a:solidFill>
          <a:ln w="9525">
            <a:solidFill>
              <a:srgbClr val="C9D3DF"/>
            </a:solidFill>
            <a:prstDash val="solid"/>
          </a:ln>
        </p:spPr>
      </p:sp>
      <p:sp>
        <p:nvSpPr>
          <p:cNvPr id="18" name="Text 16"/>
          <p:cNvSpPr txBox="1"/>
          <p:nvPr/>
        </p:nvSpPr>
        <p:spPr>
          <a:xfrm>
            <a:off x="6492240" y="2011680"/>
            <a:ext cx="2011680" cy="731520"/>
          </a:xfrm>
          <a:prstGeom prst="rect">
            <a:avLst/>
          </a:prstGeom>
          <a:noFill/>
          <a:ln/>
        </p:spPr>
        <p:txBody>
          <a:bodyPr wrap="square" lIns="38100" tIns="38100" rIns="38100" bIns="3810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30 columns</a:t>
            </a:r>
            <a:endParaRPr lang="en-US" sz="1300" dirty="0"/>
          </a:p>
          <a:p>
            <a:pPr algn="ctr" indent="0" marL="0">
              <a:buNone/>
            </a:pPr>
            <a:r>
              <a:rPr lang="en-US" sz="1300" dirty="0">
                <a:solidFill>
                  <a:srgbClr val="1F2933"/>
                </a:solidFill>
                <a:latin typeface="Calibri" pitchFamily="34" charset="0"/>
                <a:ea typeface="Calibri" pitchFamily="34" charset="-122"/>
                <a:cs typeface="Calibri" pitchFamily="34" charset="-120"/>
              </a:rPr>
              <a:t>of data</a:t>
            </a:r>
            <a:endParaRPr lang="en-US" sz="1300" dirty="0"/>
          </a:p>
        </p:txBody>
      </p:sp>
      <p:sp>
        <p:nvSpPr>
          <p:cNvPr id="19" name="Shape 17"/>
          <p:cNvSpPr/>
          <p:nvPr/>
        </p:nvSpPr>
        <p:spPr>
          <a:xfrm>
            <a:off x="9235440" y="2011680"/>
            <a:ext cx="2194560" cy="731520"/>
          </a:xfrm>
          <a:prstGeom prst="roundRect">
            <a:avLst>
              <a:gd name="adj" fmla="val 7500"/>
            </a:avLst>
          </a:prstGeom>
          <a:solidFill>
            <a:srgbClr val="EEF3FA"/>
          </a:solidFill>
          <a:ln w="9525">
            <a:solidFill>
              <a:srgbClr val="C9D3DF"/>
            </a:solidFill>
            <a:prstDash val="solid"/>
          </a:ln>
        </p:spPr>
      </p:sp>
      <p:sp>
        <p:nvSpPr>
          <p:cNvPr id="20" name="Text 18"/>
          <p:cNvSpPr txBox="1"/>
          <p:nvPr/>
        </p:nvSpPr>
        <p:spPr>
          <a:xfrm>
            <a:off x="9235440" y="2011680"/>
            <a:ext cx="2194560" cy="731520"/>
          </a:xfrm>
          <a:prstGeom prst="rect">
            <a:avLst/>
          </a:prstGeom>
          <a:noFill/>
          <a:ln/>
        </p:spPr>
        <p:txBody>
          <a:bodyPr wrap="square" lIns="38100" tIns="38100" rIns="38100" bIns="3810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Turn each column</a:t>
            </a:r>
            <a:endParaRPr lang="en-US" sz="1300" dirty="0"/>
          </a:p>
          <a:p>
            <a:pPr algn="ctr" indent="0" marL="0">
              <a:buNone/>
            </a:pPr>
            <a:r>
              <a:rPr lang="en-US" sz="1300" dirty="0">
                <a:solidFill>
                  <a:srgbClr val="1F2933"/>
                </a:solidFill>
                <a:latin typeface="Calibri" pitchFamily="34" charset="0"/>
                <a:ea typeface="Calibri" pitchFamily="34" charset="-122"/>
                <a:cs typeface="Calibri" pitchFamily="34" charset="-120"/>
              </a:rPr>
              <a:t>into a "word"</a:t>
            </a:r>
            <a:endParaRPr lang="en-US" sz="1300" dirty="0"/>
          </a:p>
        </p:txBody>
      </p:sp>
      <p:sp>
        <p:nvSpPr>
          <p:cNvPr id="21" name="Shape 19"/>
          <p:cNvSpPr/>
          <p:nvPr/>
        </p:nvSpPr>
        <p:spPr>
          <a:xfrm>
            <a:off x="9235440" y="3200400"/>
            <a:ext cx="2194560" cy="731520"/>
          </a:xfrm>
          <a:prstGeom prst="roundRect">
            <a:avLst>
              <a:gd name="adj" fmla="val 7500"/>
            </a:avLst>
          </a:prstGeom>
          <a:solidFill>
            <a:srgbClr val="FDE7DD"/>
          </a:solidFill>
          <a:ln w="9525">
            <a:solidFill>
              <a:srgbClr val="C9D3DF"/>
            </a:solidFill>
            <a:prstDash val="solid"/>
          </a:ln>
        </p:spPr>
      </p:sp>
      <p:sp>
        <p:nvSpPr>
          <p:cNvPr id="22" name="Text 20"/>
          <p:cNvSpPr txBox="1"/>
          <p:nvPr/>
        </p:nvSpPr>
        <p:spPr>
          <a:xfrm>
            <a:off x="9235440" y="3200400"/>
            <a:ext cx="2194560" cy="731520"/>
          </a:xfrm>
          <a:prstGeom prst="rect">
            <a:avLst/>
          </a:prstGeom>
          <a:no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Let the words</a:t>
            </a:r>
            <a:endParaRPr lang="en-US" sz="1300" dirty="0"/>
          </a:p>
          <a:p>
            <a:pPr algn="ctr" indent="0" marL="0">
              <a:buNone/>
            </a:pPr>
            <a:r>
              <a:rPr lang="en-US" sz="1300" b="1" dirty="0">
                <a:solidFill>
                  <a:srgbClr val="1F2933"/>
                </a:solidFill>
                <a:latin typeface="Calibri" pitchFamily="34" charset="0"/>
                <a:ea typeface="Calibri" pitchFamily="34" charset="-122"/>
                <a:cs typeface="Calibri" pitchFamily="34" charset="-120"/>
              </a:rPr>
              <a:t>look at each other</a:t>
            </a:r>
            <a:endParaRPr lang="en-US" sz="1300" dirty="0"/>
          </a:p>
        </p:txBody>
      </p:sp>
      <p:sp>
        <p:nvSpPr>
          <p:cNvPr id="23" name="Shape 21"/>
          <p:cNvSpPr/>
          <p:nvPr/>
        </p:nvSpPr>
        <p:spPr>
          <a:xfrm>
            <a:off x="6492240" y="3200400"/>
            <a:ext cx="2011680" cy="731520"/>
          </a:xfrm>
          <a:prstGeom prst="roundRect">
            <a:avLst>
              <a:gd name="adj" fmla="val 7500"/>
            </a:avLst>
          </a:prstGeom>
          <a:solidFill>
            <a:srgbClr val="EEF3FA"/>
          </a:solidFill>
          <a:ln w="9525">
            <a:solidFill>
              <a:srgbClr val="C9D3DF"/>
            </a:solidFill>
            <a:prstDash val="solid"/>
          </a:ln>
        </p:spPr>
      </p:sp>
      <p:sp>
        <p:nvSpPr>
          <p:cNvPr id="24" name="Text 22"/>
          <p:cNvSpPr txBox="1"/>
          <p:nvPr/>
        </p:nvSpPr>
        <p:spPr>
          <a:xfrm>
            <a:off x="6492240" y="3200400"/>
            <a:ext cx="2011680" cy="731520"/>
          </a:xfrm>
          <a:prstGeom prst="rect">
            <a:avLst/>
          </a:prstGeom>
          <a:noFill/>
          <a:ln/>
        </p:spPr>
        <p:txBody>
          <a:bodyPr wrap="square" lIns="38100" tIns="38100" rIns="38100" bIns="3810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Make the</a:t>
            </a:r>
            <a:endParaRPr lang="en-US" sz="1300" dirty="0"/>
          </a:p>
          <a:p>
            <a:pPr algn="ctr" indent="0" marL="0">
              <a:buNone/>
            </a:pPr>
            <a:r>
              <a:rPr lang="en-US" sz="1300" dirty="0">
                <a:solidFill>
                  <a:srgbClr val="1F2933"/>
                </a:solidFill>
                <a:latin typeface="Calibri" pitchFamily="34" charset="0"/>
                <a:ea typeface="Calibri" pitchFamily="34" charset="-122"/>
                <a:cs typeface="Calibri" pitchFamily="34" charset="-120"/>
              </a:rPr>
              <a:t>final answer</a:t>
            </a:r>
            <a:endParaRPr lang="en-US" sz="1300" dirty="0"/>
          </a:p>
        </p:txBody>
      </p:sp>
      <p:sp>
        <p:nvSpPr>
          <p:cNvPr id="25" name="Shape 23"/>
          <p:cNvSpPr/>
          <p:nvPr/>
        </p:nvSpPr>
        <p:spPr>
          <a:xfrm>
            <a:off x="8503920" y="2377440"/>
            <a:ext cx="731520" cy="914"/>
          </a:xfrm>
          <a:prstGeom prst="line">
            <a:avLst/>
          </a:prstGeom>
          <a:noFill/>
          <a:ln w="19050">
            <a:solidFill>
              <a:srgbClr val="7A8793"/>
            </a:solidFill>
            <a:prstDash val="solid"/>
            <a:tailEnd type="triangle"/>
          </a:ln>
        </p:spPr>
      </p:sp>
      <p:sp>
        <p:nvSpPr>
          <p:cNvPr id="26" name="Shape 24"/>
          <p:cNvSpPr/>
          <p:nvPr/>
        </p:nvSpPr>
        <p:spPr>
          <a:xfrm>
            <a:off x="10332720" y="2743200"/>
            <a:ext cx="914" cy="457200"/>
          </a:xfrm>
          <a:prstGeom prst="line">
            <a:avLst/>
          </a:prstGeom>
          <a:noFill/>
          <a:ln w="19050">
            <a:solidFill>
              <a:srgbClr val="7A8793"/>
            </a:solidFill>
            <a:prstDash val="solid"/>
            <a:tailEnd type="triangle"/>
          </a:ln>
        </p:spPr>
      </p:sp>
      <p:sp>
        <p:nvSpPr>
          <p:cNvPr id="27" name="Shape 25"/>
          <p:cNvSpPr/>
          <p:nvPr/>
        </p:nvSpPr>
        <p:spPr>
          <a:xfrm flipH="1">
            <a:off x="8503920" y="3566160"/>
            <a:ext cx="731520" cy="914"/>
          </a:xfrm>
          <a:prstGeom prst="line">
            <a:avLst/>
          </a:prstGeom>
          <a:noFill/>
          <a:ln w="19050">
            <a:solidFill>
              <a:srgbClr val="7A8793"/>
            </a:solidFill>
            <a:prstDash val="solid"/>
            <a:tailEnd type="triangle"/>
          </a:ln>
        </p:spPr>
      </p:sp>
      <p:sp>
        <p:nvSpPr>
          <p:cNvPr id="28" name="Text 26"/>
          <p:cNvSpPr txBox="1"/>
          <p:nvPr/>
        </p:nvSpPr>
        <p:spPr>
          <a:xfrm>
            <a:off x="6492240" y="4434840"/>
            <a:ext cx="5120640" cy="128016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The same idea that powers chatbots, but built for tables of data. It looks at how the columns relate to each other.</a:t>
            </a:r>
            <a:endParaRPr lang="en-US" sz="1500" dirty="0"/>
          </a:p>
        </p:txBody>
      </p:sp>
      <p:sp>
        <p:nvSpPr>
          <p:cNvPr id="29" name="Text 27"/>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000" b="1" dirty="0">
                <a:solidFill>
                  <a:srgbClr val="16213E"/>
                </a:solidFill>
                <a:latin typeface="Calibri" pitchFamily="34" charset="0"/>
                <a:ea typeface="Calibri" pitchFamily="34" charset="-122"/>
                <a:cs typeface="Calibri" pitchFamily="34" charset="-120"/>
              </a:rPr>
              <a:t>How the new ideas did</a:t>
            </a:r>
            <a:endParaRPr lang="en-US" sz="3000" dirty="0"/>
          </a:p>
        </p:txBody>
      </p:sp>
      <p:sp>
        <p:nvSpPr>
          <p:cNvPr id="3" name="Text 1"/>
          <p:cNvSpPr txBox="1"/>
          <p:nvPr/>
        </p:nvSpPr>
        <p:spPr>
          <a:xfrm>
            <a:off x="548640" y="960120"/>
            <a:ext cx="11091672" cy="365760"/>
          </a:xfrm>
          <a:prstGeom prst="rect">
            <a:avLst/>
          </a:prstGeom>
          <a:noFill/>
          <a:ln/>
        </p:spPr>
        <p:txBody>
          <a:bodyPr wrap="square" lIns="0" tIns="0" rIns="0" bIns="0" rtlCol="0" anchor="ctr"/>
          <a:lstStyle/>
          <a:p>
            <a:pPr indent="0" marL="0">
              <a:buNone/>
            </a:pPr>
            <a:r>
              <a:rPr lang="en-US" sz="1500" dirty="0">
                <a:solidFill>
                  <a:srgbClr val="5B6770"/>
                </a:solidFill>
                <a:latin typeface="Calibri" pitchFamily="34" charset="0"/>
                <a:ea typeface="Calibri" pitchFamily="34" charset="-122"/>
                <a:cs typeface="Calibri" pitchFamily="34" charset="-120"/>
              </a:rPr>
              <a:t>Mistakes and false alarms, in % (lower is better). Every model was tested on the same data.</a:t>
            </a:r>
            <a:endParaRPr lang="en-US" sz="1500" dirty="0"/>
          </a:p>
        </p:txBody>
      </p:sp>
      <p:graphicFrame>
        <p:nvGraphicFramePr>
          <p:cNvPr id="4" name="Chart 0" descr=""/>
          <p:cNvGraphicFramePr/>
          <p:nvPr/>
        </p:nvGraphicFramePr>
        <p:xfrm>
          <a:off x="548640" y="1783080"/>
          <a:ext cx="2743200" cy="21488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3319272" y="1783080"/>
          <a:ext cx="2743200" cy="2148840"/>
        </p:xfrm>
        <a:graphic xmlns:a="http://schemas.openxmlformats.org/drawingml/2006/main">
          <a:graphicData uri="http://schemas.openxmlformats.org/drawingml/2006/chart">
            <c:chart xmlns:c="http://schemas.openxmlformats.org/drawingml/2006/chart" r:id="rId2"/>
          </a:graphicData>
        </a:graphic>
      </p:graphicFrame>
      <p:graphicFrame>
        <p:nvGraphicFramePr>
          <p:cNvPr id="6" name="Chart 2" descr=""/>
          <p:cNvGraphicFramePr/>
          <p:nvPr/>
        </p:nvGraphicFramePr>
        <p:xfrm>
          <a:off x="6089904" y="1783080"/>
          <a:ext cx="2743200" cy="2148840"/>
        </p:xfrm>
        <a:graphic xmlns:a="http://schemas.openxmlformats.org/drawingml/2006/main">
          <a:graphicData uri="http://schemas.openxmlformats.org/drawingml/2006/chart">
            <c:chart xmlns:c="http://schemas.openxmlformats.org/drawingml/2006/chart" r:id="rId3"/>
          </a:graphicData>
        </a:graphic>
      </p:graphicFrame>
      <p:graphicFrame>
        <p:nvGraphicFramePr>
          <p:cNvPr id="7" name="Chart 3" descr=""/>
          <p:cNvGraphicFramePr/>
          <p:nvPr/>
        </p:nvGraphicFramePr>
        <p:xfrm>
          <a:off x="8860536" y="1783080"/>
          <a:ext cx="2743200" cy="2148840"/>
        </p:xfrm>
        <a:graphic xmlns:a="http://schemas.openxmlformats.org/drawingml/2006/main">
          <a:graphicData uri="http://schemas.openxmlformats.org/drawingml/2006/chart">
            <c:chart xmlns:c="http://schemas.openxmlformats.org/drawingml/2006/chart" r:id="rId4"/>
          </a:graphicData>
        </a:graphic>
      </p:graphicFrame>
      <p:graphicFrame>
        <p:nvGraphicFramePr>
          <p:cNvPr id="8" name="Chart 4" descr=""/>
          <p:cNvGraphicFramePr/>
          <p:nvPr/>
        </p:nvGraphicFramePr>
        <p:xfrm>
          <a:off x="548640" y="3977640"/>
          <a:ext cx="2743200" cy="2148840"/>
        </p:xfrm>
        <a:graphic xmlns:a="http://schemas.openxmlformats.org/drawingml/2006/main">
          <a:graphicData uri="http://schemas.openxmlformats.org/drawingml/2006/chart">
            <c:chart xmlns:c="http://schemas.openxmlformats.org/drawingml/2006/chart" r:id="rId5"/>
          </a:graphicData>
        </a:graphic>
      </p:graphicFrame>
      <p:graphicFrame>
        <p:nvGraphicFramePr>
          <p:cNvPr id="9" name="Chart 5" descr=""/>
          <p:cNvGraphicFramePr/>
          <p:nvPr/>
        </p:nvGraphicFramePr>
        <p:xfrm>
          <a:off x="3319272" y="3977640"/>
          <a:ext cx="2743200" cy="2148840"/>
        </p:xfrm>
        <a:graphic xmlns:a="http://schemas.openxmlformats.org/drawingml/2006/main">
          <a:graphicData uri="http://schemas.openxmlformats.org/drawingml/2006/chart">
            <c:chart xmlns:c="http://schemas.openxmlformats.org/drawingml/2006/chart" r:id="rId6"/>
          </a:graphicData>
        </a:graphic>
      </p:graphicFrame>
      <p:graphicFrame>
        <p:nvGraphicFramePr>
          <p:cNvPr id="10" name="Chart 6" descr=""/>
          <p:cNvGraphicFramePr/>
          <p:nvPr/>
        </p:nvGraphicFramePr>
        <p:xfrm>
          <a:off x="6089904" y="3977640"/>
          <a:ext cx="2743200" cy="2148840"/>
        </p:xfrm>
        <a:graphic xmlns:a="http://schemas.openxmlformats.org/drawingml/2006/main">
          <a:graphicData uri="http://schemas.openxmlformats.org/drawingml/2006/chart">
            <c:chart xmlns:c="http://schemas.openxmlformats.org/drawingml/2006/chart" r:id="rId7"/>
          </a:graphicData>
        </a:graphic>
      </p:graphicFrame>
      <p:graphicFrame>
        <p:nvGraphicFramePr>
          <p:cNvPr id="11" name="Chart 7" descr=""/>
          <p:cNvGraphicFramePr/>
          <p:nvPr/>
        </p:nvGraphicFramePr>
        <p:xfrm>
          <a:off x="8860536" y="3977640"/>
          <a:ext cx="2743200" cy="2148840"/>
        </p:xfrm>
        <a:graphic xmlns:a="http://schemas.openxmlformats.org/drawingml/2006/main">
          <a:graphicData uri="http://schemas.openxmlformats.org/drawingml/2006/chart">
            <c:chart xmlns:c="http://schemas.openxmlformats.org/drawingml/2006/chart" r:id="rId8"/>
          </a:graphicData>
        </a:graphic>
      </p:graphicFrame>
      <p:sp>
        <p:nvSpPr>
          <p:cNvPr id="12" name="Shape 2"/>
          <p:cNvSpPr/>
          <p:nvPr/>
        </p:nvSpPr>
        <p:spPr>
          <a:xfrm>
            <a:off x="548640" y="6263640"/>
            <a:ext cx="201168" cy="201168"/>
          </a:xfrm>
          <a:prstGeom prst="rect">
            <a:avLst/>
          </a:prstGeom>
          <a:solidFill>
            <a:srgbClr val="2A78D6"/>
          </a:solidFill>
          <a:ln w="12700">
            <a:solidFill>
              <a:srgbClr val="2A78D6"/>
            </a:solidFill>
            <a:prstDash val="solid"/>
          </a:ln>
        </p:spPr>
      </p:sp>
      <p:sp>
        <p:nvSpPr>
          <p:cNvPr id="13" name="Text 3"/>
          <p:cNvSpPr txBox="1"/>
          <p:nvPr/>
        </p:nvSpPr>
        <p:spPr>
          <a:xfrm>
            <a:off x="822960" y="6199632"/>
            <a:ext cx="2468880" cy="329184"/>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The study (reported)</a:t>
            </a:r>
            <a:endParaRPr lang="en-US" sz="1200" dirty="0"/>
          </a:p>
        </p:txBody>
      </p:sp>
      <p:sp>
        <p:nvSpPr>
          <p:cNvPr id="14" name="Shape 4"/>
          <p:cNvSpPr/>
          <p:nvPr/>
        </p:nvSpPr>
        <p:spPr>
          <a:xfrm>
            <a:off x="3337560" y="6263640"/>
            <a:ext cx="201168" cy="201168"/>
          </a:xfrm>
          <a:prstGeom prst="rect">
            <a:avLst/>
          </a:prstGeom>
          <a:solidFill>
            <a:srgbClr val="EB6834"/>
          </a:solidFill>
          <a:ln w="12700">
            <a:solidFill>
              <a:srgbClr val="EB6834"/>
            </a:solidFill>
            <a:prstDash val="solid"/>
          </a:ln>
        </p:spPr>
      </p:sp>
      <p:sp>
        <p:nvSpPr>
          <p:cNvPr id="15" name="Text 5"/>
          <p:cNvSpPr txBox="1"/>
          <p:nvPr/>
        </p:nvSpPr>
        <p:spPr>
          <a:xfrm>
            <a:off x="3611880" y="6199632"/>
            <a:ext cx="2468880" cy="329184"/>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Our re-do of the study</a:t>
            </a:r>
            <a:endParaRPr lang="en-US" sz="1200" dirty="0"/>
          </a:p>
        </p:txBody>
      </p:sp>
      <p:sp>
        <p:nvSpPr>
          <p:cNvPr id="16" name="Shape 6"/>
          <p:cNvSpPr/>
          <p:nvPr/>
        </p:nvSpPr>
        <p:spPr>
          <a:xfrm>
            <a:off x="6126480" y="6263640"/>
            <a:ext cx="201168" cy="201168"/>
          </a:xfrm>
          <a:prstGeom prst="rect">
            <a:avLst/>
          </a:prstGeom>
          <a:solidFill>
            <a:srgbClr val="1BAF7A"/>
          </a:solidFill>
          <a:ln w="12700">
            <a:solidFill>
              <a:srgbClr val="1BAF7A"/>
            </a:solidFill>
            <a:prstDash val="solid"/>
          </a:ln>
        </p:spPr>
      </p:sp>
      <p:sp>
        <p:nvSpPr>
          <p:cNvPr id="17" name="Text 7"/>
          <p:cNvSpPr txBox="1"/>
          <p:nvPr/>
        </p:nvSpPr>
        <p:spPr>
          <a:xfrm>
            <a:off x="6400800" y="6199632"/>
            <a:ext cx="2468880" cy="329184"/>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Idea 1: team + LSTM</a:t>
            </a:r>
            <a:endParaRPr lang="en-US" sz="1200" dirty="0"/>
          </a:p>
        </p:txBody>
      </p:sp>
      <p:sp>
        <p:nvSpPr>
          <p:cNvPr id="18" name="Shape 8"/>
          <p:cNvSpPr/>
          <p:nvPr/>
        </p:nvSpPr>
        <p:spPr>
          <a:xfrm>
            <a:off x="8915400" y="6263640"/>
            <a:ext cx="201168" cy="201168"/>
          </a:xfrm>
          <a:prstGeom prst="rect">
            <a:avLst/>
          </a:prstGeom>
          <a:solidFill>
            <a:srgbClr val="EDA100"/>
          </a:solidFill>
          <a:ln w="12700">
            <a:solidFill>
              <a:srgbClr val="EDA100"/>
            </a:solidFill>
            <a:prstDash val="solid"/>
          </a:ln>
        </p:spPr>
      </p:sp>
      <p:sp>
        <p:nvSpPr>
          <p:cNvPr id="19" name="Text 9"/>
          <p:cNvSpPr txBox="1"/>
          <p:nvPr/>
        </p:nvSpPr>
        <p:spPr>
          <a:xfrm>
            <a:off x="9189720" y="6199632"/>
            <a:ext cx="2468880" cy="329184"/>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Idea 2: FT-Transformer</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000" b="1" dirty="0">
                <a:solidFill>
                  <a:srgbClr val="16213E"/>
                </a:solidFill>
                <a:latin typeface="Calibri" pitchFamily="34" charset="0"/>
                <a:ea typeface="Calibri" pitchFamily="34" charset="-122"/>
                <a:cs typeface="Calibri" pitchFamily="34" charset="-120"/>
              </a:rPr>
              <a:t>What we learned</a:t>
            </a:r>
            <a:endParaRPr lang="en-US" sz="3000" dirty="0"/>
          </a:p>
        </p:txBody>
      </p:sp>
      <p:sp>
        <p:nvSpPr>
          <p:cNvPr id="3" name="Shape 1"/>
          <p:cNvSpPr/>
          <p:nvPr/>
        </p:nvSpPr>
        <p:spPr>
          <a:xfrm>
            <a:off x="548640" y="1645920"/>
            <a:ext cx="3474720" cy="3566160"/>
          </a:xfrm>
          <a:prstGeom prst="roundRect">
            <a:avLst>
              <a:gd name="adj" fmla="val 2105"/>
            </a:avLst>
          </a:prstGeom>
          <a:solidFill>
            <a:srgbClr val="EEF3FA"/>
          </a:solidFill>
          <a:ln w="12700">
            <a:solidFill>
              <a:srgbClr val="EEF3FA"/>
            </a:solidFill>
            <a:prstDash val="solid"/>
          </a:ln>
        </p:spPr>
      </p:sp>
      <p:sp>
        <p:nvSpPr>
          <p:cNvPr id="4" name="Text 2"/>
          <p:cNvSpPr txBox="1"/>
          <p:nvPr/>
        </p:nvSpPr>
        <p:spPr>
          <a:xfrm>
            <a:off x="822960" y="1828800"/>
            <a:ext cx="2926080" cy="822960"/>
          </a:xfrm>
          <a:prstGeom prst="rect">
            <a:avLst/>
          </a:prstGeom>
          <a:noFill/>
          <a:ln/>
        </p:spPr>
        <p:txBody>
          <a:bodyPr wrap="square" lIns="0" tIns="0" rIns="0" bIns="0" rtlCol="0" anchor="ctr"/>
          <a:lstStyle/>
          <a:p>
            <a:pPr indent="0" marL="0">
              <a:buNone/>
            </a:pPr>
            <a:r>
              <a:rPr lang="en-US" sz="3600" b="1" dirty="0">
                <a:solidFill>
                  <a:srgbClr val="EB6834"/>
                </a:solidFill>
                <a:latin typeface="Calibri" pitchFamily="34" charset="0"/>
                <a:ea typeface="Calibri" pitchFamily="34" charset="-122"/>
                <a:cs typeface="Calibri" pitchFamily="34" charset="-120"/>
              </a:rPr>
              <a:t>Just 1</a:t>
            </a:r>
            <a:endParaRPr lang="en-US" sz="3600" dirty="0"/>
          </a:p>
        </p:txBody>
      </p:sp>
      <p:sp>
        <p:nvSpPr>
          <p:cNvPr id="5" name="Text 3"/>
          <p:cNvSpPr txBox="1"/>
          <p:nvPr/>
        </p:nvSpPr>
        <p:spPr>
          <a:xfrm>
            <a:off x="822960" y="2697480"/>
            <a:ext cx="2926080" cy="731520"/>
          </a:xfrm>
          <a:prstGeom prst="rect">
            <a:avLst/>
          </a:prstGeom>
          <a:noFill/>
          <a:ln/>
        </p:spPr>
        <p:txBody>
          <a:bodyPr wrap="square" lIns="0" tIns="0" rIns="0" bIns="0" rtlCol="0" anchor="t"/>
          <a:lstStyle/>
          <a:p>
            <a:pPr indent="0" marL="0">
              <a:buNone/>
            </a:pPr>
            <a:r>
              <a:rPr lang="en-US" sz="1800" b="1" dirty="0">
                <a:solidFill>
                  <a:srgbClr val="16213E"/>
                </a:solidFill>
                <a:latin typeface="Calibri" pitchFamily="34" charset="0"/>
                <a:ea typeface="Calibri" pitchFamily="34" charset="-122"/>
                <a:cs typeface="Calibri" pitchFamily="34" charset="-120"/>
              </a:rPr>
              <a:t>The study's model barely helps</a:t>
            </a:r>
            <a:endParaRPr lang="en-US" sz="1800" dirty="0"/>
          </a:p>
        </p:txBody>
      </p:sp>
      <p:sp>
        <p:nvSpPr>
          <p:cNvPr id="6" name="Text 4"/>
          <p:cNvSpPr txBox="1"/>
          <p:nvPr/>
        </p:nvSpPr>
        <p:spPr>
          <a:xfrm>
            <a:off x="822960" y="3474720"/>
            <a:ext cx="2926080" cy="164592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On CIC-IDS2017 it beats plain XGBoost by just 1 connection out of 14,771. On NSL-KDD, plain XGBoost is slightly better.</a:t>
            </a:r>
            <a:endParaRPr lang="en-US" sz="1600" dirty="0"/>
          </a:p>
        </p:txBody>
      </p:sp>
      <p:sp>
        <p:nvSpPr>
          <p:cNvPr id="7" name="Shape 5"/>
          <p:cNvSpPr/>
          <p:nvPr/>
        </p:nvSpPr>
        <p:spPr>
          <a:xfrm>
            <a:off x="4297680" y="1645920"/>
            <a:ext cx="3474720" cy="3566160"/>
          </a:xfrm>
          <a:prstGeom prst="roundRect">
            <a:avLst>
              <a:gd name="adj" fmla="val 2105"/>
            </a:avLst>
          </a:prstGeom>
          <a:solidFill>
            <a:srgbClr val="EEF3FA"/>
          </a:solidFill>
          <a:ln w="12700">
            <a:solidFill>
              <a:srgbClr val="EEF3FA"/>
            </a:solidFill>
            <a:prstDash val="solid"/>
          </a:ln>
        </p:spPr>
      </p:sp>
      <p:sp>
        <p:nvSpPr>
          <p:cNvPr id="8" name="Text 6"/>
          <p:cNvSpPr txBox="1"/>
          <p:nvPr/>
        </p:nvSpPr>
        <p:spPr>
          <a:xfrm>
            <a:off x="4572000" y="1828800"/>
            <a:ext cx="2926080" cy="822960"/>
          </a:xfrm>
          <a:prstGeom prst="rect">
            <a:avLst/>
          </a:prstGeom>
          <a:noFill/>
          <a:ln/>
        </p:spPr>
        <p:txBody>
          <a:bodyPr wrap="square" lIns="0" tIns="0" rIns="0" bIns="0" rtlCol="0" anchor="ctr"/>
          <a:lstStyle/>
          <a:p>
            <a:pPr indent="0" marL="0">
              <a:buNone/>
            </a:pPr>
            <a:r>
              <a:rPr lang="en-US" sz="3600" b="1" dirty="0">
                <a:solidFill>
                  <a:srgbClr val="EB6834"/>
                </a:solidFill>
                <a:latin typeface="Calibri" pitchFamily="34" charset="0"/>
                <a:ea typeface="Calibri" pitchFamily="34" charset="-122"/>
                <a:cs typeface="Calibri" pitchFamily="34" charset="-120"/>
              </a:rPr>
              <a:t>Same answers</a:t>
            </a:r>
            <a:endParaRPr lang="en-US" sz="3600" dirty="0"/>
          </a:p>
        </p:txBody>
      </p:sp>
      <p:sp>
        <p:nvSpPr>
          <p:cNvPr id="9" name="Text 7"/>
          <p:cNvSpPr txBox="1"/>
          <p:nvPr/>
        </p:nvSpPr>
        <p:spPr>
          <a:xfrm>
            <a:off x="4572000" y="2697480"/>
            <a:ext cx="2926080" cy="731520"/>
          </a:xfrm>
          <a:prstGeom prst="rect">
            <a:avLst/>
          </a:prstGeom>
          <a:noFill/>
          <a:ln/>
        </p:spPr>
        <p:txBody>
          <a:bodyPr wrap="square" lIns="0" tIns="0" rIns="0" bIns="0" rtlCol="0" anchor="t"/>
          <a:lstStyle/>
          <a:p>
            <a:pPr indent="0" marL="0">
              <a:buNone/>
            </a:pPr>
            <a:r>
              <a:rPr lang="en-US" sz="1800" b="1" dirty="0">
                <a:solidFill>
                  <a:srgbClr val="16213E"/>
                </a:solidFill>
                <a:latin typeface="Calibri" pitchFamily="34" charset="0"/>
                <a:ea typeface="Calibri" pitchFamily="34" charset="-122"/>
                <a:cs typeface="Calibri" pitchFamily="34" charset="-120"/>
              </a:rPr>
              <a:t>The smarter team didn't help</a:t>
            </a:r>
            <a:endParaRPr lang="en-US" sz="1800" dirty="0"/>
          </a:p>
        </p:txBody>
      </p:sp>
      <p:sp>
        <p:nvSpPr>
          <p:cNvPr id="10" name="Text 8"/>
          <p:cNvSpPr txBox="1"/>
          <p:nvPr/>
        </p:nvSpPr>
        <p:spPr>
          <a:xfrm>
            <a:off x="4572000" y="3474720"/>
            <a:ext cx="2926080" cy="164592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On CIC-IDS2017 it gave exactly the same answers as the simple average. The LSTM was too weak, and the other two made the same mistakes.</a:t>
            </a:r>
            <a:endParaRPr lang="en-US" sz="1600" dirty="0"/>
          </a:p>
        </p:txBody>
      </p:sp>
      <p:sp>
        <p:nvSpPr>
          <p:cNvPr id="11" name="Shape 9"/>
          <p:cNvSpPr/>
          <p:nvPr/>
        </p:nvSpPr>
        <p:spPr>
          <a:xfrm>
            <a:off x="8046720" y="1645920"/>
            <a:ext cx="3474720" cy="3566160"/>
          </a:xfrm>
          <a:prstGeom prst="roundRect">
            <a:avLst>
              <a:gd name="adj" fmla="val 2105"/>
            </a:avLst>
          </a:prstGeom>
          <a:solidFill>
            <a:srgbClr val="EEF3FA"/>
          </a:solidFill>
          <a:ln w="12700">
            <a:solidFill>
              <a:srgbClr val="EEF3FA"/>
            </a:solidFill>
            <a:prstDash val="solid"/>
          </a:ln>
        </p:spPr>
      </p:sp>
      <p:sp>
        <p:nvSpPr>
          <p:cNvPr id="12" name="Text 10"/>
          <p:cNvSpPr txBox="1"/>
          <p:nvPr/>
        </p:nvSpPr>
        <p:spPr>
          <a:xfrm>
            <a:off x="8321040" y="1828800"/>
            <a:ext cx="2926080" cy="822960"/>
          </a:xfrm>
          <a:prstGeom prst="rect">
            <a:avLst/>
          </a:prstGeom>
          <a:noFill/>
          <a:ln/>
        </p:spPr>
        <p:txBody>
          <a:bodyPr wrap="square" lIns="0" tIns="0" rIns="0" bIns="0" rtlCol="0" anchor="ctr"/>
          <a:lstStyle/>
          <a:p>
            <a:pPr indent="0" marL="0">
              <a:buNone/>
            </a:pPr>
            <a:r>
              <a:rPr lang="en-US" sz="3600" b="1" dirty="0">
                <a:solidFill>
                  <a:srgbClr val="EB6834"/>
                </a:solidFill>
                <a:latin typeface="Calibri" pitchFamily="34" charset="0"/>
                <a:ea typeface="Calibri" pitchFamily="34" charset="-122"/>
                <a:cs typeface="Calibri" pitchFamily="34" charset="-120"/>
              </a:rPr>
              <a:t>0.2–0.9%</a:t>
            </a:r>
            <a:endParaRPr lang="en-US" sz="3600" dirty="0"/>
          </a:p>
        </p:txBody>
      </p:sp>
      <p:sp>
        <p:nvSpPr>
          <p:cNvPr id="13" name="Text 11"/>
          <p:cNvSpPr txBox="1"/>
          <p:nvPr/>
        </p:nvSpPr>
        <p:spPr>
          <a:xfrm>
            <a:off x="8321040" y="2697480"/>
            <a:ext cx="2926080" cy="731520"/>
          </a:xfrm>
          <a:prstGeom prst="rect">
            <a:avLst/>
          </a:prstGeom>
          <a:noFill/>
          <a:ln/>
        </p:spPr>
        <p:txBody>
          <a:bodyPr wrap="square" lIns="0" tIns="0" rIns="0" bIns="0" rtlCol="0" anchor="t"/>
          <a:lstStyle/>
          <a:p>
            <a:pPr indent="0" marL="0">
              <a:buNone/>
            </a:pPr>
            <a:r>
              <a:rPr lang="en-US" sz="1800" b="1" dirty="0">
                <a:solidFill>
                  <a:srgbClr val="16213E"/>
                </a:solidFill>
                <a:latin typeface="Calibri" pitchFamily="34" charset="0"/>
                <a:ea typeface="Calibri" pitchFamily="34" charset="-122"/>
                <a:cs typeface="Calibri" pitchFamily="34" charset="-120"/>
              </a:rPr>
              <a:t>Simple tree models still win</a:t>
            </a:r>
            <a:endParaRPr lang="en-US" sz="1800" dirty="0"/>
          </a:p>
        </p:txBody>
      </p:sp>
      <p:sp>
        <p:nvSpPr>
          <p:cNvPr id="14" name="Text 12"/>
          <p:cNvSpPr txBox="1"/>
          <p:nvPr/>
        </p:nvSpPr>
        <p:spPr>
          <a:xfrm>
            <a:off x="8321040" y="3474720"/>
            <a:ext cx="2926080" cy="164592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The FT-Transformer was a little less accurate, but gave the fewest false alarms on UNSW-NB15. It makes different mistakes, which could help a team.</a:t>
            </a:r>
            <a:endParaRPr lang="en-US" sz="1600" dirty="0"/>
          </a:p>
        </p:txBody>
      </p:sp>
      <p:sp>
        <p:nvSpPr>
          <p:cNvPr id="15" name="Text 13"/>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000" b="1" dirty="0">
                <a:solidFill>
                  <a:srgbClr val="16213E"/>
                </a:solidFill>
                <a:latin typeface="Calibri" pitchFamily="34" charset="0"/>
                <a:ea typeface="Calibri" pitchFamily="34" charset="-122"/>
                <a:cs typeface="Calibri" pitchFamily="34" charset="-120"/>
              </a:rPr>
              <a:t>Where we are, and what's next</a:t>
            </a:r>
            <a:endParaRPr lang="en-US" sz="3000" dirty="0"/>
          </a:p>
        </p:txBody>
      </p:sp>
      <p:sp>
        <p:nvSpPr>
          <p:cNvPr id="3" name="Shape 1"/>
          <p:cNvSpPr/>
          <p:nvPr/>
        </p:nvSpPr>
        <p:spPr>
          <a:xfrm>
            <a:off x="548640" y="1371600"/>
            <a:ext cx="5349240" cy="4754880"/>
          </a:xfrm>
          <a:prstGeom prst="roundRect">
            <a:avLst>
              <a:gd name="adj" fmla="val 1538"/>
            </a:avLst>
          </a:prstGeom>
          <a:solidFill>
            <a:srgbClr val="EEF3FA"/>
          </a:solidFill>
          <a:ln w="12700">
            <a:solidFill>
              <a:srgbClr val="EEF3FA"/>
            </a:solidFill>
            <a:prstDash val="solid"/>
          </a:ln>
        </p:spPr>
      </p:sp>
      <p:sp>
        <p:nvSpPr>
          <p:cNvPr id="4" name="Text 2"/>
          <p:cNvSpPr txBox="1"/>
          <p:nvPr/>
        </p:nvSpPr>
        <p:spPr>
          <a:xfrm>
            <a:off x="868680" y="1600200"/>
            <a:ext cx="4709160" cy="320040"/>
          </a:xfrm>
          <a:prstGeom prst="rect">
            <a:avLst/>
          </a:prstGeom>
          <a:noFill/>
          <a:ln/>
        </p:spPr>
        <p:txBody>
          <a:bodyPr wrap="square" lIns="0" tIns="0" rIns="0" bIns="0" rtlCol="0" anchor="ctr"/>
          <a:lstStyle/>
          <a:p>
            <a:pPr indent="0" marL="0">
              <a:buNone/>
            </a:pPr>
            <a:r>
              <a:rPr lang="en-US" sz="1300" b="1" dirty="0">
                <a:solidFill>
                  <a:srgbClr val="0A7F2E"/>
                </a:solidFill>
                <a:latin typeface="Calibri" pitchFamily="34" charset="0"/>
                <a:ea typeface="Calibri" pitchFamily="34" charset="-122"/>
                <a:cs typeface="Calibri" pitchFamily="34" charset="-120"/>
              </a:rPr>
              <a:t>PHASE 1  ·  DONE</a:t>
            </a:r>
            <a:endParaRPr lang="en-US" sz="1300" dirty="0"/>
          </a:p>
        </p:txBody>
      </p:sp>
      <p:sp>
        <p:nvSpPr>
          <p:cNvPr id="5" name="Text 3"/>
          <p:cNvSpPr txBox="1"/>
          <p:nvPr/>
        </p:nvSpPr>
        <p:spPr>
          <a:xfrm>
            <a:off x="868680" y="1920240"/>
            <a:ext cx="4709160" cy="502920"/>
          </a:xfrm>
          <a:prstGeom prst="rect">
            <a:avLst/>
          </a:prstGeom>
          <a:noFill/>
          <a:ln/>
        </p:spPr>
        <p:txBody>
          <a:bodyPr wrap="square" lIns="0" tIns="0" rIns="0" bIns="0" rtlCol="0" anchor="ctr"/>
          <a:lstStyle/>
          <a:p>
            <a:pPr indent="0" marL="0">
              <a:buNone/>
            </a:pPr>
            <a:r>
              <a:rPr lang="en-US" sz="2200" b="1" dirty="0">
                <a:solidFill>
                  <a:srgbClr val="16213E"/>
                </a:solidFill>
                <a:latin typeface="Calibri" pitchFamily="34" charset="0"/>
                <a:ea typeface="Calibri" pitchFamily="34" charset="-122"/>
                <a:cs typeface="Calibri" pitchFamily="34" charset="-120"/>
              </a:rPr>
              <a:t>Re-doing the study + FT-Transformer</a:t>
            </a:r>
            <a:endParaRPr lang="en-US" sz="2200" dirty="0"/>
          </a:p>
        </p:txBody>
      </p:sp>
      <p:sp>
        <p:nvSpPr>
          <p:cNvPr id="6" name="Text 4"/>
          <p:cNvSpPr txBox="1"/>
          <p:nvPr/>
        </p:nvSpPr>
        <p:spPr>
          <a:xfrm>
            <a:off x="868680" y="2560320"/>
            <a:ext cx="4709160" cy="338328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Explored all four datasets</a:t>
            </a:r>
            <a:endParaRPr lang="en-US" sz="1500" dirty="0"/>
          </a:p>
          <a:p>
            <a:pPr marL="228600" indent="-2286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Re-did the whole study on all four datasets</a:t>
            </a:r>
            <a:endParaRPr lang="en-US" sz="1500" dirty="0"/>
          </a:p>
          <a:p>
            <a:pPr marL="228600" indent="-2286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Found a hidden step (keeping only 2% of CIC-IDS2017)</a:t>
            </a:r>
            <a:endParaRPr lang="en-US" sz="1500" dirty="0"/>
          </a:p>
          <a:p>
            <a:pPr marL="228600" indent="-2286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Explained half of the UNSW-NB15 difference (copies)</a:t>
            </a:r>
            <a:endParaRPr lang="en-US" sz="1500" dirty="0"/>
          </a:p>
          <a:p>
            <a:pPr marL="228600" indent="-2286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Built the FT-Transformer and the smarter team</a:t>
            </a:r>
            <a:endParaRPr lang="en-US" sz="1500" dirty="0"/>
          </a:p>
          <a:p>
            <a:pPr marL="228600" indent="-2286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Wrote a report of our results and the problems we found</a:t>
            </a:r>
            <a:endParaRPr lang="en-US" sz="1500" dirty="0"/>
          </a:p>
        </p:txBody>
      </p:sp>
      <p:sp>
        <p:nvSpPr>
          <p:cNvPr id="7" name="Shape 5"/>
          <p:cNvSpPr/>
          <p:nvPr/>
        </p:nvSpPr>
        <p:spPr>
          <a:xfrm>
            <a:off x="6263640" y="1371600"/>
            <a:ext cx="5349240" cy="4754880"/>
          </a:xfrm>
          <a:prstGeom prst="roundRect">
            <a:avLst>
              <a:gd name="adj" fmla="val 1538"/>
            </a:avLst>
          </a:prstGeom>
          <a:solidFill>
            <a:srgbClr val="FDE7DD"/>
          </a:solidFill>
          <a:ln w="12700">
            <a:solidFill>
              <a:srgbClr val="FDE7DD"/>
            </a:solidFill>
            <a:prstDash val="solid"/>
          </a:ln>
        </p:spPr>
      </p:sp>
      <p:sp>
        <p:nvSpPr>
          <p:cNvPr id="8" name="Text 6"/>
          <p:cNvSpPr txBox="1"/>
          <p:nvPr/>
        </p:nvSpPr>
        <p:spPr>
          <a:xfrm>
            <a:off x="6583680" y="1600200"/>
            <a:ext cx="4709160" cy="32004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PHASE 2  ·  PLANNED</a:t>
            </a:r>
            <a:endParaRPr lang="en-US" sz="1300" dirty="0"/>
          </a:p>
        </p:txBody>
      </p:sp>
      <p:sp>
        <p:nvSpPr>
          <p:cNvPr id="9" name="Text 7"/>
          <p:cNvSpPr txBox="1"/>
          <p:nvPr/>
        </p:nvSpPr>
        <p:spPr>
          <a:xfrm>
            <a:off x="6583680" y="1920240"/>
            <a:ext cx="4709160" cy="502920"/>
          </a:xfrm>
          <a:prstGeom prst="rect">
            <a:avLst/>
          </a:prstGeom>
          <a:noFill/>
          <a:ln/>
        </p:spPr>
        <p:txBody>
          <a:bodyPr wrap="square" lIns="0" tIns="0" rIns="0" bIns="0" rtlCol="0" anchor="ctr"/>
          <a:lstStyle/>
          <a:p>
            <a:pPr indent="0" marL="0">
              <a:buNone/>
            </a:pPr>
            <a:r>
              <a:rPr lang="en-US" sz="2200" b="1" dirty="0">
                <a:solidFill>
                  <a:srgbClr val="16213E"/>
                </a:solidFill>
                <a:latin typeface="Calibri" pitchFamily="34" charset="0"/>
                <a:ea typeface="Calibri" pitchFamily="34" charset="-122"/>
                <a:cs typeface="Calibri" pitchFamily="34" charset="-120"/>
              </a:rPr>
              <a:t>How much of the 99% is real?</a:t>
            </a:r>
            <a:endParaRPr lang="en-US" sz="2200" dirty="0"/>
          </a:p>
        </p:txBody>
      </p:sp>
      <p:sp>
        <p:nvSpPr>
          <p:cNvPr id="10" name="Text 8"/>
          <p:cNvSpPr txBox="1"/>
          <p:nvPr/>
        </p:nvSpPr>
        <p:spPr>
          <a:xfrm>
            <a:off x="6583680" y="2560320"/>
            <a:ext cx="4709160" cy="338328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rgbClr val="1F2933"/>
                </a:solidFill>
                <a:latin typeface="Calibri" pitchFamily="34" charset="0"/>
                <a:ea typeface="Calibri" pitchFamily="34" charset="-122"/>
                <a:cs typeface="Calibri" pitchFamily="34" charset="-120"/>
              </a:rPr>
              <a:t>A fair test: </a:t>
            </a:r>
            <a:pPr indent="0" marL="0">
              <a:spcAft>
                <a:spcPts val="800"/>
              </a:spcAft>
              <a:buNone/>
            </a:pPr>
            <a:r>
              <a:rPr lang="en-US" sz="1500" dirty="0">
                <a:solidFill>
                  <a:srgbClr val="1F2933"/>
                </a:solidFill>
                <a:latin typeface="Calibri" pitchFamily="34" charset="0"/>
                <a:ea typeface="Calibri" pitchFamily="34" charset="-122"/>
                <a:cs typeface="Calibri" pitchFamily="34" charset="-120"/>
              </a:rPr>
              <a:t>no peeking at the test data, and the official NSL-KDD test</a:t>
            </a:r>
            <a:endParaRPr lang="en-US" sz="1500" dirty="0"/>
          </a:p>
          <a:p>
            <a:pPr marL="228600" indent="-228600">
              <a:spcAft>
                <a:spcPts val="800"/>
              </a:spcAft>
              <a:buSzPct val="100000"/>
              <a:buChar char="•"/>
            </a:pPr>
            <a:r>
              <a:rPr lang="en-US" sz="1500" b="1" dirty="0">
                <a:solidFill>
                  <a:srgbClr val="1F2933"/>
                </a:solidFill>
                <a:latin typeface="Calibri" pitchFamily="34" charset="0"/>
                <a:ea typeface="Calibri" pitchFamily="34" charset="-122"/>
                <a:cs typeface="Calibri" pitchFamily="34" charset="-120"/>
              </a:rPr>
              <a:t>Repeat it: </a:t>
            </a:r>
            <a:pPr indent="0" marL="0">
              <a:spcAft>
                <a:spcPts val="800"/>
              </a:spcAft>
              <a:buNone/>
            </a:pPr>
            <a:r>
              <a:rPr lang="en-US" sz="1500" dirty="0">
                <a:solidFill>
                  <a:srgbClr val="1F2933"/>
                </a:solidFill>
                <a:latin typeface="Calibri" pitchFamily="34" charset="0"/>
                <a:ea typeface="Calibri" pitchFamily="34" charset="-122"/>
                <a:cs typeface="Calibri" pitchFamily="34" charset="-120"/>
              </a:rPr>
              <a:t>run each test several times, to show the differences are real and not luck</a:t>
            </a:r>
            <a:endParaRPr lang="en-US" sz="1500" dirty="0"/>
          </a:p>
          <a:p>
            <a:pPr marL="228600" indent="-228600">
              <a:spcAft>
                <a:spcPts val="800"/>
              </a:spcAft>
              <a:buSzPct val="100000"/>
              <a:buChar char="•"/>
            </a:pPr>
            <a:r>
              <a:rPr lang="en-US" sz="1500" b="1" dirty="0">
                <a:solidFill>
                  <a:srgbClr val="1F2933"/>
                </a:solidFill>
                <a:latin typeface="Calibri" pitchFamily="34" charset="0"/>
                <a:ea typeface="Calibri" pitchFamily="34" charset="-122"/>
                <a:cs typeface="Calibri" pitchFamily="34" charset="-120"/>
              </a:rPr>
              <a:t>Harder tests: </a:t>
            </a:r>
            <a:pPr indent="0" marL="0">
              <a:spcAft>
                <a:spcPts val="800"/>
              </a:spcAft>
              <a:buNone/>
            </a:pPr>
            <a:r>
              <a:rPr lang="en-US" sz="1500" dirty="0">
                <a:solidFill>
                  <a:srgbClr val="1F2933"/>
                </a:solidFill>
                <a:latin typeface="Calibri" pitchFamily="34" charset="0"/>
                <a:ea typeface="Calibri" pitchFamily="34" charset="-122"/>
                <a:cs typeface="Calibri" pitchFamily="34" charset="-120"/>
              </a:rPr>
              <a:t>learn on one dataset, test on another; hide one attack type and see if the model spots it</a:t>
            </a:r>
            <a:endParaRPr lang="en-US" sz="1500" dirty="0"/>
          </a:p>
          <a:p>
            <a:pPr marL="228600" indent="-228600">
              <a:spcAft>
                <a:spcPts val="800"/>
              </a:spcAft>
              <a:buSzPct val="100000"/>
              <a:buChar char="•"/>
            </a:pPr>
            <a:r>
              <a:rPr lang="en-US" sz="1500" b="1" dirty="0">
                <a:solidFill>
                  <a:srgbClr val="1F2933"/>
                </a:solidFill>
                <a:latin typeface="Calibri" pitchFamily="34" charset="0"/>
                <a:ea typeface="Calibri" pitchFamily="34" charset="-122"/>
                <a:cs typeface="Calibri" pitchFamily="34" charset="-120"/>
              </a:rPr>
              <a:t>Shortcut check: </a:t>
            </a:r>
            <a:pPr indent="0" marL="0">
              <a:spcAft>
                <a:spcPts val="800"/>
              </a:spcAft>
              <a:buNone/>
            </a:pPr>
            <a:r>
              <a:rPr lang="en-US" sz="1500" dirty="0">
                <a:solidFill>
                  <a:srgbClr val="1F2933"/>
                </a:solidFill>
                <a:latin typeface="Calibri" pitchFamily="34" charset="0"/>
                <a:ea typeface="Calibri" pitchFamily="34" charset="-122"/>
                <a:cs typeface="Calibri" pitchFamily="34" charset="-120"/>
              </a:rPr>
              <a:t>remove the top clue columns and see if the model still works</a:t>
            </a:r>
            <a:endParaRPr lang="en-US" sz="1500" dirty="0"/>
          </a:p>
          <a:p>
            <a:pPr marL="228600" indent="-228600">
              <a:spcAft>
                <a:spcPts val="800"/>
              </a:spcAft>
              <a:buSzPct val="100000"/>
              <a:buChar char="•"/>
            </a:pPr>
            <a:r>
              <a:rPr lang="en-US" sz="1500" b="1" dirty="0">
                <a:solidFill>
                  <a:srgbClr val="1F2933"/>
                </a:solidFill>
                <a:latin typeface="Calibri" pitchFamily="34" charset="0"/>
                <a:ea typeface="Calibri" pitchFamily="34" charset="-122"/>
                <a:cs typeface="Calibri" pitchFamily="34" charset="-120"/>
              </a:rPr>
              <a:t>Stronger models: </a:t>
            </a:r>
            <a:pPr indent="0" marL="0">
              <a:spcAft>
                <a:spcPts val="800"/>
              </a:spcAft>
              <a:buNone/>
            </a:pPr>
            <a:r>
              <a:rPr lang="en-US" sz="1500" dirty="0">
                <a:solidFill>
                  <a:srgbClr val="1F2933"/>
                </a:solidFill>
                <a:latin typeface="Calibri" pitchFamily="34" charset="0"/>
                <a:ea typeface="Calibri" pitchFamily="34" charset="-122"/>
                <a:cs typeface="Calibri" pitchFamily="34" charset="-120"/>
              </a:rPr>
              <a:t>LightGBM, CatBoost, and a team that includes the FT-Transformer</a:t>
            </a:r>
            <a:endParaRPr lang="en-US" sz="1500" dirty="0"/>
          </a:p>
        </p:txBody>
      </p:sp>
      <p:sp>
        <p:nvSpPr>
          <p:cNvPr id="11" name="Text 9"/>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000" b="1" dirty="0">
                <a:solidFill>
                  <a:srgbClr val="16213E"/>
                </a:solidFill>
                <a:latin typeface="Calibri" pitchFamily="34" charset="0"/>
                <a:ea typeface="Calibri" pitchFamily="34" charset="-122"/>
                <a:cs typeface="Calibri" pitchFamily="34" charset="-120"/>
              </a:rPr>
              <a:t>Weak spots in our own work</a:t>
            </a:r>
            <a:endParaRPr lang="en-US" sz="3000" dirty="0"/>
          </a:p>
        </p:txBody>
      </p:sp>
      <p:sp>
        <p:nvSpPr>
          <p:cNvPr id="3" name="Text 1"/>
          <p:cNvSpPr txBox="1"/>
          <p:nvPr/>
        </p:nvSpPr>
        <p:spPr>
          <a:xfrm>
            <a:off x="548640" y="960120"/>
            <a:ext cx="11091672" cy="365760"/>
          </a:xfrm>
          <a:prstGeom prst="rect">
            <a:avLst/>
          </a:prstGeom>
          <a:noFill/>
          <a:ln/>
        </p:spPr>
        <p:txBody>
          <a:bodyPr wrap="square" lIns="0" tIns="0" rIns="0" bIns="0" rtlCol="0" anchor="ctr"/>
          <a:lstStyle/>
          <a:p>
            <a:pPr indent="0" marL="0">
              <a:buNone/>
            </a:pPr>
            <a:r>
              <a:rPr lang="en-US" sz="1500" dirty="0">
                <a:solidFill>
                  <a:srgbClr val="5B6770"/>
                </a:solidFill>
                <a:latin typeface="Calibri" pitchFamily="34" charset="0"/>
                <a:ea typeface="Calibri" pitchFamily="34" charset="-122"/>
                <a:cs typeface="Calibri" pitchFamily="34" charset="-120"/>
              </a:rPr>
              <a:t>We check ourselves the same way we checked the study</a:t>
            </a:r>
            <a:endParaRPr lang="en-US" sz="1500" dirty="0"/>
          </a:p>
        </p:txBody>
      </p:sp>
      <p:sp>
        <p:nvSpPr>
          <p:cNvPr id="4" name="Shape 2"/>
          <p:cNvSpPr/>
          <p:nvPr/>
        </p:nvSpPr>
        <p:spPr>
          <a:xfrm>
            <a:off x="548640" y="1828800"/>
            <a:ext cx="5394960" cy="1417320"/>
          </a:xfrm>
          <a:prstGeom prst="roundRect">
            <a:avLst>
              <a:gd name="adj" fmla="val 5161"/>
            </a:avLst>
          </a:prstGeom>
          <a:solidFill>
            <a:srgbClr val="EEF3FA"/>
          </a:solidFill>
          <a:ln w="12700">
            <a:solidFill>
              <a:srgbClr val="EEF3FA"/>
            </a:solidFill>
            <a:prstDash val="solid"/>
          </a:ln>
        </p:spPr>
      </p:sp>
      <p:sp>
        <p:nvSpPr>
          <p:cNvPr id="5" name="Text 3"/>
          <p:cNvSpPr txBox="1"/>
          <p:nvPr/>
        </p:nvSpPr>
        <p:spPr>
          <a:xfrm>
            <a:off x="822960" y="2103120"/>
            <a:ext cx="4846320" cy="457200"/>
          </a:xfrm>
          <a:prstGeom prst="rect">
            <a:avLst/>
          </a:prstGeom>
          <a:noFill/>
          <a:ln/>
        </p:spPr>
        <p:txBody>
          <a:bodyPr wrap="square" lIns="0" tIns="0" rIns="0" bIns="0" rtlCol="0" anchor="ctr"/>
          <a:lstStyle/>
          <a:p>
            <a:pPr indent="0" marL="0">
              <a:buNone/>
            </a:pPr>
            <a:r>
              <a:rPr lang="en-US" sz="1800" b="1" dirty="0">
                <a:solidFill>
                  <a:srgbClr val="16213E"/>
                </a:solidFill>
                <a:latin typeface="Calibri" pitchFamily="34" charset="0"/>
                <a:ea typeface="Calibri" pitchFamily="34" charset="-122"/>
                <a:cs typeface="Calibri" pitchFamily="34" charset="-120"/>
              </a:rPr>
              <a:t>Picking columns saw all the data</a:t>
            </a:r>
            <a:endParaRPr lang="en-US" sz="1800" dirty="0"/>
          </a:p>
        </p:txBody>
      </p:sp>
      <p:sp>
        <p:nvSpPr>
          <p:cNvPr id="6" name="Text 4"/>
          <p:cNvSpPr txBox="1"/>
          <p:nvPr/>
        </p:nvSpPr>
        <p:spPr>
          <a:xfrm>
            <a:off x="822960" y="2606040"/>
            <a:ext cx="4846320" cy="82296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Like the study, we picked columns before splitting</a:t>
            </a:r>
            <a:endParaRPr lang="en-US" sz="1500" dirty="0"/>
          </a:p>
        </p:txBody>
      </p:sp>
      <p:sp>
        <p:nvSpPr>
          <p:cNvPr id="7" name="Shape 5"/>
          <p:cNvSpPr/>
          <p:nvPr/>
        </p:nvSpPr>
        <p:spPr>
          <a:xfrm>
            <a:off x="6217920" y="1828800"/>
            <a:ext cx="5394960" cy="1417320"/>
          </a:xfrm>
          <a:prstGeom prst="roundRect">
            <a:avLst>
              <a:gd name="adj" fmla="val 5161"/>
            </a:avLst>
          </a:prstGeom>
          <a:solidFill>
            <a:srgbClr val="EEF3FA"/>
          </a:solidFill>
          <a:ln w="12700">
            <a:solidFill>
              <a:srgbClr val="EEF3FA"/>
            </a:solidFill>
            <a:prstDash val="solid"/>
          </a:ln>
        </p:spPr>
      </p:sp>
      <p:sp>
        <p:nvSpPr>
          <p:cNvPr id="8" name="Text 6"/>
          <p:cNvSpPr txBox="1"/>
          <p:nvPr/>
        </p:nvSpPr>
        <p:spPr>
          <a:xfrm>
            <a:off x="6492240" y="2103120"/>
            <a:ext cx="4846320" cy="457200"/>
          </a:xfrm>
          <a:prstGeom prst="rect">
            <a:avLst/>
          </a:prstGeom>
          <a:noFill/>
          <a:ln/>
        </p:spPr>
        <p:txBody>
          <a:bodyPr wrap="square" lIns="0" tIns="0" rIns="0" bIns="0" rtlCol="0" anchor="ctr"/>
          <a:lstStyle/>
          <a:p>
            <a:pPr indent="0" marL="0">
              <a:buNone/>
            </a:pPr>
            <a:r>
              <a:rPr lang="en-US" sz="1800" b="1" dirty="0">
                <a:solidFill>
                  <a:srgbClr val="16213E"/>
                </a:solidFill>
                <a:latin typeface="Calibri" pitchFamily="34" charset="0"/>
                <a:ea typeface="Calibri" pitchFamily="34" charset="-122"/>
                <a:cs typeface="Calibri" pitchFamily="34" charset="-120"/>
              </a:rPr>
              <a:t>NSL-KDD used a random split</a:t>
            </a:r>
            <a:endParaRPr lang="en-US" sz="1800" dirty="0"/>
          </a:p>
        </p:txBody>
      </p:sp>
      <p:sp>
        <p:nvSpPr>
          <p:cNvPr id="9" name="Text 7"/>
          <p:cNvSpPr txBox="1"/>
          <p:nvPr/>
        </p:nvSpPr>
        <p:spPr>
          <a:xfrm>
            <a:off x="6492240" y="2606040"/>
            <a:ext cx="4846320" cy="82296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Not the harder official test (yet)</a:t>
            </a:r>
            <a:endParaRPr lang="en-US" sz="1500" dirty="0"/>
          </a:p>
        </p:txBody>
      </p:sp>
      <p:sp>
        <p:nvSpPr>
          <p:cNvPr id="10" name="Shape 8"/>
          <p:cNvSpPr/>
          <p:nvPr/>
        </p:nvSpPr>
        <p:spPr>
          <a:xfrm>
            <a:off x="548640" y="3566160"/>
            <a:ext cx="5394960" cy="1417320"/>
          </a:xfrm>
          <a:prstGeom prst="roundRect">
            <a:avLst>
              <a:gd name="adj" fmla="val 5161"/>
            </a:avLst>
          </a:prstGeom>
          <a:solidFill>
            <a:srgbClr val="EEF3FA"/>
          </a:solidFill>
          <a:ln w="12700">
            <a:solidFill>
              <a:srgbClr val="EEF3FA"/>
            </a:solidFill>
            <a:prstDash val="solid"/>
          </a:ln>
        </p:spPr>
      </p:sp>
      <p:sp>
        <p:nvSpPr>
          <p:cNvPr id="11" name="Text 9"/>
          <p:cNvSpPr txBox="1"/>
          <p:nvPr/>
        </p:nvSpPr>
        <p:spPr>
          <a:xfrm>
            <a:off x="822960" y="3840480"/>
            <a:ext cx="4846320" cy="457200"/>
          </a:xfrm>
          <a:prstGeom prst="rect">
            <a:avLst/>
          </a:prstGeom>
          <a:noFill/>
          <a:ln/>
        </p:spPr>
        <p:txBody>
          <a:bodyPr wrap="square" lIns="0" tIns="0" rIns="0" bIns="0" rtlCol="0" anchor="ctr"/>
          <a:lstStyle/>
          <a:p>
            <a:pPr indent="0" marL="0">
              <a:buNone/>
            </a:pPr>
            <a:r>
              <a:rPr lang="en-US" sz="1800" b="1" dirty="0">
                <a:solidFill>
                  <a:srgbClr val="16213E"/>
                </a:solidFill>
                <a:latin typeface="Calibri" pitchFamily="34" charset="0"/>
                <a:ea typeface="Calibri" pitchFamily="34" charset="-122"/>
                <a:cs typeface="Calibri" pitchFamily="34" charset="-120"/>
              </a:rPr>
              <a:t>Each test ran only once</a:t>
            </a:r>
            <a:endParaRPr lang="en-US" sz="1800" dirty="0"/>
          </a:p>
        </p:txBody>
      </p:sp>
      <p:sp>
        <p:nvSpPr>
          <p:cNvPr id="12" name="Text 10"/>
          <p:cNvSpPr txBox="1"/>
          <p:nvPr/>
        </p:nvSpPr>
        <p:spPr>
          <a:xfrm>
            <a:off x="822960" y="4343400"/>
            <a:ext cx="4846320" cy="82296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So we can't yet say how much the numbers wobble</a:t>
            </a:r>
            <a:endParaRPr lang="en-US" sz="1500" dirty="0"/>
          </a:p>
        </p:txBody>
      </p:sp>
      <p:sp>
        <p:nvSpPr>
          <p:cNvPr id="13" name="Shape 11"/>
          <p:cNvSpPr/>
          <p:nvPr/>
        </p:nvSpPr>
        <p:spPr>
          <a:xfrm>
            <a:off x="6217920" y="3566160"/>
            <a:ext cx="5394960" cy="1417320"/>
          </a:xfrm>
          <a:prstGeom prst="roundRect">
            <a:avLst>
              <a:gd name="adj" fmla="val 5161"/>
            </a:avLst>
          </a:prstGeom>
          <a:solidFill>
            <a:srgbClr val="EEF3FA"/>
          </a:solidFill>
          <a:ln w="12700">
            <a:solidFill>
              <a:srgbClr val="EEF3FA"/>
            </a:solidFill>
            <a:prstDash val="solid"/>
          </a:ln>
        </p:spPr>
      </p:sp>
      <p:sp>
        <p:nvSpPr>
          <p:cNvPr id="14" name="Text 12"/>
          <p:cNvSpPr txBox="1"/>
          <p:nvPr/>
        </p:nvSpPr>
        <p:spPr>
          <a:xfrm>
            <a:off x="6492240" y="3840480"/>
            <a:ext cx="4846320" cy="457200"/>
          </a:xfrm>
          <a:prstGeom prst="rect">
            <a:avLst/>
          </a:prstGeom>
          <a:noFill/>
          <a:ln/>
        </p:spPr>
        <p:txBody>
          <a:bodyPr wrap="square" lIns="0" tIns="0" rIns="0" bIns="0" rtlCol="0" anchor="ctr"/>
          <a:lstStyle/>
          <a:p>
            <a:pPr indent="0" marL="0">
              <a:buNone/>
            </a:pPr>
            <a:r>
              <a:rPr lang="en-US" sz="1800" b="1" dirty="0">
                <a:solidFill>
                  <a:srgbClr val="16213E"/>
                </a:solidFill>
                <a:latin typeface="Calibri" pitchFamily="34" charset="0"/>
                <a:ea typeface="Calibri" pitchFamily="34" charset="-122"/>
                <a:cs typeface="Calibri" pitchFamily="34" charset="-120"/>
              </a:rPr>
              <a:t>No real APT data</a:t>
            </a:r>
            <a:endParaRPr lang="en-US" sz="1800" dirty="0"/>
          </a:p>
        </p:txBody>
      </p:sp>
      <p:sp>
        <p:nvSpPr>
          <p:cNvPr id="15" name="Text 13"/>
          <p:cNvSpPr txBox="1"/>
          <p:nvPr/>
        </p:nvSpPr>
        <p:spPr>
          <a:xfrm>
            <a:off x="6492240" y="4343400"/>
            <a:ext cx="4846320" cy="82296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All four datasets have common attacks, not hidden hackers</a:t>
            </a:r>
            <a:endParaRPr lang="en-US" sz="1500" dirty="0"/>
          </a:p>
        </p:txBody>
      </p:sp>
      <p:sp>
        <p:nvSpPr>
          <p:cNvPr id="16" name="Text 14"/>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6213E"/>
        </a:solidFill>
      </p:bgPr>
    </p:bg>
    <p:spTree>
      <p:nvGrpSpPr>
        <p:cNvPr id="1" name=""/>
        <p:cNvGrpSpPr/>
        <p:nvPr/>
      </p:nvGrpSpPr>
      <p:grpSpPr>
        <a:xfrm>
          <a:off x="0" y="0"/>
          <a:ext cx="0" cy="0"/>
          <a:chOff x="0" y="0"/>
          <a:chExt cx="0" cy="0"/>
        </a:xfrm>
      </p:grpSpPr>
      <p:sp>
        <p:nvSpPr>
          <p:cNvPr id="2" name="Text 0"/>
          <p:cNvSpPr txBox="1"/>
          <p:nvPr/>
        </p:nvSpPr>
        <p:spPr>
          <a:xfrm>
            <a:off x="548640" y="1828800"/>
            <a:ext cx="11091672" cy="146304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The study's numbers mostly hold up,</a:t>
            </a:r>
            <a:endParaRPr lang="en-US" sz="3400" dirty="0"/>
          </a:p>
          <a:p>
            <a:pPr algn="ctr" indent="0" marL="0">
              <a:buNone/>
            </a:pPr>
            <a:r>
              <a:rPr lang="en-US" sz="3400" b="1" dirty="0">
                <a:solidFill>
                  <a:srgbClr val="FFFFFF"/>
                </a:solidFill>
                <a:latin typeface="Calibri" pitchFamily="34" charset="0"/>
                <a:ea typeface="Calibri" pitchFamily="34" charset="-122"/>
                <a:cs typeface="Calibri" pitchFamily="34" charset="-120"/>
              </a:rPr>
              <a:t>but its special model adds almost nothing.</a:t>
            </a:r>
            <a:endParaRPr lang="en-US" sz="3400" dirty="0"/>
          </a:p>
        </p:txBody>
      </p:sp>
      <p:sp>
        <p:nvSpPr>
          <p:cNvPr id="3" name="Text 1"/>
          <p:cNvSpPr txBox="1"/>
          <p:nvPr/>
        </p:nvSpPr>
        <p:spPr>
          <a:xfrm>
            <a:off x="548640" y="3474720"/>
            <a:ext cx="11091672" cy="548640"/>
          </a:xfrm>
          <a:prstGeom prst="rect">
            <a:avLst/>
          </a:prstGeom>
          <a:noFill/>
          <a:ln/>
        </p:spPr>
        <p:txBody>
          <a:bodyPr wrap="square" lIns="0" tIns="0" rIns="0" bIns="0" rtlCol="0" anchor="ctr"/>
          <a:lstStyle/>
          <a:p>
            <a:pPr algn="ctr" indent="0" marL="0">
              <a:buNone/>
            </a:pPr>
            <a:r>
              <a:rPr lang="en-US" sz="2000" dirty="0">
                <a:solidFill>
                  <a:srgbClr val="CADCFC"/>
                </a:solidFill>
                <a:latin typeface="Calibri" pitchFamily="34" charset="0"/>
                <a:ea typeface="Calibri" pitchFamily="34" charset="-122"/>
                <a:cs typeface="Calibri" pitchFamily="34" charset="-120"/>
              </a:rPr>
              <a:t>Next: how much of the 99% is real, once the test is fair?</a:t>
            </a:r>
            <a:endParaRPr lang="en-US" sz="2000" dirty="0"/>
          </a:p>
        </p:txBody>
      </p:sp>
      <p:sp>
        <p:nvSpPr>
          <p:cNvPr id="4" name="Text 2"/>
          <p:cNvSpPr txBox="1"/>
          <p:nvPr/>
        </p:nvSpPr>
        <p:spPr>
          <a:xfrm>
            <a:off x="548640" y="4572000"/>
            <a:ext cx="11091672" cy="548640"/>
          </a:xfrm>
          <a:prstGeom prst="rect">
            <a:avLst/>
          </a:prstGeom>
          <a:noFill/>
          <a:ln/>
        </p:spPr>
        <p:txBody>
          <a:bodyPr wrap="square" lIns="0" tIns="0" rIns="0" bIns="0" rtlCol="0" anchor="ctr"/>
          <a:lstStyle/>
          <a:p>
            <a:pPr algn="ctr" indent="0" marL="0">
              <a:buNone/>
            </a:pPr>
            <a:r>
              <a:rPr lang="en-US" sz="2400" b="1" dirty="0">
                <a:solidFill>
                  <a:srgbClr val="EB6834"/>
                </a:solidFill>
                <a:latin typeface="Calibri" pitchFamily="34" charset="0"/>
                <a:ea typeface="Calibri" pitchFamily="34" charset="-122"/>
                <a:cs typeface="Calibri" pitchFamily="34" charset="-120"/>
              </a:rPr>
              <a:t>Thank you! 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APT detection: reproduction and extension</dc:title>
  <dc:subject>PptxGenJS Presentation</dc:subject>
  <dc:creator>PptxGenJS</dc:creator>
  <cp:lastModifiedBy>PptxGenJS</cp:lastModifiedBy>
  <cp:revision>1</cp:revision>
  <dcterms:created xsi:type="dcterms:W3CDTF">2026-09-28T17:23:31Z</dcterms:created>
  <dcterms:modified xsi:type="dcterms:W3CDTF">2026-09-28T17:23:31Z</dcterms:modified>
</cp:coreProperties>
</file>